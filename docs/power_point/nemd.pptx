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9" r:id="rId4"/>
    <p:sldId id="266" r:id="rId5"/>
    <p:sldId id="258" r:id="rId6"/>
    <p:sldId id="264" r:id="rId7"/>
    <p:sldId id="270" r:id="rId8"/>
    <p:sldId id="269" r:id="rId9"/>
    <p:sldId id="261" r:id="rId10"/>
    <p:sldId id="263" r:id="rId11"/>
    <p:sldId id="273" r:id="rId12"/>
    <p:sldId id="262" r:id="rId13"/>
    <p:sldId id="271" r:id="rId14"/>
    <p:sldId id="268" r:id="rId15"/>
    <p:sldId id="267" r:id="rId16"/>
    <p:sldId id="272" r:id="rId17"/>
    <p:sldId id="265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66"/>
    <p:restoredTop sz="96170"/>
  </p:normalViewPr>
  <p:slideViewPr>
    <p:cSldViewPr snapToGrid="0" snapToObjects="1">
      <p:cViewPr varScale="1">
        <p:scale>
          <a:sx n="118" d="100"/>
          <a:sy n="118" d="100"/>
        </p:scale>
        <p:origin x="92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0B797DE-B755-7C43-92B3-1C539C1D8D92}" type="doc">
      <dgm:prSet loTypeId="urn:microsoft.com/office/officeart/2005/8/layout/cycle7" loCatId="" qsTypeId="urn:microsoft.com/office/officeart/2005/8/quickstyle/simple3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AD6F4435-FC1F-C54F-96B8-CB501F0D4AEA}">
      <dgm:prSet phldrT="[Text]">
        <dgm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/>
            <a:t>Accurate </a:t>
          </a:r>
          <a:r>
            <a:rPr lang="en-US" dirty="0">
              <a:solidFill>
                <a:schemeClr val="accent6"/>
              </a:solidFill>
              <a:effectLst/>
            </a:rPr>
            <a:t>Integration</a:t>
          </a:r>
          <a:endParaRPr lang="en-US" dirty="0"/>
        </a:p>
      </dgm:t>
    </dgm:pt>
    <dgm:pt modelId="{A14A3990-18FA-5340-8266-5E4D65BF55A9}" type="parTrans" cxnId="{5BEBEF84-E776-7349-8A6C-4724F91CB4F5}">
      <dgm:prSet/>
      <dgm:spPr/>
      <dgm:t>
        <a:bodyPr/>
        <a:lstStyle/>
        <a:p>
          <a:endParaRPr lang="en-US"/>
        </a:p>
      </dgm:t>
    </dgm:pt>
    <dgm:pt modelId="{6AB1D38D-58E1-F947-9F2A-DCF29BABA13A}" type="sibTrans" cxnId="{5BEBEF84-E776-7349-8A6C-4724F91CB4F5}">
      <dgm:prSet/>
      <dgm:spPr/>
      <dgm:t>
        <a:bodyPr/>
        <a:lstStyle/>
        <a:p>
          <a:endParaRPr lang="en-US"/>
        </a:p>
      </dgm:t>
    </dgm:pt>
    <dgm:pt modelId="{8F0B2263-A744-214C-8D37-B40F9D988D0B}">
      <dgm:prSet phldrT="[Text]">
        <dgm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/>
            <a:t>Efficient </a:t>
          </a:r>
          <a:r>
            <a:rPr lang="en-US" dirty="0">
              <a:solidFill>
                <a:schemeClr val="accent1"/>
              </a:solidFill>
            </a:rPr>
            <a:t>Performance</a:t>
          </a:r>
          <a:endParaRPr lang="en-US" dirty="0"/>
        </a:p>
      </dgm:t>
    </dgm:pt>
    <dgm:pt modelId="{F3BC5860-2BEB-A843-B323-70DE68653ABF}" type="parTrans" cxnId="{048D6CA4-8BEC-8546-91FA-E5B0B6E89546}">
      <dgm:prSet/>
      <dgm:spPr/>
      <dgm:t>
        <a:bodyPr/>
        <a:lstStyle/>
        <a:p>
          <a:endParaRPr lang="en-US"/>
        </a:p>
      </dgm:t>
    </dgm:pt>
    <dgm:pt modelId="{296F964E-CDA0-044A-B00E-C9CF3F11E2B9}" type="sibTrans" cxnId="{048D6CA4-8BEC-8546-91FA-E5B0B6E89546}">
      <dgm:prSet/>
      <dgm:spPr/>
      <dgm:t>
        <a:bodyPr/>
        <a:lstStyle/>
        <a:p>
          <a:endParaRPr lang="en-US"/>
        </a:p>
      </dgm:t>
    </dgm:pt>
    <dgm:pt modelId="{DFBC8459-7D84-C644-AB23-B95A73728839}">
      <dgm:prSet phldrT="[Text]">
        <dgm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/>
            <a:t>Physical </a:t>
          </a:r>
          <a:r>
            <a:rPr lang="en-US" dirty="0">
              <a:solidFill>
                <a:schemeClr val="accent2"/>
              </a:solidFill>
              <a:latin typeface="+mn-lt"/>
              <a:ea typeface="+mn-ea"/>
              <a:cs typeface="+mn-cs"/>
            </a:rPr>
            <a:t>Scientific</a:t>
          </a:r>
          <a:endParaRPr lang="en-US" dirty="0"/>
        </a:p>
      </dgm:t>
    </dgm:pt>
    <dgm:pt modelId="{BB478CC1-AA79-C74A-A4BF-60E9BEB7E735}" type="parTrans" cxnId="{95D58CD8-2FDE-614D-AB83-ABAC0FCDF24B}">
      <dgm:prSet/>
      <dgm:spPr/>
      <dgm:t>
        <a:bodyPr/>
        <a:lstStyle/>
        <a:p>
          <a:endParaRPr lang="en-US"/>
        </a:p>
      </dgm:t>
    </dgm:pt>
    <dgm:pt modelId="{F487EBAA-60F2-1144-94CA-3BA53771BB05}" type="sibTrans" cxnId="{95D58CD8-2FDE-614D-AB83-ABAC0FCDF24B}">
      <dgm:prSet/>
      <dgm:spPr/>
      <dgm:t>
        <a:bodyPr/>
        <a:lstStyle/>
        <a:p>
          <a:endParaRPr lang="en-US"/>
        </a:p>
      </dgm:t>
    </dgm:pt>
    <dgm:pt modelId="{B2BFA72D-9850-0B46-B92C-E0C2011EE45C}" type="pres">
      <dgm:prSet presAssocID="{80B797DE-B755-7C43-92B3-1C539C1D8D92}" presName="Name0" presStyleCnt="0">
        <dgm:presLayoutVars>
          <dgm:dir/>
          <dgm:resizeHandles val="exact"/>
        </dgm:presLayoutVars>
      </dgm:prSet>
      <dgm:spPr/>
    </dgm:pt>
    <dgm:pt modelId="{5D91C630-3A03-9A4D-92A7-A63559EA8DC0}" type="pres">
      <dgm:prSet presAssocID="{AD6F4435-FC1F-C54F-96B8-CB501F0D4AEA}" presName="node" presStyleLbl="node1" presStyleIdx="0" presStyleCnt="3">
        <dgm:presLayoutVars>
          <dgm:bulletEnabled val="1"/>
        </dgm:presLayoutVars>
      </dgm:prSet>
      <dgm:spPr/>
    </dgm:pt>
    <dgm:pt modelId="{4241FF00-BD33-6F4D-9245-04848D8009D0}" type="pres">
      <dgm:prSet presAssocID="{6AB1D38D-58E1-F947-9F2A-DCF29BABA13A}" presName="sibTrans" presStyleLbl="sibTrans2D1" presStyleIdx="0" presStyleCnt="3"/>
      <dgm:spPr/>
    </dgm:pt>
    <dgm:pt modelId="{2B37395C-7716-964C-8CE6-58290DDC1DDE}" type="pres">
      <dgm:prSet presAssocID="{6AB1D38D-58E1-F947-9F2A-DCF29BABA13A}" presName="connectorText" presStyleLbl="sibTrans2D1" presStyleIdx="0" presStyleCnt="3"/>
      <dgm:spPr/>
    </dgm:pt>
    <dgm:pt modelId="{06AB1FA4-15EB-1B4E-AF9D-E691626A6CD3}" type="pres">
      <dgm:prSet presAssocID="{8F0B2263-A744-214C-8D37-B40F9D988D0B}" presName="node" presStyleLbl="node1" presStyleIdx="1" presStyleCnt="3">
        <dgm:presLayoutVars>
          <dgm:bulletEnabled val="1"/>
        </dgm:presLayoutVars>
      </dgm:prSet>
      <dgm:spPr/>
    </dgm:pt>
    <dgm:pt modelId="{174ABFCD-3EE4-2E4E-A36A-F93100215715}" type="pres">
      <dgm:prSet presAssocID="{296F964E-CDA0-044A-B00E-C9CF3F11E2B9}" presName="sibTrans" presStyleLbl="sibTrans2D1" presStyleIdx="1" presStyleCnt="3"/>
      <dgm:spPr/>
    </dgm:pt>
    <dgm:pt modelId="{3AC2A499-7104-5B4D-885F-25112C55B681}" type="pres">
      <dgm:prSet presAssocID="{296F964E-CDA0-044A-B00E-C9CF3F11E2B9}" presName="connectorText" presStyleLbl="sibTrans2D1" presStyleIdx="1" presStyleCnt="3"/>
      <dgm:spPr/>
    </dgm:pt>
    <dgm:pt modelId="{8113D230-3331-3247-B32B-AB5DD383B133}" type="pres">
      <dgm:prSet presAssocID="{DFBC8459-7D84-C644-AB23-B95A73728839}" presName="node" presStyleLbl="node1" presStyleIdx="2" presStyleCnt="3">
        <dgm:presLayoutVars>
          <dgm:bulletEnabled val="1"/>
        </dgm:presLayoutVars>
      </dgm:prSet>
      <dgm:spPr/>
    </dgm:pt>
    <dgm:pt modelId="{2C59713A-67B1-654F-8562-9167BDEFF8AB}" type="pres">
      <dgm:prSet presAssocID="{F487EBAA-60F2-1144-94CA-3BA53771BB05}" presName="sibTrans" presStyleLbl="sibTrans2D1" presStyleIdx="2" presStyleCnt="3"/>
      <dgm:spPr/>
    </dgm:pt>
    <dgm:pt modelId="{26147F30-F3B3-E34B-9559-A373D0F538AE}" type="pres">
      <dgm:prSet presAssocID="{F487EBAA-60F2-1144-94CA-3BA53771BB05}" presName="connectorText" presStyleLbl="sibTrans2D1" presStyleIdx="2" presStyleCnt="3"/>
      <dgm:spPr/>
    </dgm:pt>
  </dgm:ptLst>
  <dgm:cxnLst>
    <dgm:cxn modelId="{635CE409-64B5-9A41-824A-3547A419E85F}" type="presOf" srcId="{DFBC8459-7D84-C644-AB23-B95A73728839}" destId="{8113D230-3331-3247-B32B-AB5DD383B133}" srcOrd="0" destOrd="0" presId="urn:microsoft.com/office/officeart/2005/8/layout/cycle7"/>
    <dgm:cxn modelId="{67ACAB12-7397-6E46-AD0A-6F67144C5EEF}" type="presOf" srcId="{6AB1D38D-58E1-F947-9F2A-DCF29BABA13A}" destId="{2B37395C-7716-964C-8CE6-58290DDC1DDE}" srcOrd="1" destOrd="0" presId="urn:microsoft.com/office/officeart/2005/8/layout/cycle7"/>
    <dgm:cxn modelId="{171C0E16-D89F-D04F-AFBE-8464B25FCD66}" type="presOf" srcId="{296F964E-CDA0-044A-B00E-C9CF3F11E2B9}" destId="{174ABFCD-3EE4-2E4E-A36A-F93100215715}" srcOrd="0" destOrd="0" presId="urn:microsoft.com/office/officeart/2005/8/layout/cycle7"/>
    <dgm:cxn modelId="{9A9BD41B-95C9-6941-8578-43ECF87E6014}" type="presOf" srcId="{80B797DE-B755-7C43-92B3-1C539C1D8D92}" destId="{B2BFA72D-9850-0B46-B92C-E0C2011EE45C}" srcOrd="0" destOrd="0" presId="urn:microsoft.com/office/officeart/2005/8/layout/cycle7"/>
    <dgm:cxn modelId="{BCF6082E-22CF-5949-8EF9-8A883F2A2122}" type="presOf" srcId="{6AB1D38D-58E1-F947-9F2A-DCF29BABA13A}" destId="{4241FF00-BD33-6F4D-9245-04848D8009D0}" srcOrd="0" destOrd="0" presId="urn:microsoft.com/office/officeart/2005/8/layout/cycle7"/>
    <dgm:cxn modelId="{5DFFAE3D-434A-0D4A-A189-D478856ECEC9}" type="presOf" srcId="{AD6F4435-FC1F-C54F-96B8-CB501F0D4AEA}" destId="{5D91C630-3A03-9A4D-92A7-A63559EA8DC0}" srcOrd="0" destOrd="0" presId="urn:microsoft.com/office/officeart/2005/8/layout/cycle7"/>
    <dgm:cxn modelId="{208D8A54-4214-F44C-A217-FC36C25AEF7A}" type="presOf" srcId="{8F0B2263-A744-214C-8D37-B40F9D988D0B}" destId="{06AB1FA4-15EB-1B4E-AF9D-E691626A6CD3}" srcOrd="0" destOrd="0" presId="urn:microsoft.com/office/officeart/2005/8/layout/cycle7"/>
    <dgm:cxn modelId="{5BEBEF84-E776-7349-8A6C-4724F91CB4F5}" srcId="{80B797DE-B755-7C43-92B3-1C539C1D8D92}" destId="{AD6F4435-FC1F-C54F-96B8-CB501F0D4AEA}" srcOrd="0" destOrd="0" parTransId="{A14A3990-18FA-5340-8266-5E4D65BF55A9}" sibTransId="{6AB1D38D-58E1-F947-9F2A-DCF29BABA13A}"/>
    <dgm:cxn modelId="{EFA7C08E-5202-5848-BC80-75787CF06D7D}" type="presOf" srcId="{F487EBAA-60F2-1144-94CA-3BA53771BB05}" destId="{2C59713A-67B1-654F-8562-9167BDEFF8AB}" srcOrd="0" destOrd="0" presId="urn:microsoft.com/office/officeart/2005/8/layout/cycle7"/>
    <dgm:cxn modelId="{048D6CA4-8BEC-8546-91FA-E5B0B6E89546}" srcId="{80B797DE-B755-7C43-92B3-1C539C1D8D92}" destId="{8F0B2263-A744-214C-8D37-B40F9D988D0B}" srcOrd="1" destOrd="0" parTransId="{F3BC5860-2BEB-A843-B323-70DE68653ABF}" sibTransId="{296F964E-CDA0-044A-B00E-C9CF3F11E2B9}"/>
    <dgm:cxn modelId="{2D9797C7-8F9F-9444-88F4-5935A5D65C02}" type="presOf" srcId="{296F964E-CDA0-044A-B00E-C9CF3F11E2B9}" destId="{3AC2A499-7104-5B4D-885F-25112C55B681}" srcOrd="1" destOrd="0" presId="urn:microsoft.com/office/officeart/2005/8/layout/cycle7"/>
    <dgm:cxn modelId="{95D58CD8-2FDE-614D-AB83-ABAC0FCDF24B}" srcId="{80B797DE-B755-7C43-92B3-1C539C1D8D92}" destId="{DFBC8459-7D84-C644-AB23-B95A73728839}" srcOrd="2" destOrd="0" parTransId="{BB478CC1-AA79-C74A-A4BF-60E9BEB7E735}" sibTransId="{F487EBAA-60F2-1144-94CA-3BA53771BB05}"/>
    <dgm:cxn modelId="{6B90BEDD-890C-A94C-A5CD-36CDB66940C6}" type="presOf" srcId="{F487EBAA-60F2-1144-94CA-3BA53771BB05}" destId="{26147F30-F3B3-E34B-9559-A373D0F538AE}" srcOrd="1" destOrd="0" presId="urn:microsoft.com/office/officeart/2005/8/layout/cycle7"/>
    <dgm:cxn modelId="{337DD788-E56D-F74A-9408-58A5203C47B6}" type="presParOf" srcId="{B2BFA72D-9850-0B46-B92C-E0C2011EE45C}" destId="{5D91C630-3A03-9A4D-92A7-A63559EA8DC0}" srcOrd="0" destOrd="0" presId="urn:microsoft.com/office/officeart/2005/8/layout/cycle7"/>
    <dgm:cxn modelId="{4E62766D-3526-B34D-82B5-40FC1B9AB030}" type="presParOf" srcId="{B2BFA72D-9850-0B46-B92C-E0C2011EE45C}" destId="{4241FF00-BD33-6F4D-9245-04848D8009D0}" srcOrd="1" destOrd="0" presId="urn:microsoft.com/office/officeart/2005/8/layout/cycle7"/>
    <dgm:cxn modelId="{891E2B81-1796-F340-A150-70BE24DFE44A}" type="presParOf" srcId="{4241FF00-BD33-6F4D-9245-04848D8009D0}" destId="{2B37395C-7716-964C-8CE6-58290DDC1DDE}" srcOrd="0" destOrd="0" presId="urn:microsoft.com/office/officeart/2005/8/layout/cycle7"/>
    <dgm:cxn modelId="{B72B36B1-E06A-0C4D-94B5-A4B25E07F9FA}" type="presParOf" srcId="{B2BFA72D-9850-0B46-B92C-E0C2011EE45C}" destId="{06AB1FA4-15EB-1B4E-AF9D-E691626A6CD3}" srcOrd="2" destOrd="0" presId="urn:microsoft.com/office/officeart/2005/8/layout/cycle7"/>
    <dgm:cxn modelId="{85565C7B-118D-9049-8B42-4D65B2ACCE72}" type="presParOf" srcId="{B2BFA72D-9850-0B46-B92C-E0C2011EE45C}" destId="{174ABFCD-3EE4-2E4E-A36A-F93100215715}" srcOrd="3" destOrd="0" presId="urn:microsoft.com/office/officeart/2005/8/layout/cycle7"/>
    <dgm:cxn modelId="{7EFCC53B-A281-F84B-9AFF-23F9E5C1249A}" type="presParOf" srcId="{174ABFCD-3EE4-2E4E-A36A-F93100215715}" destId="{3AC2A499-7104-5B4D-885F-25112C55B681}" srcOrd="0" destOrd="0" presId="urn:microsoft.com/office/officeart/2005/8/layout/cycle7"/>
    <dgm:cxn modelId="{D742C95C-BB2F-1B46-9D9B-9D2ADB430330}" type="presParOf" srcId="{B2BFA72D-9850-0B46-B92C-E0C2011EE45C}" destId="{8113D230-3331-3247-B32B-AB5DD383B133}" srcOrd="4" destOrd="0" presId="urn:microsoft.com/office/officeart/2005/8/layout/cycle7"/>
    <dgm:cxn modelId="{AD5748C8-6F9F-644C-A595-6011A353215D}" type="presParOf" srcId="{B2BFA72D-9850-0B46-B92C-E0C2011EE45C}" destId="{2C59713A-67B1-654F-8562-9167BDEFF8AB}" srcOrd="5" destOrd="0" presId="urn:microsoft.com/office/officeart/2005/8/layout/cycle7"/>
    <dgm:cxn modelId="{F5EF857B-23A6-A448-900C-21909580418C}" type="presParOf" srcId="{2C59713A-67B1-654F-8562-9167BDEFF8AB}" destId="{26147F30-F3B3-E34B-9559-A373D0F538AE}" srcOrd="0" destOrd="0" presId="urn:microsoft.com/office/officeart/2005/8/layout/cycle7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D91C630-3A03-9A4D-92A7-A63559EA8DC0}">
      <dsp:nvSpPr>
        <dsp:cNvPr id="0" name=""/>
        <dsp:cNvSpPr/>
      </dsp:nvSpPr>
      <dsp:spPr>
        <a:xfrm>
          <a:off x="759783" y="22947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6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Accurate </a:t>
          </a:r>
          <a:r>
            <a:rPr lang="en-US" sz="1200" kern="1200" dirty="0">
              <a:solidFill>
                <a:schemeClr val="accent6"/>
              </a:solidFill>
              <a:effectLst/>
            </a:rPr>
            <a:t>Integration</a:t>
          </a:r>
          <a:endParaRPr lang="en-US" sz="1200" kern="1200" dirty="0"/>
        </a:p>
      </dsp:txBody>
      <dsp:txXfrm>
        <a:off x="773247" y="36411"/>
        <a:ext cx="892433" cy="432752"/>
      </dsp:txXfrm>
    </dsp:sp>
    <dsp:sp modelId="{4241FF00-BD33-6F4D-9245-04848D8009D0}">
      <dsp:nvSpPr>
        <dsp:cNvPr id="0" name=""/>
        <dsp:cNvSpPr/>
      </dsp:nvSpPr>
      <dsp:spPr>
        <a:xfrm rot="3600000">
          <a:off x="1359455" y="829808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>
        <a:off x="1407721" y="861986"/>
        <a:ext cx="382660" cy="96532"/>
      </dsp:txXfrm>
    </dsp:sp>
    <dsp:sp modelId="{06AB1FA4-15EB-1B4E-AF9D-E691626A6CD3}">
      <dsp:nvSpPr>
        <dsp:cNvPr id="0" name=""/>
        <dsp:cNvSpPr/>
      </dsp:nvSpPr>
      <dsp:spPr>
        <a:xfrm>
          <a:off x="1518959" y="1337878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5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5"/>
        </a:lnRef>
        <a:fillRef idx="1">
          <a:schemeClr val="lt1"/>
        </a:fillRef>
        <a:effectRef idx="0">
          <a:schemeClr val="accent5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Efficient </a:t>
          </a:r>
          <a:r>
            <a:rPr lang="en-US" sz="1200" kern="1200" dirty="0">
              <a:solidFill>
                <a:schemeClr val="accent1"/>
              </a:solidFill>
            </a:rPr>
            <a:t>Performance</a:t>
          </a:r>
          <a:endParaRPr lang="en-US" sz="1200" kern="1200" dirty="0"/>
        </a:p>
      </dsp:txBody>
      <dsp:txXfrm>
        <a:off x="1532423" y="1351342"/>
        <a:ext cx="892433" cy="432752"/>
      </dsp:txXfrm>
    </dsp:sp>
    <dsp:sp modelId="{174ABFCD-3EE4-2E4E-A36A-F93100215715}">
      <dsp:nvSpPr>
        <dsp:cNvPr id="0" name=""/>
        <dsp:cNvSpPr/>
      </dsp:nvSpPr>
      <dsp:spPr>
        <a:xfrm rot="10800000">
          <a:off x="979867" y="1487274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 rot="10800000">
        <a:off x="1028133" y="1519452"/>
        <a:ext cx="382660" cy="96532"/>
      </dsp:txXfrm>
    </dsp:sp>
    <dsp:sp modelId="{8113D230-3331-3247-B32B-AB5DD383B133}">
      <dsp:nvSpPr>
        <dsp:cNvPr id="0" name=""/>
        <dsp:cNvSpPr/>
      </dsp:nvSpPr>
      <dsp:spPr>
        <a:xfrm>
          <a:off x="607" y="1337878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2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2"/>
        </a:lnRef>
        <a:fillRef idx="1">
          <a:schemeClr val="lt1"/>
        </a:fillRef>
        <a:effectRef idx="0">
          <a:schemeClr val="accent2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Physical </a:t>
          </a:r>
          <a:r>
            <a:rPr lang="en-US" sz="1200" kern="1200" dirty="0">
              <a:solidFill>
                <a:schemeClr val="accent2"/>
              </a:solidFill>
              <a:latin typeface="+mn-lt"/>
              <a:ea typeface="+mn-ea"/>
              <a:cs typeface="+mn-cs"/>
            </a:rPr>
            <a:t>Scientific</a:t>
          </a:r>
          <a:endParaRPr lang="en-US" sz="1200" kern="1200" dirty="0"/>
        </a:p>
      </dsp:txBody>
      <dsp:txXfrm>
        <a:off x="14071" y="1351342"/>
        <a:ext cx="892433" cy="432752"/>
      </dsp:txXfrm>
    </dsp:sp>
    <dsp:sp modelId="{2C59713A-67B1-654F-8562-9167BDEFF8AB}">
      <dsp:nvSpPr>
        <dsp:cNvPr id="0" name=""/>
        <dsp:cNvSpPr/>
      </dsp:nvSpPr>
      <dsp:spPr>
        <a:xfrm rot="18000000">
          <a:off x="600280" y="829808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>
        <a:off x="648546" y="861986"/>
        <a:ext cx="382660" cy="9653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7">
  <dgm:title val=""/>
  <dgm:desc val=""/>
  <dgm:catLst>
    <dgm:cat type="cycle" pri="6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cycle">
          <dgm:param type="stAng" val="0"/>
          <dgm:param type="spanAng" val="360"/>
        </dgm:alg>
      </dgm:if>
      <dgm:else name="Name3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onstrLst>
      <dgm:constr type="diam" refType="w"/>
      <dgm:constr type="w" for="ch" ptType="node" refType="w"/>
      <dgm:constr type="primFontSz" for="ch" ptType="node" op="equ" val="65"/>
      <dgm:constr type="w" for="ch" forName="sibTrans" refType="w" refFor="ch" refPtType="node" op="equ" fact="0.35"/>
      <dgm:constr type="connDist" for="ch" forName="sibTrans" op="equ"/>
      <dgm:constr type="primFontSz" for="des" forName="connectorText" op="equ" val="55"/>
      <dgm:constr type="primFontSz" for="des" forName="connectorText" refType="primFontSz" refFor="ch" refPtType="node" op="lte" fact="0.8"/>
      <dgm:constr type="sibSp" refType="w" refFor="ch" refPtType="node" op="equ" fact="0.65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4">
        <dgm:if name="Name5" axis="par ch" ptType="doc node" func="cnt" op="gt" val="1">
          <dgm:forEach name="sibTransForEach" axis="followSib" ptType="sibTrans" hideLastTrans="0" cnt="1">
            <dgm:layoutNode name="sibTrans">
              <dgm:choose name="Name6">
                <dgm:if name="Name7" axis="par ch" ptType="doc node" func="posEven" op="equ" val="1">
                  <dgm:alg type="conn">
                    <dgm:param type="begPts" val="radial"/>
                    <dgm:param type="endPts" val="radial"/>
                    <dgm:param type="begSty" val="arr"/>
                    <dgm:param type="endSty" val="arr"/>
                  </dgm:alg>
                </dgm:if>
                <dgm:else name="Name8">
                  <dgm:alg type="conn">
                    <dgm:param type="begPts" val="auto"/>
                    <dgm:param type="endPts" val="auto"/>
                    <dgm:param type="begSty" val="arr"/>
                    <dgm:param type="endSty" val="arr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5"/>
                <dgm:constr type="connDist"/>
                <dgm:constr type="begPad" refType="connDist" fact="0.1"/>
                <dgm:constr type="endPad" refType="connDist" fact="0.1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9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7935B3-F5AC-0F49-A77F-693DEAA46623}" type="datetimeFigureOut">
              <a:rPr lang="en-US" smtClean="0"/>
              <a:t>6/21/25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A8B51A-AF34-8043-88BB-7DEBFD50DD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6843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2369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940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1158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58EA8-FCF2-7740-A3AB-B7CCA99EE2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31233B-0476-5043-BEF6-761B9C4071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565C91-3BE9-C443-97BD-D6277C109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9230D-D256-FE47-99BF-6F642436F56E}" type="datetime1">
              <a:rPr lang="en-US" smtClean="0"/>
              <a:t>6/21/25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804123-55B1-4645-9464-1F9B4FF0B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48A162-B81A-944D-99D9-11E39184C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7692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C21E8-C2DE-104D-967E-CA0FF618AF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C95DD7-6ACC-D344-8D6A-081DE67170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04B349-4F0D-894E-AD9E-C8D1B39C63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2860A-5855-1941-A1E0-F1AE52EC854D}" type="datetime1">
              <a:rPr lang="en-US" smtClean="0"/>
              <a:t>6/21/25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3BD305-3291-0847-87F8-146BCC35F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3E3FFB-1CEF-CD45-AEDB-14C6888A2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4394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788FB-E1C6-0948-B7D6-4005A1287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F326CB-A93C-A748-AE55-3A84F493F0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19B757-0A54-3443-84C0-65873E3F3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74B4C-42F5-E24E-B25F-613EC7F4AF0D}" type="datetime1">
              <a:rPr lang="en-US" smtClean="0"/>
              <a:t>6/21/25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F777A8-B390-AD43-9316-7F20F4D95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D1D6B4-256C-1948-BCFC-7594033D5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6557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6FBB5-B722-3A46-A14A-A723649FD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A5A430-6CC3-0240-B917-1B5E9A0537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A6E127-F6D6-6E47-992D-AAB4113943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54EC72-74E5-4842-B10B-E46F91782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BCD20-0178-0C41-9D8E-10FA267A6CCC}" type="datetime1">
              <a:rPr lang="en-US" smtClean="0"/>
              <a:t>6/21/25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28DF8D-02EF-184D-ABFF-13191F79D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2331F1-86F5-D941-89D8-0D3AC6402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421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FFC86-2AE9-1B4C-919A-EAB194055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35F746-6C3E-9C4F-8AAE-6A474D0554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AF0EE7-6F44-F448-9A20-041EDD3CD0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FB6FDB-DF0E-A54B-A3A5-FBFE9BAD66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128D6A-E2F4-F44B-8FA0-9424742E26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440A058-F234-D841-83EC-56812E3E0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58456-60EB-6840-BCEB-E4C2678C039E}" type="datetime1">
              <a:rPr lang="en-US" smtClean="0"/>
              <a:t>6/21/25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6FC077F-7055-D04B-802C-EB03F517C8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A4350B2-AC98-ED44-AA30-4A41C43EB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26026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BA2B0-F6B9-554F-8BFB-4F0D99D01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36AC341-6D23-9A4E-AB3D-E9FFD1A67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FCD94-1F0D-3948-A9F0-DB82F9AAC2D3}" type="datetime1">
              <a:rPr lang="en-US" smtClean="0"/>
              <a:t>6/21/25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04147E-0023-1E48-9B46-83053DAE99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B722CF-E5B4-E74B-A7B0-12F7823BB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7425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3B2DC2-5A2E-A24E-B7D1-FF883CF7FA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92FAC-AC21-0848-AC27-426B7BF29104}" type="datetime1">
              <a:rPr lang="en-US" smtClean="0"/>
              <a:t>6/21/25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CB29CE-4228-BD4C-A420-70C257145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114DD2-3E82-1246-9760-3AF41CF049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1049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B8CA2-68C1-F142-900B-17AAC31353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70681-4878-1F46-A6A1-53C6FDF4DD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80CD99-B40B-E640-93ED-B452D6C405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276116-6773-1444-A31A-CE340D5A8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FF56F3-8608-FF4D-9C26-AE6D473095CB}" type="datetime1">
              <a:rPr lang="en-US" smtClean="0"/>
              <a:t>6/21/25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31B01F-24FF-B744-B660-8655E56D1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7755F5-5A75-8F4C-9F3C-F3E9E8B27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4025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653F8-D055-1D48-8974-B59CF2267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E7EB70-418E-DD41-A6E4-57C3E92756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2DE1C0-806E-8A48-B3AF-560DCDAC2B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043B28-10B3-E44C-8EEA-5E6F44249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C49A9-C646-2345-B4A7-439457175566}" type="datetime1">
              <a:rPr lang="en-US" smtClean="0"/>
              <a:t>6/21/25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838D99-521A-0744-BCD1-262100033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B5FDE6-E6EC-1B48-AA21-895D7DDF6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318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B9B72-A8A4-A74F-8E1E-3AC6EC296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454F5B-62DA-7542-966C-C08C53BC9B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88ABB0-D704-A54E-8299-92AC38ED59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AC849-5CEB-3846-9265-8D72BE481A70}" type="datetime1">
              <a:rPr lang="en-US" smtClean="0"/>
              <a:t>6/21/25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DB263C-A99F-544F-935E-91C65D0E7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BDF06A-9EED-284C-866A-F1E12F15A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0455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A0D12E-01E0-A04F-A3F4-22D4E32BBB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CACDF6-BA3A-1044-A721-EA6F030EF2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B0E2C9-6B5C-FB49-9713-679C0BEC3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BBDEB-BEE0-FD44-AAFC-27969F9541FD}" type="datetime1">
              <a:rPr lang="en-US" smtClean="0"/>
              <a:t>6/21/25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01C65A-6A18-2740-A284-DAD25FD93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42885B-7257-664D-9FD5-B0446B1E8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905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DFA117-430A-0842-BF0A-806ADCCD5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341114-5B51-D64E-B2F6-6CC36C6DE9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DEEF16-25A2-F34D-BACC-65FA6AAC2F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16C8CC-C3CD-B94B-94D6-0913487DB5E5}" type="datetime1">
              <a:rPr lang="en-US" smtClean="0"/>
              <a:t>6/21/25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A32EF-278E-4D4D-A7AB-20D488CC4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F59C42-B5B3-6B46-936D-A9D1A4A044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095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lammps.org/pair_sw.html#stillinger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2D603-8601-914F-B530-0182C8206A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81691"/>
            <a:ext cx="9144000" cy="2387600"/>
          </a:xfrm>
        </p:spPr>
        <p:txBody>
          <a:bodyPr>
            <a:normAutofit/>
          </a:bodyPr>
          <a:lstStyle/>
          <a:p>
            <a:r>
              <a:rPr lang="en-US" dirty="0"/>
              <a:t>Molecular Simulation Toolkit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D95FD3-E679-D541-8417-A00AC40FC2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61366"/>
            <a:ext cx="9144000" cy="1655762"/>
          </a:xfrm>
        </p:spPr>
        <p:txBody>
          <a:bodyPr>
            <a:normAutofit lnSpcReduction="10000"/>
          </a:bodyPr>
          <a:lstStyle/>
          <a:p>
            <a:endParaRPr lang="en-US" dirty="0"/>
          </a:p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/zhteg4pvt/</a:t>
            </a:r>
            <a:r>
              <a:rPr lang="en-US" dirty="0" err="1"/>
              <a:t>nemd</a:t>
            </a:r>
            <a:r>
              <a:rPr lang="en-US" dirty="0"/>
              <a:t>/</a:t>
            </a:r>
          </a:p>
          <a:p>
            <a:r>
              <a:rPr lang="en-US" dirty="0"/>
              <a:t>Main Contributor: Teng Zhang</a:t>
            </a:r>
          </a:p>
          <a:p>
            <a:r>
              <a:rPr lang="en-US" dirty="0"/>
              <a:t>Email: zhteg4@gmail.com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C92B7D-AF88-FE97-F8F3-696A7F8F3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0494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1BF32-5317-534C-8BE4-58EF89998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BSD 3-Clause License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A98CB3-347C-6A40-A202-223224B934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3000" dirty="0"/>
              <a:t>Allow redistribution in any forms, with or without modification.</a:t>
            </a:r>
          </a:p>
          <a:p>
            <a:pPr marL="0" indent="0">
              <a:buNone/>
            </a:pPr>
            <a:endParaRPr lang="en-US" sz="3000" dirty="0"/>
          </a:p>
          <a:p>
            <a:pPr marL="0" indent="0">
              <a:buNone/>
            </a:pPr>
            <a:r>
              <a:rPr lang="en-US" dirty="0"/>
              <a:t>In short:</a:t>
            </a:r>
          </a:p>
          <a:p>
            <a:pPr marL="514350" indent="-514350">
              <a:buAutoNum type="arabicParenR"/>
            </a:pPr>
            <a:r>
              <a:rPr lang="en-US" dirty="0"/>
              <a:t>The general BSD 3-Clause copyright allows </a:t>
            </a:r>
            <a:r>
              <a:rPr lang="en-US" b="1" dirty="0"/>
              <a:t>similar redistribution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r>
              <a:rPr lang="en-US" dirty="0"/>
              <a:t>The software is provided as is and in </a:t>
            </a:r>
            <a:r>
              <a:rPr lang="en-US" b="1" dirty="0"/>
              <a:t>no event </a:t>
            </a:r>
            <a:r>
              <a:rPr lang="en-US" dirty="0"/>
              <a:t>shall the copyright holder or contributors </a:t>
            </a:r>
            <a:r>
              <a:rPr lang="en-US" b="1" dirty="0"/>
              <a:t>be liable for any damages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r>
              <a:rPr lang="en-US" b="1" dirty="0"/>
              <a:t>Neither </a:t>
            </a:r>
            <a:r>
              <a:rPr lang="en-US" dirty="0"/>
              <a:t>the name of the </a:t>
            </a:r>
            <a:r>
              <a:rPr lang="en-US" b="1" dirty="0"/>
              <a:t>copyright</a:t>
            </a:r>
            <a:r>
              <a:rPr lang="en-US" dirty="0"/>
              <a:t> </a:t>
            </a:r>
            <a:r>
              <a:rPr lang="en-US" b="1" dirty="0"/>
              <a:t>holder</a:t>
            </a:r>
            <a:r>
              <a:rPr lang="en-US" dirty="0"/>
              <a:t> </a:t>
            </a:r>
            <a:r>
              <a:rPr lang="en-US" b="1" dirty="0"/>
              <a:t>nor</a:t>
            </a:r>
            <a:r>
              <a:rPr lang="en-US" dirty="0"/>
              <a:t> the names of its </a:t>
            </a:r>
            <a:r>
              <a:rPr lang="en-US" b="1" dirty="0"/>
              <a:t>contributors</a:t>
            </a:r>
            <a:r>
              <a:rPr lang="en-US" dirty="0"/>
              <a:t> may be used to </a:t>
            </a:r>
            <a:r>
              <a:rPr lang="en-US" b="1" dirty="0"/>
              <a:t>endorse</a:t>
            </a:r>
            <a:r>
              <a:rPr lang="en-US" dirty="0"/>
              <a:t> </a:t>
            </a:r>
            <a:r>
              <a:rPr lang="en-US" b="1" dirty="0"/>
              <a:t>or promote products derived</a:t>
            </a:r>
            <a:r>
              <a:rPr lang="en-US" dirty="0"/>
              <a:t> from this software </a:t>
            </a:r>
            <a:r>
              <a:rPr lang="en-US" b="1" dirty="0"/>
              <a:t>without specific prior written permission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endParaRPr lang="en-US" dirty="0"/>
          </a:p>
          <a:p>
            <a:pPr marL="0" indent="0">
              <a:buNone/>
            </a:pPr>
            <a:r>
              <a:rPr lang="en-US" sz="2400" dirty="0"/>
              <a:t>Full Information in </a:t>
            </a:r>
            <a:r>
              <a:rPr lang="en-US" sz="2400" i="1" u="sng" dirty="0">
                <a:solidFill>
                  <a:schemeClr val="accent1"/>
                </a:solidFill>
              </a:rPr>
              <a:t>https://</a:t>
            </a:r>
            <a:r>
              <a:rPr lang="en-US" sz="2400" i="1" u="sng" dirty="0" err="1">
                <a:solidFill>
                  <a:schemeClr val="accent1"/>
                </a:solidFill>
              </a:rPr>
              <a:t>github.com</a:t>
            </a:r>
            <a:r>
              <a:rPr lang="en-US" sz="2400" i="1" u="sng" dirty="0">
                <a:solidFill>
                  <a:schemeClr val="accent1"/>
                </a:solidFill>
              </a:rPr>
              <a:t>/zhteg4pvt/</a:t>
            </a:r>
            <a:r>
              <a:rPr lang="en-US" sz="2400" i="1" u="sng" dirty="0" err="1">
                <a:solidFill>
                  <a:schemeClr val="accent1"/>
                </a:solidFill>
              </a:rPr>
              <a:t>nemd</a:t>
            </a:r>
            <a:r>
              <a:rPr lang="en-US" sz="2400" i="1" u="sng" dirty="0">
                <a:solidFill>
                  <a:schemeClr val="accent1"/>
                </a:solidFill>
              </a:rPr>
              <a:t>/tree/main/LICENSE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9FF44F-EF16-7C56-017A-21B581865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5282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7F9F4-F60A-9A40-9F29-975C13FE5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388033" cy="1325563"/>
          </a:xfrm>
        </p:spPr>
        <p:txBody>
          <a:bodyPr/>
          <a:lstStyle/>
          <a:p>
            <a:r>
              <a:rPr lang="en-US" dirty="0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BE11C1-C54C-4A47-BD1A-F7710C155F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730" y="1378905"/>
            <a:ext cx="6752041" cy="71254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500" dirty="0"/>
              <a:t>1)* </a:t>
            </a:r>
            <a:r>
              <a:rPr lang="en-US" sz="1500" i="1" dirty="0">
                <a:solidFill>
                  <a:schemeClr val="accent2"/>
                </a:solidFill>
              </a:rPr>
              <a:t>bash -c "$(curl 'https://</a:t>
            </a:r>
            <a:r>
              <a:rPr lang="en-US" sz="1500" i="1" dirty="0" err="1">
                <a:solidFill>
                  <a:schemeClr val="accent2"/>
                </a:solidFill>
              </a:rPr>
              <a:t>raw.githubusercontent.com</a:t>
            </a:r>
            <a:r>
              <a:rPr lang="en-US" sz="1500" i="1" dirty="0">
                <a:solidFill>
                  <a:schemeClr val="accent2"/>
                </a:solidFill>
              </a:rPr>
              <a:t>/zhteg4/</a:t>
            </a:r>
            <a:r>
              <a:rPr lang="en-US" sz="1500" i="1" dirty="0" err="1">
                <a:solidFill>
                  <a:schemeClr val="accent2"/>
                </a:solidFill>
              </a:rPr>
              <a:t>nemd</a:t>
            </a:r>
            <a:r>
              <a:rPr lang="en-US" sz="1500" i="1" dirty="0">
                <a:solidFill>
                  <a:schemeClr val="accent2"/>
                </a:solidFill>
              </a:rPr>
              <a:t>/main/setup')"</a:t>
            </a:r>
          </a:p>
          <a:p>
            <a:pPr marL="0" indent="0">
              <a:buNone/>
            </a:pPr>
            <a:r>
              <a:rPr lang="en-US" sz="1500" dirty="0"/>
              <a:t>2) </a:t>
            </a:r>
            <a:r>
              <a:rPr lang="en-US" sz="1500" i="1" dirty="0">
                <a:solidFill>
                  <a:schemeClr val="accent1"/>
                </a:solidFill>
              </a:rPr>
              <a:t>cd ~/git/</a:t>
            </a:r>
            <a:r>
              <a:rPr lang="en-US" sz="1500" i="1" dirty="0" err="1">
                <a:solidFill>
                  <a:schemeClr val="accent1"/>
                </a:solidFill>
              </a:rPr>
              <a:t>nemd</a:t>
            </a:r>
            <a:r>
              <a:rPr lang="en-US" sz="1500" i="1" dirty="0">
                <a:solidFill>
                  <a:schemeClr val="accent1"/>
                </a:solidFill>
              </a:rPr>
              <a:t>; pip3.10 install . –v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36417C-F08D-E647-9D1F-C47814DBC4A6}"/>
              </a:ext>
            </a:extLst>
          </p:cNvPr>
          <p:cNvSpPr/>
          <p:nvPr/>
        </p:nvSpPr>
        <p:spPr>
          <a:xfrm>
            <a:off x="7149772" y="189336"/>
            <a:ext cx="4644498" cy="4401205"/>
          </a:xfrm>
          <a:prstGeom prst="rect">
            <a:avLst/>
          </a:prstGeom>
          <a:noFill/>
          <a:ln>
            <a:solidFill>
              <a:schemeClr val="accent2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/>
                </a:solidFill>
              </a:rPr>
              <a:t># </a:t>
            </a:r>
            <a:r>
              <a:rPr lang="en-US" sz="1400" b="1" dirty="0">
                <a:solidFill>
                  <a:schemeClr val="accent2"/>
                </a:solidFill>
              </a:rPr>
              <a:t>Install</a:t>
            </a:r>
            <a:r>
              <a:rPr lang="en-US" sz="1400" dirty="0">
                <a:solidFill>
                  <a:schemeClr val="accent2"/>
                </a:solidFill>
              </a:rPr>
              <a:t> </a:t>
            </a:r>
            <a:r>
              <a:rPr lang="en-US" sz="1400" b="1" dirty="0">
                <a:solidFill>
                  <a:schemeClr val="accent2"/>
                </a:solidFill>
              </a:rPr>
              <a:t>Packages</a:t>
            </a:r>
            <a:br>
              <a:rPr lang="en-US" sz="1400" dirty="0"/>
            </a:br>
            <a:r>
              <a:rPr lang="en-US" sz="1400" dirty="0"/>
              <a:t>case $OSTYPE in</a:t>
            </a:r>
            <a:br>
              <a:rPr lang="en-US" sz="1400" dirty="0"/>
            </a:br>
            <a:r>
              <a:rPr lang="en-US" sz="1400" dirty="0"/>
              <a:t>  </a:t>
            </a:r>
            <a:r>
              <a:rPr lang="en-US" sz="1400" dirty="0" err="1"/>
              <a:t>darwin</a:t>
            </a:r>
            <a:r>
              <a:rPr lang="en-US" sz="1400" dirty="0"/>
              <a:t>*)</a:t>
            </a:r>
            <a:br>
              <a:rPr lang="en-US" sz="1400" dirty="0"/>
            </a:br>
            <a:r>
              <a:rPr lang="en-US" sz="1400" dirty="0"/>
              <a:t>    brew install </a:t>
            </a:r>
            <a:r>
              <a:rPr lang="en-US" sz="1400" dirty="0" err="1"/>
              <a:t>gh</a:t>
            </a:r>
            <a:r>
              <a:rPr lang="en-US" sz="1400" dirty="0"/>
              <a:t> git vim python@3.10 ;;</a:t>
            </a:r>
            <a:br>
              <a:rPr lang="en-US" sz="1400" dirty="0"/>
            </a:br>
            <a:r>
              <a:rPr lang="en-US" sz="1400" dirty="0"/>
              <a:t>  </a:t>
            </a:r>
            <a:r>
              <a:rPr lang="en-US" sz="1400" dirty="0" err="1"/>
              <a:t>linux</a:t>
            </a:r>
            <a:r>
              <a:rPr lang="en-US" sz="1400" dirty="0"/>
              <a:t>*)</a:t>
            </a:r>
            <a:br>
              <a:rPr lang="en-US" sz="1400" dirty="0"/>
            </a:br>
            <a:r>
              <a:rPr lang="en-US" sz="1400" dirty="0"/>
              <a:t>    </a:t>
            </a:r>
            <a:r>
              <a:rPr lang="en-US" sz="1400" dirty="0" err="1"/>
              <a:t>sudo</a:t>
            </a:r>
            <a:r>
              <a:rPr lang="en-US" sz="1400" dirty="0"/>
              <a:t> apt-get install -y </a:t>
            </a:r>
            <a:r>
              <a:rPr lang="en-US" sz="1400" dirty="0" err="1"/>
              <a:t>gh</a:t>
            </a:r>
            <a:r>
              <a:rPr lang="en-US" sz="1400" dirty="0"/>
              <a:t> git python3-pip ;;</a:t>
            </a:r>
            <a:br>
              <a:rPr lang="en-US" sz="1400" dirty="0"/>
            </a:br>
            <a:r>
              <a:rPr lang="en-US" sz="1400" dirty="0" err="1"/>
              <a:t>esac</a:t>
            </a:r>
            <a:endParaRPr lang="en-US" sz="1400" dirty="0"/>
          </a:p>
          <a:p>
            <a:endParaRPr lang="en-US" sz="1400" dirty="0">
              <a:solidFill>
                <a:schemeClr val="accent2"/>
              </a:solidFill>
            </a:endParaRPr>
          </a:p>
          <a:p>
            <a:r>
              <a:rPr lang="en-US" sz="1400" dirty="0">
                <a:solidFill>
                  <a:schemeClr val="accent2"/>
                </a:solidFill>
              </a:rPr>
              <a:t># Login </a:t>
            </a:r>
            <a:r>
              <a:rPr lang="en-US" sz="1400" dirty="0" err="1">
                <a:solidFill>
                  <a:schemeClr val="accent2"/>
                </a:solidFill>
              </a:rPr>
              <a:t>Github</a:t>
            </a:r>
            <a:r>
              <a:rPr lang="en-US" sz="1400" dirty="0">
                <a:solidFill>
                  <a:schemeClr val="accent2"/>
                </a:solidFill>
              </a:rPr>
              <a:t> and </a:t>
            </a:r>
            <a:r>
              <a:rPr lang="en-US" sz="1400" b="1" dirty="0">
                <a:solidFill>
                  <a:schemeClr val="accent2"/>
                </a:solidFill>
              </a:rPr>
              <a:t>clone code</a:t>
            </a:r>
          </a:p>
          <a:p>
            <a:r>
              <a:rPr lang="en-US" sz="1400" dirty="0" err="1"/>
              <a:t>gh</a:t>
            </a:r>
            <a:r>
              <a:rPr lang="en-US" sz="1400" dirty="0"/>
              <a:t> </a:t>
            </a:r>
            <a:r>
              <a:rPr lang="en-US" sz="1400" dirty="0" err="1"/>
              <a:t>auth</a:t>
            </a:r>
            <a:r>
              <a:rPr lang="en-US" sz="1400" dirty="0"/>
              <a:t> login --hostname </a:t>
            </a:r>
            <a:r>
              <a:rPr lang="en-US" sz="1400" dirty="0" err="1"/>
              <a:t>GitHub.com</a:t>
            </a:r>
            <a:r>
              <a:rPr lang="en-US" sz="1400" dirty="0"/>
              <a:t> --web</a:t>
            </a:r>
            <a:br>
              <a:rPr lang="en-US" sz="1400" dirty="0"/>
            </a:br>
            <a:r>
              <a:rPr lang="en-US" sz="1400" dirty="0" err="1"/>
              <a:t>gh</a:t>
            </a:r>
            <a:r>
              <a:rPr lang="en-US" sz="1400" dirty="0"/>
              <a:t> </a:t>
            </a:r>
            <a:r>
              <a:rPr lang="en-US" sz="1400" dirty="0" err="1"/>
              <a:t>auth</a:t>
            </a:r>
            <a:r>
              <a:rPr lang="en-US" sz="1400" dirty="0"/>
              <a:t> setup-git</a:t>
            </a:r>
            <a:br>
              <a:rPr lang="en-US" sz="1400" dirty="0"/>
            </a:br>
            <a:r>
              <a:rPr lang="en-US" sz="1400" dirty="0" err="1"/>
              <a:t>gh</a:t>
            </a:r>
            <a:r>
              <a:rPr lang="en-US" sz="1400" dirty="0"/>
              <a:t> repo clone zhteg4pvt/</a:t>
            </a:r>
            <a:r>
              <a:rPr lang="en-US" sz="1400" dirty="0" err="1"/>
              <a:t>nemd</a:t>
            </a:r>
            <a:r>
              <a:rPr lang="en-US" sz="1400" dirty="0"/>
              <a:t> ~/git/</a:t>
            </a:r>
            <a:r>
              <a:rPr lang="en-US" sz="1400" dirty="0" err="1"/>
              <a:t>nemd</a:t>
            </a:r>
            <a:br>
              <a:rPr lang="en-US" sz="1400" dirty="0"/>
            </a:br>
            <a:br>
              <a:rPr lang="en-US" sz="1400" dirty="0"/>
            </a:br>
            <a:r>
              <a:rPr lang="en-US" sz="1400" dirty="0">
                <a:solidFill>
                  <a:schemeClr val="accent2"/>
                </a:solidFill>
              </a:rPr>
              <a:t># </a:t>
            </a:r>
            <a:r>
              <a:rPr lang="en-US" sz="1400" b="1" dirty="0">
                <a:solidFill>
                  <a:schemeClr val="accent2"/>
                </a:solidFill>
              </a:rPr>
              <a:t>Install drivers </a:t>
            </a:r>
            <a:r>
              <a:rPr lang="en-US" sz="1400" dirty="0">
                <a:solidFill>
                  <a:schemeClr val="accent2"/>
                </a:solidFill>
              </a:rPr>
              <a:t>and ask for reboot</a:t>
            </a:r>
            <a:br>
              <a:rPr lang="en-US" sz="1400" dirty="0"/>
            </a:br>
            <a:r>
              <a:rPr lang="en-US" sz="1400" dirty="0"/>
              <a:t>(</a:t>
            </a:r>
            <a:r>
              <a:rPr lang="en-US" sz="1400" dirty="0" err="1"/>
              <a:t>lspci</a:t>
            </a:r>
            <a:r>
              <a:rPr lang="en-US" sz="1400" dirty="0"/>
              <a:t> | grep VGA | grep -q -v NVIDIA) &amp;&amp; exit 0</a:t>
            </a:r>
            <a:br>
              <a:rPr lang="en-US" sz="1400" dirty="0"/>
            </a:br>
            <a:r>
              <a:rPr lang="en-US" sz="1400" dirty="0" err="1"/>
              <a:t>sudo</a:t>
            </a:r>
            <a:r>
              <a:rPr lang="en-US" sz="1400" dirty="0"/>
              <a:t> ubuntu-drivers --</a:t>
            </a:r>
            <a:r>
              <a:rPr lang="en-US" sz="1400" dirty="0" err="1"/>
              <a:t>gpgpu</a:t>
            </a:r>
            <a:r>
              <a:rPr lang="en-US" sz="1400" dirty="0"/>
              <a:t> install</a:t>
            </a:r>
            <a:br>
              <a:rPr lang="en-US" sz="1400" dirty="0"/>
            </a:br>
            <a:r>
              <a:rPr lang="en-US" sz="1400" dirty="0" err="1"/>
              <a:t>sudo</a:t>
            </a:r>
            <a:r>
              <a:rPr lang="en-US" sz="1400" dirty="0"/>
              <a:t> apt upgrade -y</a:t>
            </a:r>
            <a:br>
              <a:rPr lang="en-US" sz="1400" dirty="0"/>
            </a:br>
            <a:r>
              <a:rPr lang="en-US" sz="1400" dirty="0"/>
              <a:t>read -p "Driver installed. Reboot? [y/n]? " answer</a:t>
            </a:r>
            <a:br>
              <a:rPr lang="en-US" sz="1400" dirty="0"/>
            </a:br>
            <a:r>
              <a:rPr lang="en-US" sz="1400" dirty="0"/>
              <a:t>case "$answer" in </a:t>
            </a:r>
            <a:r>
              <a:rPr lang="en-US" sz="1400" dirty="0" err="1"/>
              <a:t>Y|y</a:t>
            </a:r>
            <a:r>
              <a:rPr lang="en-US" sz="1400" dirty="0"/>
              <a:t>) echo "rebooting..."; reboot ;; *) ;; </a:t>
            </a:r>
            <a:r>
              <a:rPr lang="en-US" sz="1400" dirty="0" err="1"/>
              <a:t>esac</a:t>
            </a:r>
            <a:br>
              <a:rPr lang="en-US" sz="1400" dirty="0"/>
            </a:br>
            <a:r>
              <a:rPr lang="en-US" sz="1400" dirty="0"/>
              <a:t>echo "no reboot. (GPU driver may not be working)"</a:t>
            </a:r>
            <a:endParaRPr lang="en-US" sz="1400" dirty="0">
              <a:solidFill>
                <a:srgbClr val="BCBEC4"/>
              </a:solidFill>
              <a:effectLst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453B322-3889-3F4B-9DE0-DD9058EC2278}"/>
              </a:ext>
            </a:extLst>
          </p:cNvPr>
          <p:cNvSpPr/>
          <p:nvPr/>
        </p:nvSpPr>
        <p:spPr>
          <a:xfrm>
            <a:off x="416261" y="2127923"/>
            <a:ext cx="6561822" cy="2468880"/>
          </a:xfrm>
          <a:prstGeom prst="rect">
            <a:avLst/>
          </a:prstGeom>
          <a:ln>
            <a:prstDash val="dash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numCol="2">
            <a:spAutoFit/>
          </a:bodyPr>
          <a:lstStyle/>
          <a:p>
            <a:r>
              <a:rPr lang="en-US" sz="1400" dirty="0">
                <a:solidFill>
                  <a:schemeClr val="tx1"/>
                </a:solidFill>
                <a:effectLst/>
              </a:rPr>
              <a:t>class Distribution:</a:t>
            </a:r>
          </a:p>
          <a:p>
            <a:endParaRPr lang="en-US" sz="1400" dirty="0">
              <a:solidFill>
                <a:schemeClr val="tx1"/>
              </a:solidFill>
              <a:effectLst/>
            </a:endParaRPr>
          </a:p>
          <a:p>
            <a:r>
              <a:rPr lang="en-US" sz="1400" dirty="0">
                <a:solidFill>
                  <a:schemeClr val="tx1"/>
                </a:solidFill>
                <a:effectLst/>
              </a:rPr>
              <a:t>def run(self):</a:t>
            </a:r>
          </a:p>
          <a:p>
            <a:r>
              <a:rPr lang="en-US" sz="1400" i="1" dirty="0">
                <a:solidFill>
                  <a:schemeClr val="tx1"/>
                </a:solidFill>
              </a:rPr>
              <a:t>    </a:t>
            </a:r>
            <a:r>
              <a:rPr lang="en-US" sz="1400" dirty="0">
                <a:solidFill>
                  <a:schemeClr val="accent1"/>
                </a:solidFill>
              </a:rPr>
              <a:t># Install packages</a:t>
            </a:r>
            <a:br>
              <a:rPr lang="en-US" sz="1400" i="1" dirty="0">
                <a:solidFill>
                  <a:srgbClr val="5F826B"/>
                </a:solidFill>
                <a:effectLst/>
              </a:rPr>
            </a:br>
            <a:r>
              <a:rPr lang="en-US" sz="14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self.prereq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r>
              <a:rPr lang="en-US" sz="1400" dirty="0">
                <a:solidFill>
                  <a:schemeClr val="accent1"/>
                </a:solidFill>
              </a:rPr>
              <a:t>    # Compile binaries</a:t>
            </a:r>
            <a:br>
              <a:rPr lang="en-US" sz="1400" dirty="0">
                <a:solidFill>
                  <a:schemeClr val="tx1"/>
                </a:solidFill>
                <a:effectLst/>
              </a:rPr>
            </a:br>
            <a:r>
              <a:rPr lang="en-US" sz="1400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self.compile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r>
              <a:rPr lang="en-US" sz="1400" dirty="0">
                <a:solidFill>
                  <a:schemeClr val="tx1"/>
                </a:solidFill>
              </a:rPr>
              <a:t>    </a:t>
            </a:r>
            <a:r>
              <a:rPr lang="en-US" sz="1400" dirty="0">
                <a:solidFill>
                  <a:schemeClr val="accent1"/>
                </a:solidFill>
              </a:rPr>
              <a:t># Distribute shell, python, and data</a:t>
            </a:r>
            <a:br>
              <a:rPr lang="en-US" sz="1400" dirty="0">
                <a:solidFill>
                  <a:schemeClr val="tx1"/>
                </a:solidFill>
                <a:effectLst/>
              </a:rPr>
            </a:br>
            <a:r>
              <a:rPr lang="en-US" sz="1400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self.setup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endParaRPr lang="en-US" sz="1400" dirty="0">
              <a:solidFill>
                <a:schemeClr val="tx1"/>
              </a:solidFill>
              <a:effectLst/>
            </a:endParaRPr>
          </a:p>
          <a:p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def </a:t>
            </a:r>
            <a:r>
              <a:rPr lang="en-US" sz="1200" dirty="0" err="1">
                <a:solidFill>
                  <a:schemeClr val="tx1"/>
                </a:solidFill>
              </a:rPr>
              <a:t>prereq</a:t>
            </a:r>
            <a:r>
              <a:rPr lang="en-US" sz="1200" dirty="0">
                <a:solidFill>
                  <a:schemeClr val="tx1"/>
                </a:solidFill>
              </a:rPr>
              <a:t>(self):</a:t>
            </a:r>
            <a:br>
              <a:rPr lang="en-US" sz="1200" i="1" dirty="0">
                <a:solidFill>
                  <a:schemeClr val="tx1"/>
                </a:solidFill>
                <a:effectLst/>
              </a:rPr>
            </a:br>
            <a:r>
              <a:rPr lang="en-US" sz="12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subprocess</a:t>
            </a:r>
            <a:r>
              <a:rPr lang="en-US" sz="1200" dirty="0" err="1">
                <a:solidFill>
                  <a:schemeClr val="tx1"/>
                </a:solidFill>
              </a:rPr>
              <a:t>.run</a:t>
            </a:r>
            <a:r>
              <a:rPr lang="en-US" sz="1200" dirty="0">
                <a:solidFill>
                  <a:schemeClr val="tx1"/>
                </a:solidFill>
              </a:rPr>
              <a:t>('brew install –q </a:t>
            </a:r>
            <a:r>
              <a:rPr lang="en-US" sz="1200" dirty="0" err="1">
                <a:solidFill>
                  <a:schemeClr val="tx1"/>
                </a:solidFill>
              </a:rPr>
              <a:t>gcc</a:t>
            </a:r>
            <a:r>
              <a:rPr lang="en-US" sz="1200" dirty="0">
                <a:solidFill>
                  <a:schemeClr val="tx1"/>
                </a:solidFill>
              </a:rPr>
              <a:t>', shell=True</a:t>
            </a:r>
            <a:r>
              <a:rPr lang="en-US" sz="1200" dirty="0">
                <a:solidFill>
                  <a:schemeClr val="tx1"/>
                </a:solidFill>
                <a:effectLst/>
              </a:rPr>
              <a:t>)</a:t>
            </a:r>
          </a:p>
          <a:p>
            <a:endParaRPr lang="en-US" sz="1200" dirty="0">
              <a:solidFill>
                <a:schemeClr val="tx1"/>
              </a:solidFill>
              <a:effectLst/>
            </a:endParaRPr>
          </a:p>
          <a:p>
            <a:r>
              <a:rPr lang="en-US" sz="1200" dirty="0">
                <a:solidFill>
                  <a:schemeClr val="tx1"/>
                </a:solidFill>
                <a:effectLst/>
              </a:rPr>
              <a:t>def compile(self):</a:t>
            </a:r>
            <a:br>
              <a:rPr lang="en-US" sz="1200" i="1" dirty="0">
                <a:solidFill>
                  <a:schemeClr val="tx1"/>
                </a:solidFill>
                <a:effectLst/>
              </a:rPr>
            </a:br>
            <a:r>
              <a:rPr lang="en-US" sz="12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subprocess.run</a:t>
            </a:r>
            <a:r>
              <a:rPr lang="en-US" sz="1200" dirty="0">
                <a:solidFill>
                  <a:schemeClr val="tx1"/>
                </a:solidFill>
                <a:effectLst/>
              </a:rPr>
              <a:t>('bash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install.sh</a:t>
            </a:r>
            <a:r>
              <a:rPr lang="en-US" sz="1200" dirty="0">
                <a:solidFill>
                  <a:schemeClr val="tx1"/>
                </a:solidFill>
                <a:effectLst/>
              </a:rPr>
              <a:t>', shell=True)</a:t>
            </a:r>
          </a:p>
          <a:p>
            <a:endParaRPr lang="en-US" sz="1200" dirty="0">
              <a:solidFill>
                <a:schemeClr val="tx1"/>
              </a:solidFill>
              <a:effectLst/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def </a:t>
            </a:r>
            <a:r>
              <a:rPr lang="en-US" sz="1200" dirty="0">
                <a:solidFill>
                  <a:schemeClr val="tx1"/>
                </a:solidFill>
                <a:effectLst/>
              </a:rPr>
              <a:t>setup(self):</a:t>
            </a:r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    </a:t>
            </a:r>
            <a:r>
              <a:rPr lang="en-US" sz="1200" dirty="0" err="1">
                <a:solidFill>
                  <a:schemeClr val="tx1"/>
                </a:solidFill>
              </a:rPr>
              <a:t>setuptools.setup</a:t>
            </a:r>
            <a:r>
              <a:rPr lang="en-US" sz="1200" dirty="0">
                <a:solidFill>
                  <a:schemeClr val="tx1"/>
                </a:solidFill>
              </a:rPr>
              <a:t>(</a:t>
            </a:r>
          </a:p>
          <a:p>
            <a:r>
              <a:rPr lang="en-US" sz="1200" dirty="0">
                <a:solidFill>
                  <a:schemeClr val="tx1"/>
                </a:solidFill>
              </a:rPr>
              <a:t>      packages=[</a:t>
            </a:r>
            <a:r>
              <a:rPr lang="en-US" sz="1200" dirty="0" err="1">
                <a:solidFill>
                  <a:schemeClr val="tx1"/>
                </a:solidFill>
              </a:rPr>
              <a:t>nemd</a:t>
            </a:r>
            <a:r>
              <a:rPr lang="en-US" sz="1200" dirty="0">
                <a:solidFill>
                  <a:schemeClr val="tx1"/>
                </a:solidFill>
              </a:rPr>
              <a:t>, alamode],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</a:t>
            </a:r>
            <a:r>
              <a:rPr lang="en-US" sz="1200" dirty="0" err="1">
                <a:solidFill>
                  <a:schemeClr val="tx1"/>
                </a:solidFill>
              </a:rPr>
              <a:t>package_dir</a:t>
            </a:r>
            <a:r>
              <a:rPr lang="en-US" sz="1200" dirty="0">
                <a:solidFill>
                  <a:schemeClr val="tx1"/>
                </a:solidFill>
              </a:rPr>
              <a:t>=[module/</a:t>
            </a:r>
            <a:r>
              <a:rPr lang="en-US" sz="1200" dirty="0" err="1">
                <a:solidFill>
                  <a:schemeClr val="tx1"/>
                </a:solidFill>
              </a:rPr>
              <a:t>nemd</a:t>
            </a:r>
            <a:r>
              <a:rPr lang="en-US" sz="1200" dirty="0">
                <a:solidFill>
                  <a:schemeClr val="tx1"/>
                </a:solidFill>
              </a:rPr>
              <a:t>],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</a:t>
            </a:r>
            <a:r>
              <a:rPr lang="en-US" sz="1200" dirty="0" err="1">
                <a:solidFill>
                  <a:schemeClr val="tx1"/>
                </a:solidFill>
              </a:rPr>
              <a:t>package_data</a:t>
            </a:r>
            <a:r>
              <a:rPr lang="en-US" sz="1200" dirty="0">
                <a:solidFill>
                  <a:schemeClr val="tx1"/>
                </a:solidFill>
              </a:rPr>
              <a:t>={</a:t>
            </a:r>
            <a:r>
              <a:rPr lang="en-US" sz="1200" dirty="0" err="1">
                <a:solidFill>
                  <a:schemeClr val="tx1"/>
                </a:solidFill>
              </a:rPr>
              <a:t>lammps</a:t>
            </a:r>
            <a:r>
              <a:rPr lang="en-US" sz="1200" dirty="0">
                <a:solidFill>
                  <a:schemeClr val="tx1"/>
                </a:solidFill>
              </a:rPr>
              <a:t>: [build/</a:t>
            </a:r>
            <a:r>
              <a:rPr lang="en-US" sz="1200" dirty="0" err="1">
                <a:solidFill>
                  <a:schemeClr val="tx1"/>
                </a:solidFill>
              </a:rPr>
              <a:t>lmp</a:t>
            </a:r>
            <a:r>
              <a:rPr lang="en-US" sz="1200" dirty="0">
                <a:solidFill>
                  <a:schemeClr val="tx1"/>
                </a:solidFill>
              </a:rPr>
              <a:t>]},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scripts= =[</a:t>
            </a:r>
            <a:r>
              <a:rPr lang="en-US" sz="1200" dirty="0" err="1">
                <a:solidFill>
                  <a:schemeClr val="tx1"/>
                </a:solidFill>
              </a:rPr>
              <a:t>sh</a:t>
            </a:r>
            <a:r>
              <a:rPr lang="en-US" sz="1200" dirty="0">
                <a:solidFill>
                  <a:schemeClr val="tx1"/>
                </a:solidFill>
              </a:rPr>
              <a:t>/</a:t>
            </a:r>
            <a:r>
              <a:rPr lang="en-US" sz="1200" dirty="0" err="1">
                <a:solidFill>
                  <a:schemeClr val="tx1"/>
                </a:solidFill>
              </a:rPr>
              <a:t>nemd_run</a:t>
            </a:r>
            <a:r>
              <a:rPr lang="en-US" sz="1200" dirty="0">
                <a:solidFill>
                  <a:schemeClr val="tx1"/>
                </a:solidFill>
              </a:rPr>
              <a:t>])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A8A657-B335-F14F-80CB-EF10C0256C14}"/>
              </a:ext>
            </a:extLst>
          </p:cNvPr>
          <p:cNvSpPr/>
          <p:nvPr/>
        </p:nvSpPr>
        <p:spPr>
          <a:xfrm>
            <a:off x="10772067" y="189336"/>
            <a:ext cx="10222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solidFill>
                  <a:schemeClr val="accent2"/>
                </a:solidFill>
              </a:rPr>
              <a:t>sh</a:t>
            </a:r>
            <a:r>
              <a:rPr lang="en-US" dirty="0">
                <a:solidFill>
                  <a:schemeClr val="accent2"/>
                </a:solidFill>
              </a:rPr>
              <a:t>/setup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C220BB-ED5F-EB4B-9A8F-0EFF0F76D462}"/>
              </a:ext>
            </a:extLst>
          </p:cNvPr>
          <p:cNvSpPr/>
          <p:nvPr/>
        </p:nvSpPr>
        <p:spPr>
          <a:xfrm>
            <a:off x="5970243" y="4221209"/>
            <a:ext cx="10078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solidFill>
                  <a:schemeClr val="accent1"/>
                </a:solidFill>
              </a:rPr>
              <a:t>setup.py</a:t>
            </a:r>
            <a:endParaRPr lang="en-US" dirty="0">
              <a:solidFill>
                <a:schemeClr val="accent1"/>
              </a:solidFill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67D5D4F-D237-7B43-FF06-8B534EC302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6424877"/>
              </p:ext>
            </p:extLst>
          </p:nvPr>
        </p:nvGraphicFramePr>
        <p:xfrm>
          <a:off x="416261" y="4764878"/>
          <a:ext cx="11378010" cy="1557620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1367957">
                  <a:extLst>
                    <a:ext uri="{9D8B030D-6E8A-4147-A177-3AD203B41FA5}">
                      <a16:colId xmlns:a16="http://schemas.microsoft.com/office/drawing/2014/main" val="2763857822"/>
                    </a:ext>
                  </a:extLst>
                </a:gridCol>
                <a:gridCol w="1782816">
                  <a:extLst>
                    <a:ext uri="{9D8B030D-6E8A-4147-A177-3AD203B41FA5}">
                      <a16:colId xmlns:a16="http://schemas.microsoft.com/office/drawing/2014/main" val="2887983121"/>
                    </a:ext>
                  </a:extLst>
                </a:gridCol>
                <a:gridCol w="1886724">
                  <a:extLst>
                    <a:ext uri="{9D8B030D-6E8A-4147-A177-3AD203B41FA5}">
                      <a16:colId xmlns:a16="http://schemas.microsoft.com/office/drawing/2014/main" val="2591759842"/>
                    </a:ext>
                  </a:extLst>
                </a:gridCol>
                <a:gridCol w="1739433">
                  <a:extLst>
                    <a:ext uri="{9D8B030D-6E8A-4147-A177-3AD203B41FA5}">
                      <a16:colId xmlns:a16="http://schemas.microsoft.com/office/drawing/2014/main" val="559988772"/>
                    </a:ext>
                  </a:extLst>
                </a:gridCol>
                <a:gridCol w="1350218">
                  <a:extLst>
                    <a:ext uri="{9D8B030D-6E8A-4147-A177-3AD203B41FA5}">
                      <a16:colId xmlns:a16="http://schemas.microsoft.com/office/drawing/2014/main" val="1438456063"/>
                    </a:ext>
                  </a:extLst>
                </a:gridCol>
                <a:gridCol w="1195805">
                  <a:extLst>
                    <a:ext uri="{9D8B030D-6E8A-4147-A177-3AD203B41FA5}">
                      <a16:colId xmlns:a16="http://schemas.microsoft.com/office/drawing/2014/main" val="2787923875"/>
                    </a:ext>
                  </a:extLst>
                </a:gridCol>
                <a:gridCol w="1002979">
                  <a:extLst>
                    <a:ext uri="{9D8B030D-6E8A-4147-A177-3AD203B41FA5}">
                      <a16:colId xmlns:a16="http://schemas.microsoft.com/office/drawing/2014/main" val="2670914110"/>
                    </a:ext>
                  </a:extLst>
                </a:gridCol>
                <a:gridCol w="1052078">
                  <a:extLst>
                    <a:ext uri="{9D8B030D-6E8A-4147-A177-3AD203B41FA5}">
                      <a16:colId xmlns:a16="http://schemas.microsoft.com/office/drawing/2014/main" val="3057274228"/>
                    </a:ext>
                  </a:extLst>
                </a:gridCol>
              </a:tblGrid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OS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Graphic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Memory (GB)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2"/>
                          </a:solidFill>
                          <a:effectLst/>
                        </a:rPr>
                        <a:t>setup (min)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kern="1200" dirty="0">
                          <a:solidFill>
                            <a:schemeClr val="lt1"/>
                          </a:solidFill>
                          <a:effectLst/>
                        </a:rPr>
                        <a:t> </a:t>
                      </a:r>
                      <a:r>
                        <a:rPr lang="en-US" sz="1400" b="1" kern="1200" dirty="0">
                          <a:solidFill>
                            <a:schemeClr val="accent1"/>
                          </a:solidFill>
                          <a:effectLst/>
                        </a:rPr>
                        <a:t>pip (min)</a:t>
                      </a:r>
                      <a:endParaRPr lang="en-US" sz="1400" b="1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</a:rPr>
                        <a:t>test (min)</a:t>
                      </a:r>
                      <a:endParaRPr lang="en-US" sz="1400" b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638683"/>
                  </a:ext>
                </a:extLst>
              </a:tr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Mac Mini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Sonoma 14.6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Apple M1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Apple M1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8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3.94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5.11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0.77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81084939"/>
                  </a:ext>
                </a:extLst>
              </a:tr>
              <a:tr h="56474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Lenovo Y710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Ubuntu 22.04.5 LTS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Intel® Core™ i7-6700 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GeForce GTX 1080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16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6.15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20.27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0.77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9585665"/>
                  </a:ext>
                </a:extLst>
              </a:tr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MacBook Pro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Sequoia 15.2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 Core i5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 Iris Plus 645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16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6.67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10.25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1.22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0225767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98B83A-C0C3-3D60-F99A-63ADB307B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3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28832D-2287-F4AC-CF85-B0B344177870}"/>
              </a:ext>
            </a:extLst>
          </p:cNvPr>
          <p:cNvSpPr txBox="1"/>
          <p:nvPr/>
        </p:nvSpPr>
        <p:spPr>
          <a:xfrm>
            <a:off x="416261" y="6349846"/>
            <a:ext cx="807438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500" dirty="0">
                <a:effectLst/>
              </a:rPr>
              <a:t>* Ubuntu: 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bash &lt;(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wget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 -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qO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- https://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raw.githubusercontent.com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/zhteg4/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nemd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/main/setup)</a:t>
            </a:r>
            <a:endParaRPr lang="en-US" sz="1500" i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27534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8D2B1B2-4396-513B-10FF-3C1E6D7763A1}"/>
              </a:ext>
            </a:extLst>
          </p:cNvPr>
          <p:cNvSpPr txBox="1"/>
          <p:nvPr/>
        </p:nvSpPr>
        <p:spPr>
          <a:xfrm>
            <a:off x="478418" y="731520"/>
            <a:ext cx="11430000" cy="5669280"/>
          </a:xfrm>
          <a:prstGeom prst="rect">
            <a:avLst/>
          </a:prstGeom>
          <a:noFill/>
        </p:spPr>
        <p:txBody>
          <a:bodyPr wrap="square" numCol="3">
            <a:spAutoFit/>
          </a:bodyPr>
          <a:lstStyle/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r>
              <a:rPr lang="en-US" sz="1300" dirty="0">
                <a:effectLst/>
              </a:rPr>
              <a:t>class Darwin: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macOS installer.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</a:t>
            </a:r>
            <a:r>
              <a:rPr lang="en-US" sz="1300" dirty="0" err="1">
                <a:solidFill>
                  <a:srgbClr val="00B0F0"/>
                </a:solidFill>
                <a:effectLst/>
              </a:rPr>
              <a:t>prereq</a:t>
            </a:r>
            <a:r>
              <a:rPr lang="en-US" sz="1300" dirty="0">
                <a:effectLst/>
              </a:rPr>
              <a:t>(self, *pkgs):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Install the packages required by compilation.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>
                <a:effectLst/>
              </a:rPr>
              <a:t>if not </a:t>
            </a:r>
            <a:r>
              <a:rPr lang="en-US" sz="1300" dirty="0" err="1">
                <a:effectLst/>
              </a:rPr>
              <a:t>self.lmp_exe</a:t>
            </a:r>
            <a:r>
              <a:rPr lang="en-US" sz="1300" dirty="0">
                <a:effectLst/>
              </a:rPr>
              <a:t>: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    pkgs += </a:t>
            </a:r>
            <a:r>
              <a:rPr lang="en-US" sz="1300" dirty="0" err="1">
                <a:effectLst/>
              </a:rPr>
              <a:t>self.LMP_PKGS</a:t>
            </a:r>
            <a:br>
              <a:rPr lang="en-US" sz="1300" dirty="0"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 = ' '.join(</a:t>
            </a:r>
            <a:r>
              <a:rPr lang="en-US" sz="1300" dirty="0" err="1">
                <a:effectLst/>
              </a:rPr>
              <a:t>self.INSTALL</a:t>
            </a:r>
            <a:r>
              <a:rPr lang="en-US" sz="1300" dirty="0">
                <a:effectLst/>
              </a:rPr>
              <a:t> + pkgs)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</a:t>
            </a:r>
            <a:r>
              <a:rPr lang="en-US" sz="1300" dirty="0" err="1">
                <a:effectLst/>
              </a:rPr>
              <a:t>f"echo</a:t>
            </a:r>
            <a:r>
              <a:rPr lang="en-US" sz="1300" dirty="0">
                <a:effectLst/>
              </a:rPr>
              <a:t> {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}; {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}", shell=True)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compile</a:t>
            </a:r>
            <a:r>
              <a:rPr lang="en-US" sz="1300" dirty="0">
                <a:effectLst/>
              </a:rPr>
              <a:t>(self):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Compile the binaries.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('bash </a:t>
            </a:r>
            <a:r>
              <a:rPr lang="en-US" sz="1300" dirty="0" err="1">
                <a:effectLst/>
              </a:rPr>
              <a:t>install.sh</a:t>
            </a:r>
            <a:r>
              <a:rPr lang="en-US" sz="1300" dirty="0">
                <a:effectLst/>
              </a:rPr>
              <a:t>', shell=True)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r>
              <a:rPr lang="en-US" sz="1300" dirty="0">
                <a:effectLst/>
              </a:rPr>
              <a:t>class Linux(Darwin):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Linux installer.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6AAB73"/>
                </a:solidFill>
                <a:effectLst/>
              </a:rPr>
            </a:br>
            <a:br>
              <a:rPr lang="en-US" sz="1300" dirty="0">
                <a:solidFill>
                  <a:srgbClr val="6AAB73"/>
                </a:solidFill>
                <a:effectLst/>
              </a:rPr>
            </a:br>
            <a:r>
              <a:rPr lang="en-US" sz="1300" dirty="0">
                <a:solidFill>
                  <a:srgbClr val="6AAB73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</a:t>
            </a:r>
            <a:r>
              <a:rPr lang="en-US" sz="1300" dirty="0" err="1">
                <a:solidFill>
                  <a:srgbClr val="00B0F0"/>
                </a:solidFill>
                <a:effectLst/>
              </a:rPr>
              <a:t>prereq</a:t>
            </a:r>
            <a:r>
              <a:rPr lang="en-US" sz="1300" dirty="0">
                <a:effectLst/>
              </a:rPr>
              <a:t>(self, *pkgs):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Customize the prerequisites for Linux machine.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>
                <a:effectLst/>
              </a:rPr>
              <a:t>info =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('</a:t>
            </a:r>
            <a:r>
              <a:rPr lang="en-US" sz="1300" dirty="0" err="1">
                <a:effectLst/>
              </a:rPr>
              <a:t>nvidia-smi</a:t>
            </a:r>
            <a:r>
              <a:rPr lang="en-US" sz="1300" dirty="0">
                <a:effectLst/>
              </a:rPr>
              <a:t> | grep NVIDIA')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if not </a:t>
            </a:r>
            <a:r>
              <a:rPr lang="en-US" sz="1300" dirty="0" err="1">
                <a:effectLst/>
              </a:rPr>
              <a:t>info.returncode</a:t>
            </a:r>
            <a:r>
              <a:rPr lang="en-US" sz="1300" dirty="0">
                <a:effectLst/>
              </a:rPr>
              <a:t>: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    pkgs += ('</a:t>
            </a:r>
            <a:r>
              <a:rPr lang="en-US" sz="1300" dirty="0" err="1">
                <a:effectLst/>
              </a:rPr>
              <a:t>nvidia</a:t>
            </a:r>
            <a:r>
              <a:rPr lang="en-US" sz="1300" dirty="0">
                <a:effectLst/>
              </a:rPr>
              <a:t>-</a:t>
            </a:r>
            <a:r>
              <a:rPr lang="en-US" sz="1300" dirty="0" err="1">
                <a:effectLst/>
              </a:rPr>
              <a:t>cuda</a:t>
            </a:r>
            <a:r>
              <a:rPr lang="en-US" sz="1300" dirty="0">
                <a:effectLst/>
              </a:rPr>
              <a:t>-toolkit’, 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super().</a:t>
            </a:r>
            <a:r>
              <a:rPr lang="en-US" sz="1300" dirty="0" err="1">
                <a:effectLst/>
              </a:rPr>
              <a:t>prereq</a:t>
            </a:r>
            <a:r>
              <a:rPr lang="en-US" sz="1300" dirty="0">
                <a:effectLst/>
              </a:rPr>
              <a:t>(*pkgs)</a:t>
            </a:r>
            <a:endParaRPr lang="en-US" sz="1300" dirty="0"/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</a:endParaRPr>
          </a:p>
          <a:p>
            <a:r>
              <a:rPr lang="en-US" sz="1300" dirty="0">
                <a:effectLst/>
              </a:rPr>
              <a:t>Installer = {'</a:t>
            </a:r>
            <a:r>
              <a:rPr lang="en-US" sz="1300" dirty="0" err="1">
                <a:effectLst/>
              </a:rPr>
              <a:t>darwin</a:t>
            </a:r>
            <a:r>
              <a:rPr lang="en-US" sz="1300" dirty="0">
                <a:effectLst/>
              </a:rPr>
              <a:t>': Darwin, '</a:t>
            </a:r>
            <a:r>
              <a:rPr lang="en-US" sz="1300" dirty="0" err="1">
                <a:effectLst/>
              </a:rPr>
              <a:t>linux</a:t>
            </a:r>
            <a:r>
              <a:rPr lang="en-US" sz="1300" dirty="0">
                <a:effectLst/>
              </a:rPr>
              <a:t>': Linux}[</a:t>
            </a:r>
            <a:r>
              <a:rPr lang="en-US" sz="1300" dirty="0" err="1">
                <a:effectLst/>
              </a:rPr>
              <a:t>sys.platform</a:t>
            </a:r>
            <a:r>
              <a:rPr lang="en-US" sz="1300" dirty="0">
                <a:effectLst/>
              </a:rPr>
              <a:t>]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effectLst/>
              </a:rPr>
              <a:t>class</a:t>
            </a:r>
            <a:r>
              <a:rPr lang="en-US" sz="1300" dirty="0">
                <a:solidFill>
                  <a:srgbClr val="CF8E6D"/>
                </a:solidFill>
                <a:effectLst/>
              </a:rPr>
              <a:t> </a:t>
            </a:r>
            <a:r>
              <a:rPr lang="en-US" sz="1300" dirty="0">
                <a:effectLst/>
              </a:rPr>
              <a:t>Distribution(Installer):</a:t>
            </a:r>
            <a:br>
              <a:rPr lang="en-US" sz="1300" dirty="0"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Distribute the scripts, packages and data.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b="1" dirty="0">
                <a:effectLst/>
              </a:rPr>
              <a:t>def run(self):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Main method to install and distribute.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</a:t>
            </a:r>
            <a:r>
              <a:rPr lang="en-US" sz="1300" i="1" dirty="0">
                <a:solidFill>
                  <a:srgbClr val="00B0F0"/>
                </a:solidFill>
                <a:effectLst/>
              </a:rPr>
              <a:t>       </a:t>
            </a:r>
            <a:r>
              <a:rPr lang="en-US" sz="1300" dirty="0" err="1">
                <a:solidFill>
                  <a:srgbClr val="00B0F0"/>
                </a:solidFill>
              </a:rPr>
              <a:t>self.prereq</a:t>
            </a:r>
            <a:r>
              <a:rPr lang="en-US" sz="1300" dirty="0"/>
              <a:t>()</a:t>
            </a:r>
          </a:p>
          <a:p>
            <a:r>
              <a:rPr lang="en-US" sz="1300" dirty="0">
                <a:solidFill>
                  <a:srgbClr val="00B0F0"/>
                </a:solidFill>
              </a:rPr>
              <a:t>        </a:t>
            </a:r>
            <a:r>
              <a:rPr lang="en-US" sz="1300" dirty="0" err="1">
                <a:solidFill>
                  <a:srgbClr val="00B0F0"/>
                </a:solidFill>
              </a:rPr>
              <a:t>self.compile</a:t>
            </a:r>
            <a:r>
              <a:rPr lang="en-US" sz="1300" dirty="0"/>
              <a:t>()</a:t>
            </a:r>
            <a:br>
              <a:rPr lang="en-US" sz="1300" dirty="0"/>
            </a:br>
            <a:r>
              <a:rPr lang="en-US" sz="1300" dirty="0"/>
              <a:t>        </a:t>
            </a:r>
            <a:r>
              <a:rPr lang="en-US" sz="1300" dirty="0" err="1">
                <a:solidFill>
                  <a:schemeClr val="accent2"/>
                </a:solidFill>
              </a:rPr>
              <a:t>self.setup</a:t>
            </a:r>
            <a:r>
              <a:rPr lang="en-US" sz="1300" dirty="0"/>
              <a:t>()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  <a:effectLst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2A9310-BB79-2144-B598-D0EB31F3FA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105759" cy="1325563"/>
          </a:xfrm>
        </p:spPr>
        <p:txBody>
          <a:bodyPr/>
          <a:lstStyle/>
          <a:p>
            <a:r>
              <a:rPr lang="en-US" dirty="0" err="1">
                <a:solidFill>
                  <a:schemeClr val="accent1"/>
                </a:solidFill>
              </a:rPr>
              <a:t>setup.py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2BBDED6-40BA-2A45-8F88-5161C9C86FC7}"/>
              </a:ext>
            </a:extLst>
          </p:cNvPr>
          <p:cNvSpPr/>
          <p:nvPr/>
        </p:nvSpPr>
        <p:spPr>
          <a:xfrm>
            <a:off x="478419" y="1555933"/>
            <a:ext cx="388878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1"/>
                </a:solidFill>
              </a:rPr>
              <a:t>python3.10 </a:t>
            </a:r>
            <a:r>
              <a:rPr lang="en-US" i="1" dirty="0" err="1">
                <a:solidFill>
                  <a:schemeClr val="accent1"/>
                </a:solidFill>
              </a:rPr>
              <a:t>setup.py</a:t>
            </a:r>
            <a:r>
              <a:rPr lang="en-US" i="1" dirty="0">
                <a:solidFill>
                  <a:schemeClr val="accent1"/>
                </a:solidFill>
              </a:rPr>
              <a:t> install --verbose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67995A82-AA87-EB47-9A72-502758C7DE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3392695"/>
              </p:ext>
            </p:extLst>
          </p:nvPr>
        </p:nvGraphicFramePr>
        <p:xfrm>
          <a:off x="5163591" y="3954001"/>
          <a:ext cx="4297680" cy="21336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153373">
                  <a:extLst>
                    <a:ext uri="{9D8B030D-6E8A-4147-A177-3AD203B41FA5}">
                      <a16:colId xmlns:a16="http://schemas.microsoft.com/office/drawing/2014/main" val="1700155147"/>
                    </a:ext>
                  </a:extLst>
                </a:gridCol>
                <a:gridCol w="3144307">
                  <a:extLst>
                    <a:ext uri="{9D8B030D-6E8A-4147-A177-3AD203B41FA5}">
                      <a16:colId xmlns:a16="http://schemas.microsoft.com/office/drawing/2014/main" val="4090573760"/>
                    </a:ext>
                  </a:extLst>
                </a:gridCol>
              </a:tblGrid>
              <a:tr h="304365">
                <a:tc>
                  <a:txBody>
                    <a:bodyPr/>
                    <a:lstStyle/>
                    <a:p>
                      <a:r>
                        <a:rPr lang="en-US" sz="1400" b="0" dirty="0">
                          <a:solidFill>
                            <a:schemeClr val="tx1"/>
                          </a:solidFill>
                        </a:rPr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 err="1">
                          <a:solidFill>
                            <a:schemeClr val="accent2"/>
                          </a:solidFill>
                          <a:effectLst/>
                        </a:rPr>
                        <a:t>setuptools</a:t>
                      </a:r>
                      <a:r>
                        <a:rPr lang="en-US" sz="1400" b="0" dirty="0" err="1">
                          <a:solidFill>
                            <a:schemeClr val="accent2"/>
                          </a:solidFill>
                        </a:rPr>
                        <a:t>.setup</a:t>
                      </a:r>
                      <a:endParaRPr lang="en-US" sz="1400" b="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3249605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Module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packages = [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, alamode]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708201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Python files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package_dir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 = {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: module/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}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4436560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Non-python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package_data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= {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lammps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: [build/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lmp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]},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567960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Scripts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scripts=[</a:t>
                      </a:r>
                      <a:r>
                        <a:rPr lang="en-US" sz="1400" dirty="0" err="1"/>
                        <a:t>sh</a:t>
                      </a:r>
                      <a:r>
                        <a:rPr lang="en-US" sz="1400" dirty="0"/>
                        <a:t>/</a:t>
                      </a:r>
                      <a:r>
                        <a:rPr lang="en-US" sz="1400" dirty="0" err="1"/>
                        <a:t>nemd_run</a:t>
                      </a:r>
                      <a:r>
                        <a:rPr lang="en-US" sz="1400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1257283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packages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install_requires</a:t>
                      </a:r>
                      <a:r>
                        <a:rPr lang="en-US" sz="1400" dirty="0"/>
                        <a:t>=[</a:t>
                      </a:r>
                      <a:r>
                        <a:rPr lang="en-US" sz="1400" dirty="0" err="1"/>
                        <a:t>numpy</a:t>
                      </a:r>
                      <a:r>
                        <a:rPr lang="en-US" sz="1400" dirty="0"/>
                        <a:t>, </a:t>
                      </a:r>
                      <a:r>
                        <a:rPr lang="en-US" sz="1400" dirty="0" err="1"/>
                        <a:t>scipy</a:t>
                      </a:r>
                      <a:r>
                        <a:rPr lang="en-US" sz="1400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3373995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Metadata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classifiers=[Status :: Production/Stable]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6861193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AC3A045-037E-395D-3D4C-73000FD86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4</a:t>
            </a:fld>
            <a:endParaRPr lang="en-US"/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E9472D82-6278-FB6C-1597-341A55663B49}"/>
              </a:ext>
            </a:extLst>
          </p:cNvPr>
          <p:cNvSpPr/>
          <p:nvPr/>
        </p:nvSpPr>
        <p:spPr>
          <a:xfrm>
            <a:off x="9579769" y="4379118"/>
            <a:ext cx="171450" cy="728662"/>
          </a:xfrm>
          <a:prstGeom prst="rightBrac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71B17EF-607B-61CF-F81A-13E8B5D4E6E1}"/>
              </a:ext>
            </a:extLst>
          </p:cNvPr>
          <p:cNvCxnSpPr/>
          <p:nvPr/>
        </p:nvCxnSpPr>
        <p:spPr>
          <a:xfrm>
            <a:off x="9579769" y="5350668"/>
            <a:ext cx="1714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56889AD6-ADD5-77C7-137F-7D0A47FDB098}"/>
              </a:ext>
            </a:extLst>
          </p:cNvPr>
          <p:cNvSpPr/>
          <p:nvPr/>
        </p:nvSpPr>
        <p:spPr>
          <a:xfrm>
            <a:off x="9869717" y="4558783"/>
            <a:ext cx="161028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2"/>
                </a:solidFill>
              </a:rPr>
              <a:t>site-packages/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304D04F-FFE5-4139-C4AB-BF0DD7D66638}"/>
              </a:ext>
            </a:extLst>
          </p:cNvPr>
          <p:cNvSpPr/>
          <p:nvPr/>
        </p:nvSpPr>
        <p:spPr>
          <a:xfrm>
            <a:off x="9928515" y="5137426"/>
            <a:ext cx="148408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2"/>
                </a:solidFill>
              </a:rPr>
              <a:t>bin/</a:t>
            </a:r>
          </a:p>
        </p:txBody>
      </p:sp>
    </p:spTree>
    <p:extLst>
      <p:ext uri="{BB962C8B-B14F-4D97-AF65-F5344CB8AC3E}">
        <p14:creationId xmlns:p14="http://schemas.microsoft.com/office/powerpoint/2010/main" val="19068054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7BD5A-BA12-DA4C-BA74-14CF0715B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E2C1888-8148-534E-A074-A5D082788F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2840913"/>
              </p:ext>
            </p:extLst>
          </p:nvPr>
        </p:nvGraphicFramePr>
        <p:xfrm>
          <a:off x="1416857" y="1634026"/>
          <a:ext cx="9248371" cy="452628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1755089">
                  <a:extLst>
                    <a:ext uri="{9D8B030D-6E8A-4147-A177-3AD203B41FA5}">
                      <a16:colId xmlns:a16="http://schemas.microsoft.com/office/drawing/2014/main" val="3202141244"/>
                    </a:ext>
                  </a:extLst>
                </a:gridCol>
                <a:gridCol w="7493282">
                  <a:extLst>
                    <a:ext uri="{9D8B030D-6E8A-4147-A177-3AD203B41FA5}">
                      <a16:colId xmlns:a16="http://schemas.microsoft.com/office/drawing/2014/main" val="214660213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Description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433158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2"/>
                          </a:solidFill>
                        </a:rPr>
                        <a:t>sh</a:t>
                      </a:r>
                      <a:endParaRPr lang="en-US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kern="1200" dirty="0">
                          <a:solidFill>
                            <a:schemeClr val="accent2"/>
                          </a:solidFill>
                          <a:effectLst/>
                        </a:rPr>
                        <a:t>POSIX shell scripts</a:t>
                      </a:r>
                      <a:endParaRPr lang="en-US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32953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1"/>
                          </a:solidFill>
                        </a:rPr>
                        <a:t>setup.py</a:t>
                      </a:r>
                      <a:endParaRPr lang="en-US" dirty="0">
                        <a:solidFill>
                          <a:schemeClr val="accent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accent1"/>
                          </a:solidFill>
                        </a:rPr>
                        <a:t>PyPI</a:t>
                      </a:r>
                      <a:r>
                        <a:rPr lang="en-US" sz="1800" dirty="0">
                          <a:solidFill>
                            <a:schemeClr val="accent1"/>
                          </a:solidFill>
                        </a:rPr>
                        <a:t> installation on Darwin and Linux</a:t>
                      </a:r>
                      <a:endParaRPr lang="en-US" dirty="0">
                        <a:solidFill>
                          <a:schemeClr val="accent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851302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module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Shared classes and functions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5867601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driver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Command line execution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368254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workflow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Executions and aggregation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603777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premake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Shell environmental configuration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2635044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Unit, integration, scientific, and performance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868168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practice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Trial and error learning curve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3642351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docs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Roadmap, summary, and documentation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8587505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C06D48-6892-EA3D-B212-225AC1552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3635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C173D-D3DC-9F4C-A8C5-BF302DEB9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618"/>
            <a:ext cx="2985306" cy="817436"/>
          </a:xfrm>
        </p:spPr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0D8E5B-970B-B649-A53E-984F2A70C6FD}"/>
              </a:ext>
            </a:extLst>
          </p:cNvPr>
          <p:cNvSpPr txBox="1"/>
          <p:nvPr/>
        </p:nvSpPr>
        <p:spPr>
          <a:xfrm>
            <a:off x="203912" y="924848"/>
            <a:ext cx="2423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 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4588F70-816D-6E4F-AE61-E6BE3EF59325}"/>
              </a:ext>
            </a:extLst>
          </p:cNvPr>
          <p:cNvSpPr/>
          <p:nvPr/>
        </p:nvSpPr>
        <p:spPr>
          <a:xfrm>
            <a:off x="6631600" y="4177595"/>
            <a:ext cx="36816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Molecular Dynamics Log Analysis</a:t>
            </a:r>
            <a:r>
              <a:rPr lang="en-US" sz="2000" dirty="0"/>
              <a:t>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C8CC3B-ABFF-B646-B73E-E44C9CB809B2}"/>
              </a:ext>
            </a:extLst>
          </p:cNvPr>
          <p:cNvSpPr/>
          <p:nvPr/>
        </p:nvSpPr>
        <p:spPr>
          <a:xfrm>
            <a:off x="1447031" y="3333244"/>
            <a:ext cx="435978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Molecular Dynamics Trajectory Analysis</a:t>
            </a:r>
            <a:r>
              <a:rPr lang="en-US" sz="2000" dirty="0"/>
              <a:t> 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61EEB76-F92B-2347-AD56-40101983DE73}"/>
              </a:ext>
            </a:extLst>
          </p:cNvPr>
          <p:cNvSpPr/>
          <p:nvPr/>
        </p:nvSpPr>
        <p:spPr>
          <a:xfrm>
            <a:off x="2416784" y="924848"/>
            <a:ext cx="7382212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6"/>
                </a:solidFill>
              </a:rPr>
              <a:t>System, Constant, Wrapper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337A186-DA32-CD4F-8337-DE2434F40C97}"/>
              </a:ext>
            </a:extLst>
          </p:cNvPr>
          <p:cNvSpPr/>
          <p:nvPr/>
        </p:nvSpPr>
        <p:spPr>
          <a:xfrm>
            <a:off x="9980580" y="933881"/>
            <a:ext cx="2057400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accent6"/>
                </a:solidFill>
              </a:rPr>
              <a:t>Constant On 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6748ECE-270E-7741-9D72-3BB8A63736B0}"/>
              </a:ext>
            </a:extLst>
          </p:cNvPr>
          <p:cNvSpPr txBox="1"/>
          <p:nvPr/>
        </p:nvSpPr>
        <p:spPr>
          <a:xfrm>
            <a:off x="172892" y="4265303"/>
            <a:ext cx="320318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dirty="0"/>
              <a:t>Driver Wrapper</a:t>
            </a:r>
            <a:r>
              <a:rPr lang="en-US" sz="2000" dirty="0">
                <a:solidFill>
                  <a:srgbClr val="7030A0"/>
                </a:solidFill>
              </a:rPr>
              <a:t> </a:t>
            </a:r>
          </a:p>
          <a:p>
            <a:r>
              <a:rPr lang="en-US" sz="2000" dirty="0"/>
              <a:t>Parallelization &amp; Serialization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8AB71A3-57CF-1D45-9CCA-EFB994C70E67}"/>
              </a:ext>
            </a:extLst>
          </p:cNvPr>
          <p:cNvCxnSpPr/>
          <p:nvPr/>
        </p:nvCxnSpPr>
        <p:spPr>
          <a:xfrm>
            <a:off x="5990966" y="751226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1D9F721-0B72-3E46-8EED-118711A485B9}"/>
              </a:ext>
            </a:extLst>
          </p:cNvPr>
          <p:cNvCxnSpPr>
            <a:cxnSpLocks/>
          </p:cNvCxnSpPr>
          <p:nvPr/>
        </p:nvCxnSpPr>
        <p:spPr>
          <a:xfrm>
            <a:off x="9798996" y="1297276"/>
            <a:ext cx="104837" cy="3095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35973F5C-FC1D-AB4B-A98C-044B6F93D8C5}"/>
              </a:ext>
            </a:extLst>
          </p:cNvPr>
          <p:cNvSpPr txBox="1"/>
          <p:nvPr/>
        </p:nvSpPr>
        <p:spPr>
          <a:xfrm>
            <a:off x="5469851" y="282909"/>
            <a:ext cx="11200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</a:rPr>
              <a:t>initiation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833CBEE-E24F-F24B-9C4D-37CAD0D6CF9A}"/>
              </a:ext>
            </a:extLst>
          </p:cNvPr>
          <p:cNvCxnSpPr>
            <a:cxnSpLocks/>
          </p:cNvCxnSpPr>
          <p:nvPr/>
        </p:nvCxnSpPr>
        <p:spPr>
          <a:xfrm flipH="1" flipV="1">
            <a:off x="2308784" y="1290632"/>
            <a:ext cx="94880" cy="6644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8C851904-F9E6-2748-92C8-13BDDE8DB243}"/>
              </a:ext>
            </a:extLst>
          </p:cNvPr>
          <p:cNvSpPr/>
          <p:nvPr/>
        </p:nvSpPr>
        <p:spPr>
          <a:xfrm>
            <a:off x="9192708" y="3749636"/>
            <a:ext cx="194194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Lattice Dynamics</a:t>
            </a:r>
            <a:endParaRPr lang="en-US" sz="2000" dirty="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2645386-F15B-D048-9470-409A45A55201}"/>
              </a:ext>
            </a:extLst>
          </p:cNvPr>
          <p:cNvSpPr/>
          <p:nvPr/>
        </p:nvSpPr>
        <p:spPr>
          <a:xfrm>
            <a:off x="4984718" y="4177595"/>
            <a:ext cx="104515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Polymer</a:t>
            </a:r>
            <a:endParaRPr lang="en-US" sz="2000" dirty="0"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CB03CAF2-CFF0-894B-B873-A4A31A10159F}"/>
              </a:ext>
            </a:extLst>
          </p:cNvPr>
          <p:cNvSpPr/>
          <p:nvPr/>
        </p:nvSpPr>
        <p:spPr>
          <a:xfrm>
            <a:off x="6044118" y="3041515"/>
            <a:ext cx="4422843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Structure, Coordinate, and Force Field</a:t>
            </a:r>
            <a:endParaRPr lang="en-US" sz="2000" dirty="0"/>
          </a:p>
        </p:txBody>
      </p: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A7587610-3CA1-C347-80B6-9027455CC19A}"/>
              </a:ext>
            </a:extLst>
          </p:cNvPr>
          <p:cNvSpPr/>
          <p:nvPr/>
        </p:nvSpPr>
        <p:spPr>
          <a:xfrm>
            <a:off x="177582" y="1968802"/>
            <a:ext cx="11860396" cy="3014481"/>
          </a:xfrm>
          <a:prstGeom prst="roundRect">
            <a:avLst>
              <a:gd name="adj" fmla="val 6997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97" name="Rounded Rectangle 196">
            <a:extLst>
              <a:ext uri="{FF2B5EF4-FFF2-40B4-BE49-F238E27FC236}">
                <a16:creationId xmlns:a16="http://schemas.microsoft.com/office/drawing/2014/main" id="{01377981-1A99-AE48-A8D5-36EBF9D0EF53}"/>
              </a:ext>
            </a:extLst>
          </p:cNvPr>
          <p:cNvSpPr/>
          <p:nvPr/>
        </p:nvSpPr>
        <p:spPr>
          <a:xfrm>
            <a:off x="203911" y="926711"/>
            <a:ext cx="2080931" cy="738664"/>
          </a:xfrm>
          <a:prstGeom prst="roundRect">
            <a:avLst>
              <a:gd name="adj" fmla="val 2103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6"/>
                </a:solidFill>
              </a:rPr>
              <a:t>Job &amp; Log</a:t>
            </a:r>
          </a:p>
        </p:txBody>
      </p:sp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2E175DBF-3269-A648-A105-27E7E818773B}"/>
              </a:ext>
            </a:extLst>
          </p:cNvPr>
          <p:cNvSpPr/>
          <p:nvPr/>
        </p:nvSpPr>
        <p:spPr>
          <a:xfrm>
            <a:off x="168928" y="5112637"/>
            <a:ext cx="11860396" cy="544456"/>
          </a:xfrm>
          <a:prstGeom prst="roundRect">
            <a:avLst>
              <a:gd name="adj" fmla="val 36169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FFC000"/>
                </a:solidFill>
              </a:rPr>
              <a:t> Builder, Molecular Dynamics Simulation, MD Post Analysis, and Solid Physics</a:t>
            </a:r>
            <a:endParaRPr lang="en-US" sz="20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509083AD-01D3-6C4F-BB35-B0596080E109}"/>
              </a:ext>
            </a:extLst>
          </p:cNvPr>
          <p:cNvSpPr txBox="1"/>
          <p:nvPr/>
        </p:nvSpPr>
        <p:spPr>
          <a:xfrm>
            <a:off x="4896255" y="2157746"/>
            <a:ext cx="2302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</a:rPr>
              <a:t>Application Focused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0072D44-E63E-3A40-A103-85C34FE92124}"/>
              </a:ext>
            </a:extLst>
          </p:cNvPr>
          <p:cNvSpPr/>
          <p:nvPr/>
        </p:nvSpPr>
        <p:spPr>
          <a:xfrm>
            <a:off x="11071670" y="5256748"/>
            <a:ext cx="81708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driver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69B750B-F538-A346-9E74-66BA3FF4CE22}"/>
              </a:ext>
            </a:extLst>
          </p:cNvPr>
          <p:cNvSpPr/>
          <p:nvPr/>
        </p:nvSpPr>
        <p:spPr>
          <a:xfrm>
            <a:off x="10794276" y="5947428"/>
            <a:ext cx="119834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workflow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58E483-2560-6248-A99C-4FA39AA2FFC0}"/>
              </a:ext>
            </a:extLst>
          </p:cNvPr>
          <p:cNvSpPr/>
          <p:nvPr/>
        </p:nvSpPr>
        <p:spPr>
          <a:xfrm>
            <a:off x="10303016" y="507974"/>
            <a:ext cx="17235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module/</a:t>
            </a:r>
            <a:r>
              <a:rPr lang="en-US" sz="2000" b="1" dirty="0" err="1"/>
              <a:t>nemd</a:t>
            </a:r>
            <a:endParaRPr lang="en-US" sz="2000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2509DB-62AA-1C0D-B5B8-3ECA6A6F6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6</a:t>
            </a:fld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66C03E0-F379-569F-EBC3-7B95466F6999}"/>
              </a:ext>
            </a:extLst>
          </p:cNvPr>
          <p:cNvSpPr/>
          <p:nvPr/>
        </p:nvSpPr>
        <p:spPr>
          <a:xfrm>
            <a:off x="168928" y="5822182"/>
            <a:ext cx="11860396" cy="521208"/>
          </a:xfrm>
          <a:prstGeom prst="roundRect">
            <a:avLst>
              <a:gd name="adj" fmla="val 3761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2"/>
                </a:solidFill>
              </a:rPr>
              <a:t>Decentralized Automation </a:t>
            </a:r>
          </a:p>
        </p:txBody>
      </p:sp>
    </p:spTree>
    <p:extLst>
      <p:ext uri="{BB962C8B-B14F-4D97-AF65-F5344CB8AC3E}">
        <p14:creationId xmlns:p14="http://schemas.microsoft.com/office/powerpoint/2010/main" val="25431915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C173D-D3DC-9F4C-A8C5-BF302DEB9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618"/>
            <a:ext cx="2985306" cy="817436"/>
          </a:xfrm>
        </p:spPr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1F29ED-2B46-9341-9908-BE64EADFCFBA}"/>
              </a:ext>
            </a:extLst>
          </p:cNvPr>
          <p:cNvSpPr txBox="1"/>
          <p:nvPr/>
        </p:nvSpPr>
        <p:spPr>
          <a:xfrm>
            <a:off x="210327" y="3576743"/>
            <a:ext cx="15699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parser (</a:t>
            </a:r>
            <a:r>
              <a:rPr lang="en-US" sz="1400" dirty="0" err="1"/>
              <a:t>parserutils</a:t>
            </a:r>
            <a:r>
              <a:rPr lang="en-US" sz="1400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463E7A-6842-0D49-8F4E-D347FD468A04}"/>
              </a:ext>
            </a:extLst>
          </p:cNvPr>
          <p:cNvSpPr txBox="1"/>
          <p:nvPr/>
        </p:nvSpPr>
        <p:spPr>
          <a:xfrm>
            <a:off x="167366" y="4028612"/>
            <a:ext cx="24881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job, aggregator, task (</a:t>
            </a:r>
            <a:r>
              <a:rPr lang="en-US" sz="1400" dirty="0" err="1"/>
              <a:t>taskbase</a:t>
            </a:r>
            <a:r>
              <a:rPr lang="en-US" sz="1400" dirty="0"/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B588E4-F10A-644C-9466-0925CE93F76D}"/>
              </a:ext>
            </a:extLst>
          </p:cNvPr>
          <p:cNvSpPr txBox="1"/>
          <p:nvPr/>
        </p:nvSpPr>
        <p:spPr>
          <a:xfrm>
            <a:off x="5094886" y="648798"/>
            <a:ext cx="23827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debug, </a:t>
            </a:r>
            <a:r>
              <a:rPr lang="en-US" sz="1400" dirty="0" err="1"/>
              <a:t>lazy_import</a:t>
            </a:r>
            <a:r>
              <a:rPr lang="en-US" sz="1400" dirty="0"/>
              <a:t> (__</a:t>
            </a:r>
            <a:r>
              <a:rPr lang="en-US" sz="1400" dirty="0" err="1"/>
              <a:t>init</a:t>
            </a:r>
            <a:r>
              <a:rPr lang="en-US" sz="1400" dirty="0"/>
              <a:t>__ 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0D8E5B-970B-B649-A53E-984F2A70C6FD}"/>
              </a:ext>
            </a:extLst>
          </p:cNvPr>
          <p:cNvSpPr txBox="1"/>
          <p:nvPr/>
        </p:nvSpPr>
        <p:spPr>
          <a:xfrm>
            <a:off x="203912" y="1105215"/>
            <a:ext cx="2247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19A201-7BF9-684E-BEFE-9D7833C6BDC2}"/>
              </a:ext>
            </a:extLst>
          </p:cNvPr>
          <p:cNvSpPr txBox="1"/>
          <p:nvPr/>
        </p:nvSpPr>
        <p:spPr>
          <a:xfrm>
            <a:off x="1740522" y="4481692"/>
            <a:ext cx="19891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>
                <a:solidFill>
                  <a:srgbClr val="7030A0"/>
                </a:solidFill>
              </a:rPr>
              <a:t>driver &amp; test tasks </a:t>
            </a:r>
            <a:r>
              <a:rPr lang="en-US" sz="1400" dirty="0"/>
              <a:t>(task)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DE92BA-D6DA-8B41-8918-22EA38868DDE}"/>
              </a:ext>
            </a:extLst>
          </p:cNvPr>
          <p:cNvSpPr txBox="1"/>
          <p:nvPr/>
        </p:nvSpPr>
        <p:spPr>
          <a:xfrm>
            <a:off x="4142605" y="2357713"/>
            <a:ext cx="21109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dynamic force field </a:t>
            </a:r>
            <a:r>
              <a:rPr lang="en-US" sz="1400" dirty="0"/>
              <a:t>(</a:t>
            </a:r>
            <a:r>
              <a:rPr lang="en-US" sz="1400" dirty="0" err="1"/>
              <a:t>sw</a:t>
            </a:r>
            <a:r>
              <a:rPr lang="en-US" sz="1400" dirty="0"/>
              <a:t>)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158FE01-D2F4-774B-9905-1506AE7279C1}"/>
              </a:ext>
            </a:extLst>
          </p:cNvPr>
          <p:cNvSpPr/>
          <p:nvPr/>
        </p:nvSpPr>
        <p:spPr>
          <a:xfrm>
            <a:off x="6214146" y="2359631"/>
            <a:ext cx="137011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in script </a:t>
            </a:r>
            <a:r>
              <a:rPr lang="en-US" sz="1400" dirty="0"/>
              <a:t>(</a:t>
            </a:r>
            <a:r>
              <a:rPr lang="en-US" sz="1400" dirty="0" err="1"/>
              <a:t>lmpin</a:t>
            </a:r>
            <a:r>
              <a:rPr lang="en-US" sz="1400" dirty="0"/>
              <a:t>) 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EDAFE5F-5580-F949-B920-81C0C801CF81}"/>
              </a:ext>
            </a:extLst>
          </p:cNvPr>
          <p:cNvSpPr/>
          <p:nvPr/>
        </p:nvSpPr>
        <p:spPr>
          <a:xfrm>
            <a:off x="8893557" y="2566623"/>
            <a:ext cx="282899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rgbClr val="00B0F0"/>
                </a:solidFill>
              </a:rPr>
              <a:t>conformer, molecule, structure</a:t>
            </a:r>
          </a:p>
          <a:p>
            <a:pPr algn="ctr"/>
            <a:r>
              <a:rPr lang="en-US" sz="1400" dirty="0"/>
              <a:t>(structure)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F43FE12-869C-4D43-8176-544EB6A436DE}"/>
              </a:ext>
            </a:extLst>
          </p:cNvPr>
          <p:cNvSpPr txBox="1"/>
          <p:nvPr/>
        </p:nvSpPr>
        <p:spPr>
          <a:xfrm>
            <a:off x="5069828" y="2777250"/>
            <a:ext cx="19741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atomic data (</a:t>
            </a:r>
            <a:r>
              <a:rPr lang="en-US" sz="1400" dirty="0" err="1"/>
              <a:t>lmpatomic</a:t>
            </a:r>
            <a:r>
              <a:rPr lang="en-US" sz="1400" dirty="0"/>
              <a:t>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5176A97-5D93-CA49-9066-128FE3AFC137}"/>
              </a:ext>
            </a:extLst>
          </p:cNvPr>
          <p:cNvSpPr txBox="1"/>
          <p:nvPr/>
        </p:nvSpPr>
        <p:spPr>
          <a:xfrm>
            <a:off x="5284052" y="3165411"/>
            <a:ext cx="15098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opls</a:t>
            </a:r>
            <a:r>
              <a:rPr lang="en-US" sz="1400" dirty="0"/>
              <a:t> data (</a:t>
            </a:r>
            <a:r>
              <a:rPr lang="en-US" sz="1400" dirty="0" err="1"/>
              <a:t>lmpfull</a:t>
            </a:r>
            <a:r>
              <a:rPr lang="en-US" sz="1400" dirty="0"/>
              <a:t>)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19A8994-EB34-D74C-9825-49AAF18A7B4E}"/>
              </a:ext>
            </a:extLst>
          </p:cNvPr>
          <p:cNvSpPr/>
          <p:nvPr/>
        </p:nvSpPr>
        <p:spPr>
          <a:xfrm>
            <a:off x="5087435" y="3575020"/>
            <a:ext cx="234743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conformer search (</a:t>
            </a:r>
            <a:r>
              <a:rPr lang="en-US" sz="1400" dirty="0" err="1"/>
              <a:t>structutils</a:t>
            </a:r>
            <a:r>
              <a:rPr lang="en-US" sz="1400" dirty="0"/>
              <a:t>)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4588F70-816D-6E4F-AE61-E6BE3EF59325}"/>
              </a:ext>
            </a:extLst>
          </p:cNvPr>
          <p:cNvSpPr/>
          <p:nvPr/>
        </p:nvSpPr>
        <p:spPr>
          <a:xfrm>
            <a:off x="7720528" y="2354934"/>
            <a:ext cx="171303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 err="1">
                <a:solidFill>
                  <a:srgbClr val="7030A0"/>
                </a:solidFill>
              </a:rPr>
              <a:t>lammps</a:t>
            </a:r>
            <a:r>
              <a:rPr lang="en-US" sz="1400" dirty="0">
                <a:solidFill>
                  <a:srgbClr val="7030A0"/>
                </a:solidFill>
              </a:rPr>
              <a:t> log </a:t>
            </a:r>
            <a:r>
              <a:rPr lang="en-US" sz="1400" dirty="0"/>
              <a:t>(</a:t>
            </a:r>
            <a:r>
              <a:rPr lang="en-US" sz="1400" dirty="0" err="1"/>
              <a:t>lmplog</a:t>
            </a:r>
            <a:r>
              <a:rPr lang="en-US" sz="1400" dirty="0"/>
              <a:t>)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B25AEC-0773-9546-9CFC-5B0D6060E669}"/>
              </a:ext>
            </a:extLst>
          </p:cNvPr>
          <p:cNvSpPr/>
          <p:nvPr/>
        </p:nvSpPr>
        <p:spPr>
          <a:xfrm>
            <a:off x="2659577" y="4020600"/>
            <a:ext cx="16149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log &amp; </a:t>
            </a:r>
            <a:r>
              <a:rPr lang="en-US" sz="1400" dirty="0" err="1"/>
              <a:t>traj</a:t>
            </a:r>
            <a:r>
              <a:rPr lang="en-US" sz="1400" dirty="0"/>
              <a:t> (analyzer)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782A8D-1BA6-C14E-B6E8-57794599F1C0}"/>
              </a:ext>
            </a:extLst>
          </p:cNvPr>
          <p:cNvSpPr/>
          <p:nvPr/>
        </p:nvSpPr>
        <p:spPr>
          <a:xfrm>
            <a:off x="3858823" y="4491595"/>
            <a:ext cx="11113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testing (test)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EBC53DC-51E5-6940-A03F-B00657BA81E2}"/>
              </a:ext>
            </a:extLst>
          </p:cNvPr>
          <p:cNvSpPr/>
          <p:nvPr/>
        </p:nvSpPr>
        <p:spPr>
          <a:xfrm>
            <a:off x="3590104" y="3579709"/>
            <a:ext cx="120924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distance (</a:t>
            </a:r>
            <a:r>
              <a:rPr lang="en-US" sz="1400" dirty="0" err="1"/>
              <a:t>dist</a:t>
            </a:r>
            <a:r>
              <a:rPr lang="en-US" sz="1400" dirty="0"/>
              <a:t>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64C8826-18D4-6F4B-95F0-08FE4B8A0ED6}"/>
              </a:ext>
            </a:extLst>
          </p:cNvPr>
          <p:cNvSpPr/>
          <p:nvPr/>
        </p:nvSpPr>
        <p:spPr>
          <a:xfrm>
            <a:off x="1708327" y="3578223"/>
            <a:ext cx="19168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visualization</a:t>
            </a:r>
            <a:r>
              <a:rPr lang="en-US" sz="1400" dirty="0"/>
              <a:t> (</a:t>
            </a:r>
            <a:r>
              <a:rPr lang="en-US" sz="1400" dirty="0" err="1"/>
              <a:t>molview</a:t>
            </a:r>
            <a:r>
              <a:rPr lang="en-US" sz="1400" dirty="0"/>
              <a:t>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AB23D3D-DDF3-1448-8F24-07CB2975A247}"/>
              </a:ext>
            </a:extLst>
          </p:cNvPr>
          <p:cNvSpPr/>
          <p:nvPr/>
        </p:nvSpPr>
        <p:spPr>
          <a:xfrm>
            <a:off x="2924278" y="3157935"/>
            <a:ext cx="195220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trajectory frame (frame)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C8CC3B-ABFF-B646-B73E-E44C9CB809B2}"/>
              </a:ext>
            </a:extLst>
          </p:cNvPr>
          <p:cNvSpPr/>
          <p:nvPr/>
        </p:nvSpPr>
        <p:spPr>
          <a:xfrm>
            <a:off x="1447031" y="3165410"/>
            <a:ext cx="133709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trajectory</a:t>
            </a:r>
            <a:r>
              <a:rPr lang="en-US" sz="1400" dirty="0"/>
              <a:t> (</a:t>
            </a:r>
            <a:r>
              <a:rPr lang="en-US" sz="1400" dirty="0" err="1"/>
              <a:t>traj</a:t>
            </a:r>
            <a:r>
              <a:rPr lang="en-US" sz="1400" dirty="0"/>
              <a:t>) 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337A186-DA32-CD4F-8337-DE2434F40C97}"/>
              </a:ext>
            </a:extLst>
          </p:cNvPr>
          <p:cNvSpPr/>
          <p:nvPr/>
        </p:nvSpPr>
        <p:spPr>
          <a:xfrm>
            <a:off x="10070536" y="1094839"/>
            <a:ext cx="1969479" cy="8112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ysClr val="windowText" lastClr="000000"/>
                </a:solidFill>
              </a:rPr>
              <a:t>periodic table (table)</a:t>
            </a:r>
          </a:p>
          <a:p>
            <a:r>
              <a:rPr lang="en-US" sz="1400" dirty="0" err="1">
                <a:solidFill>
                  <a:sysClr val="windowText" lastClr="000000"/>
                </a:solidFill>
              </a:rPr>
              <a:t>Stillinger</a:t>
            </a:r>
            <a:r>
              <a:rPr lang="en-US" sz="1400" dirty="0">
                <a:solidFill>
                  <a:sysClr val="windowText" lastClr="000000"/>
                </a:solidFill>
              </a:rPr>
              <a:t>-Weber (</a:t>
            </a:r>
            <a:r>
              <a:rPr lang="en-US" sz="1400" dirty="0" err="1">
                <a:solidFill>
                  <a:sysClr val="windowText" lastClr="000000"/>
                </a:solidFill>
              </a:rPr>
              <a:t>sw</a:t>
            </a:r>
            <a:r>
              <a:rPr lang="en-US" sz="1400" dirty="0">
                <a:solidFill>
                  <a:sysClr val="windowText" lastClr="000000"/>
                </a:solidFill>
              </a:rPr>
              <a:t>)</a:t>
            </a:r>
          </a:p>
          <a:p>
            <a:r>
              <a:rPr lang="en-US" sz="1400" dirty="0" err="1">
                <a:solidFill>
                  <a:sysClr val="windowText" lastClr="000000"/>
                </a:solidFill>
              </a:rPr>
              <a:t>lammps</a:t>
            </a:r>
            <a:r>
              <a:rPr lang="en-US" sz="1400" dirty="0">
                <a:solidFill>
                  <a:sysClr val="windowText" lastClr="000000"/>
                </a:solidFill>
              </a:rPr>
              <a:t> </a:t>
            </a:r>
            <a:r>
              <a:rPr lang="en-US" sz="1400" dirty="0" err="1">
                <a:solidFill>
                  <a:sysClr val="windowText" lastClr="000000"/>
                </a:solidFill>
              </a:rPr>
              <a:t>func</a:t>
            </a:r>
            <a:r>
              <a:rPr lang="en-US" sz="1400" dirty="0">
                <a:solidFill>
                  <a:sysClr val="windowText" lastClr="000000"/>
                </a:solidFill>
              </a:rPr>
              <a:t> (</a:t>
            </a:r>
            <a:r>
              <a:rPr lang="en-US" sz="1400" dirty="0" err="1">
                <a:solidFill>
                  <a:sysClr val="windowText" lastClr="000000"/>
                </a:solidFill>
              </a:rPr>
              <a:t>lmpfunc</a:t>
            </a:r>
            <a:r>
              <a:rPr lang="en-US" sz="1400" dirty="0">
                <a:solidFill>
                  <a:sysClr val="windowText" lastClr="000000"/>
                </a:solidFill>
              </a:rPr>
              <a:t>)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6748ECE-270E-7741-9D72-3BB8A63736B0}"/>
              </a:ext>
            </a:extLst>
          </p:cNvPr>
          <p:cNvSpPr txBox="1"/>
          <p:nvPr/>
        </p:nvSpPr>
        <p:spPr>
          <a:xfrm>
            <a:off x="153437" y="4467115"/>
            <a:ext cx="16284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>
                <a:solidFill>
                  <a:srgbClr val="7030A0"/>
                </a:solidFill>
              </a:rPr>
              <a:t>runner</a:t>
            </a:r>
            <a:r>
              <a:rPr lang="en-US" sz="1400" dirty="0"/>
              <a:t> (</a:t>
            </a:r>
            <a:r>
              <a:rPr lang="en-US" sz="1400" dirty="0" err="1"/>
              <a:t>jobcontrol</a:t>
            </a:r>
            <a:r>
              <a:rPr lang="en-US" sz="1400" dirty="0"/>
              <a:t>)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8AB71A3-57CF-1D45-9CCA-EFB994C70E67}"/>
              </a:ext>
            </a:extLst>
          </p:cNvPr>
          <p:cNvCxnSpPr/>
          <p:nvPr/>
        </p:nvCxnSpPr>
        <p:spPr>
          <a:xfrm>
            <a:off x="5841811" y="931593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1D9F721-0B72-3E46-8EED-118711A485B9}"/>
              </a:ext>
            </a:extLst>
          </p:cNvPr>
          <p:cNvCxnSpPr>
            <a:cxnSpLocks/>
          </p:cNvCxnSpPr>
          <p:nvPr/>
        </p:nvCxnSpPr>
        <p:spPr>
          <a:xfrm>
            <a:off x="9860044" y="1573308"/>
            <a:ext cx="182880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D36B4F0-0183-3B4D-B70D-73088FDE5A70}"/>
              </a:ext>
            </a:extLst>
          </p:cNvPr>
          <p:cNvCxnSpPr/>
          <p:nvPr/>
        </p:nvCxnSpPr>
        <p:spPr>
          <a:xfrm>
            <a:off x="1045805" y="1473657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AB4137E-1DD7-EA4E-B7AD-02D006C316DF}"/>
              </a:ext>
            </a:extLst>
          </p:cNvPr>
          <p:cNvSpPr txBox="1"/>
          <p:nvPr/>
        </p:nvSpPr>
        <p:spPr>
          <a:xfrm>
            <a:off x="2527302" y="818091"/>
            <a:ext cx="21076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system, constant, wrapper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ED0CD23-4707-FA4E-995E-AF0991EFB85F}"/>
              </a:ext>
            </a:extLst>
          </p:cNvPr>
          <p:cNvSpPr txBox="1"/>
          <p:nvPr/>
        </p:nvSpPr>
        <p:spPr>
          <a:xfrm>
            <a:off x="10062762" y="816605"/>
            <a:ext cx="13731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constant on disk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5973F5C-FC1D-AB4B-A98C-044B6F93D8C5}"/>
              </a:ext>
            </a:extLst>
          </p:cNvPr>
          <p:cNvSpPr txBox="1"/>
          <p:nvPr/>
        </p:nvSpPr>
        <p:spPr>
          <a:xfrm>
            <a:off x="5127350" y="456242"/>
            <a:ext cx="8418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initiation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833CBEE-E24F-F24B-9C4D-37CAD0D6CF9A}"/>
              </a:ext>
            </a:extLst>
          </p:cNvPr>
          <p:cNvCxnSpPr>
            <a:cxnSpLocks/>
          </p:cNvCxnSpPr>
          <p:nvPr/>
        </p:nvCxnSpPr>
        <p:spPr>
          <a:xfrm flipH="1">
            <a:off x="2313276" y="1573308"/>
            <a:ext cx="182880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DD0C13F0-D3A4-CD47-A654-E0155133A905}"/>
              </a:ext>
            </a:extLst>
          </p:cNvPr>
          <p:cNvSpPr txBox="1"/>
          <p:nvPr/>
        </p:nvSpPr>
        <p:spPr>
          <a:xfrm>
            <a:off x="171251" y="818091"/>
            <a:ext cx="8402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job &amp; log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CCD60C5C-C24A-9844-9DC8-B5CFADFFE361}"/>
              </a:ext>
            </a:extLst>
          </p:cNvPr>
          <p:cNvCxnSpPr>
            <a:cxnSpLocks/>
          </p:cNvCxnSpPr>
          <p:nvPr/>
        </p:nvCxnSpPr>
        <p:spPr>
          <a:xfrm>
            <a:off x="3836432" y="3041232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8C851904-F9E6-2748-92C8-13BDDE8DB243}"/>
              </a:ext>
            </a:extLst>
          </p:cNvPr>
          <p:cNvSpPr/>
          <p:nvPr/>
        </p:nvSpPr>
        <p:spPr>
          <a:xfrm>
            <a:off x="8390972" y="3175905"/>
            <a:ext cx="215052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lattice dynamics </a:t>
            </a:r>
            <a:r>
              <a:rPr lang="en-US" sz="1400" dirty="0"/>
              <a:t>(alamode)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71D8D36-EB67-8F42-AECC-6B662760226E}"/>
              </a:ext>
            </a:extLst>
          </p:cNvPr>
          <p:cNvSpPr/>
          <p:nvPr/>
        </p:nvSpPr>
        <p:spPr>
          <a:xfrm>
            <a:off x="10660262" y="4024033"/>
            <a:ext cx="137807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repeat unit (cru)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2645386-F15B-D048-9470-409A45A55201}"/>
              </a:ext>
            </a:extLst>
          </p:cNvPr>
          <p:cNvSpPr/>
          <p:nvPr/>
        </p:nvSpPr>
        <p:spPr>
          <a:xfrm>
            <a:off x="5122614" y="4023918"/>
            <a:ext cx="170591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polymer</a:t>
            </a:r>
            <a:r>
              <a:rPr lang="en-US" sz="1400" dirty="0"/>
              <a:t> (</a:t>
            </a:r>
            <a:r>
              <a:rPr lang="en-US" sz="1400" dirty="0" err="1"/>
              <a:t>polymutils</a:t>
            </a:r>
            <a:r>
              <a:rPr lang="en-US" sz="1400" dirty="0"/>
              <a:t>)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C5A555D-CC5E-A94E-8DED-F96EE7908FCC}"/>
              </a:ext>
            </a:extLst>
          </p:cNvPr>
          <p:cNvSpPr/>
          <p:nvPr/>
        </p:nvSpPr>
        <p:spPr>
          <a:xfrm>
            <a:off x="10631839" y="3175426"/>
            <a:ext cx="109498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crystal (</a:t>
            </a:r>
            <a:r>
              <a:rPr lang="en-US" sz="1400" dirty="0" err="1"/>
              <a:t>xtal</a:t>
            </a:r>
            <a:r>
              <a:rPr lang="en-US" sz="1400" dirty="0"/>
              <a:t>)</a:t>
            </a: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146CFAA4-0C05-6F4F-A216-DBF506C1174B}"/>
              </a:ext>
            </a:extLst>
          </p:cNvPr>
          <p:cNvCxnSpPr>
            <a:cxnSpLocks/>
          </p:cNvCxnSpPr>
          <p:nvPr/>
        </p:nvCxnSpPr>
        <p:spPr>
          <a:xfrm>
            <a:off x="11662157" y="2942403"/>
            <a:ext cx="0" cy="991954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6AA9D042-11A0-BF4D-955B-55123523712F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10961623" y="3028246"/>
            <a:ext cx="155044" cy="805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36E22CDD-7F14-F240-8AEC-5A0F6FCE377A}"/>
              </a:ext>
            </a:extLst>
          </p:cNvPr>
          <p:cNvCxnSpPr>
            <a:cxnSpLocks/>
          </p:cNvCxnSpPr>
          <p:nvPr/>
        </p:nvCxnSpPr>
        <p:spPr>
          <a:xfrm flipV="1">
            <a:off x="7022424" y="2943128"/>
            <a:ext cx="2779813" cy="1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2AA3572-565C-6C40-9D3B-DE1C4177CA76}"/>
              </a:ext>
            </a:extLst>
          </p:cNvPr>
          <p:cNvCxnSpPr>
            <a:cxnSpLocks/>
          </p:cNvCxnSpPr>
          <p:nvPr/>
        </p:nvCxnSpPr>
        <p:spPr>
          <a:xfrm>
            <a:off x="5753518" y="3100691"/>
            <a:ext cx="321401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5A05D77E-A355-3146-98AA-EB39F973CF88}"/>
              </a:ext>
            </a:extLst>
          </p:cNvPr>
          <p:cNvCxnSpPr>
            <a:cxnSpLocks/>
          </p:cNvCxnSpPr>
          <p:nvPr/>
        </p:nvCxnSpPr>
        <p:spPr>
          <a:xfrm flipH="1">
            <a:off x="8969945" y="3102867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D43FA48-BB25-224D-9B8D-633661FA25A1}"/>
              </a:ext>
            </a:extLst>
          </p:cNvPr>
          <p:cNvCxnSpPr>
            <a:cxnSpLocks/>
          </p:cNvCxnSpPr>
          <p:nvPr/>
        </p:nvCxnSpPr>
        <p:spPr>
          <a:xfrm flipH="1">
            <a:off x="5753519" y="3101445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C16593C9-BD3F-D54A-A77A-8F4F3F4611D1}"/>
              </a:ext>
            </a:extLst>
          </p:cNvPr>
          <p:cNvCxnSpPr>
            <a:cxnSpLocks/>
          </p:cNvCxnSpPr>
          <p:nvPr/>
        </p:nvCxnSpPr>
        <p:spPr>
          <a:xfrm>
            <a:off x="5753652" y="3037231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2EC41504-5090-4C48-9AF4-B7B0D8593D95}"/>
              </a:ext>
            </a:extLst>
          </p:cNvPr>
          <p:cNvCxnSpPr>
            <a:cxnSpLocks/>
          </p:cNvCxnSpPr>
          <p:nvPr/>
        </p:nvCxnSpPr>
        <p:spPr>
          <a:xfrm>
            <a:off x="5755449" y="3475537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9352CAF5-651F-5048-87BA-5A5066600BC1}"/>
              </a:ext>
            </a:extLst>
          </p:cNvPr>
          <p:cNvCxnSpPr>
            <a:cxnSpLocks/>
          </p:cNvCxnSpPr>
          <p:nvPr/>
        </p:nvCxnSpPr>
        <p:spPr>
          <a:xfrm flipV="1">
            <a:off x="8970478" y="3474609"/>
            <a:ext cx="0" cy="132163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F2407830-64F4-3845-AD18-1B548529DFF6}"/>
              </a:ext>
            </a:extLst>
          </p:cNvPr>
          <p:cNvCxnSpPr>
            <a:cxnSpLocks/>
          </p:cNvCxnSpPr>
          <p:nvPr/>
        </p:nvCxnSpPr>
        <p:spPr>
          <a:xfrm>
            <a:off x="5755449" y="3883629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9787EF4C-32B1-B643-AE34-843F0F40DB1F}"/>
              </a:ext>
            </a:extLst>
          </p:cNvPr>
          <p:cNvCxnSpPr>
            <a:cxnSpLocks/>
          </p:cNvCxnSpPr>
          <p:nvPr/>
        </p:nvCxnSpPr>
        <p:spPr>
          <a:xfrm flipH="1">
            <a:off x="11036224" y="2939830"/>
            <a:ext cx="614724" cy="31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99C8DB4-7E47-744F-8660-932C99156543}"/>
              </a:ext>
            </a:extLst>
          </p:cNvPr>
          <p:cNvCxnSpPr>
            <a:cxnSpLocks/>
          </p:cNvCxnSpPr>
          <p:nvPr/>
        </p:nvCxnSpPr>
        <p:spPr>
          <a:xfrm rot="10800000">
            <a:off x="11348792" y="2880521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4D483C18-1F8F-9244-9BBB-2BBCC614B764}"/>
              </a:ext>
            </a:extLst>
          </p:cNvPr>
          <p:cNvCxnSpPr>
            <a:cxnSpLocks/>
          </p:cNvCxnSpPr>
          <p:nvPr/>
        </p:nvCxnSpPr>
        <p:spPr>
          <a:xfrm flipH="1">
            <a:off x="4818056" y="2943926"/>
            <a:ext cx="182880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Rectangle 131">
            <a:extLst>
              <a:ext uri="{FF2B5EF4-FFF2-40B4-BE49-F238E27FC236}">
                <a16:creationId xmlns:a16="http://schemas.microsoft.com/office/drawing/2014/main" id="{487BFE3C-9842-D04B-ACB0-1F25B1741F54}"/>
              </a:ext>
            </a:extLst>
          </p:cNvPr>
          <p:cNvSpPr/>
          <p:nvPr/>
        </p:nvSpPr>
        <p:spPr>
          <a:xfrm>
            <a:off x="2927284" y="2792914"/>
            <a:ext cx="193764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periodic boundary </a:t>
            </a:r>
            <a:r>
              <a:rPr lang="en-US" sz="1400" dirty="0"/>
              <a:t>(</a:t>
            </a:r>
            <a:r>
              <a:rPr lang="en-US" sz="1400" dirty="0" err="1"/>
              <a:t>pbc</a:t>
            </a:r>
            <a:r>
              <a:rPr lang="en-US" sz="1400" dirty="0"/>
              <a:t>)</a:t>
            </a:r>
          </a:p>
        </p:txBody>
      </p: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316E2E05-1723-254B-A5C5-0A1EFB1AFB8E}"/>
              </a:ext>
            </a:extLst>
          </p:cNvPr>
          <p:cNvCxnSpPr>
            <a:cxnSpLocks/>
          </p:cNvCxnSpPr>
          <p:nvPr/>
        </p:nvCxnSpPr>
        <p:spPr>
          <a:xfrm flipH="1" flipV="1">
            <a:off x="4823805" y="3134868"/>
            <a:ext cx="227042" cy="441816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E4465616-3C0B-F84F-BD06-6726580183A5}"/>
              </a:ext>
            </a:extLst>
          </p:cNvPr>
          <p:cNvCxnSpPr>
            <a:cxnSpLocks/>
          </p:cNvCxnSpPr>
          <p:nvPr/>
        </p:nvCxnSpPr>
        <p:spPr>
          <a:xfrm>
            <a:off x="4818712" y="3734027"/>
            <a:ext cx="182880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D8B204B-0E5C-1345-AA7F-09FA32E45388}"/>
              </a:ext>
            </a:extLst>
          </p:cNvPr>
          <p:cNvCxnSpPr>
            <a:cxnSpLocks/>
          </p:cNvCxnSpPr>
          <p:nvPr/>
        </p:nvCxnSpPr>
        <p:spPr>
          <a:xfrm rot="5400000" flipH="1">
            <a:off x="2801503" y="3265697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BF5B6C6B-77BF-2D46-AF11-DD5A98A1BEE8}"/>
              </a:ext>
            </a:extLst>
          </p:cNvPr>
          <p:cNvCxnSpPr>
            <a:cxnSpLocks/>
          </p:cNvCxnSpPr>
          <p:nvPr/>
        </p:nvCxnSpPr>
        <p:spPr>
          <a:xfrm>
            <a:off x="3834352" y="3442802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863D30EC-75AE-DB48-A789-645529041543}"/>
              </a:ext>
            </a:extLst>
          </p:cNvPr>
          <p:cNvCxnSpPr>
            <a:cxnSpLocks/>
          </p:cNvCxnSpPr>
          <p:nvPr/>
        </p:nvCxnSpPr>
        <p:spPr>
          <a:xfrm flipV="1">
            <a:off x="2300222" y="3911209"/>
            <a:ext cx="1401022" cy="9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26D2F8B0-4622-0A4F-9A4B-F4E10C812CBE}"/>
              </a:ext>
            </a:extLst>
          </p:cNvPr>
          <p:cNvCxnSpPr>
            <a:cxnSpLocks/>
          </p:cNvCxnSpPr>
          <p:nvPr/>
        </p:nvCxnSpPr>
        <p:spPr>
          <a:xfrm>
            <a:off x="2297963" y="3847315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192103E0-538F-8740-ACCE-50AE8E86A307}"/>
              </a:ext>
            </a:extLst>
          </p:cNvPr>
          <p:cNvCxnSpPr>
            <a:cxnSpLocks/>
          </p:cNvCxnSpPr>
          <p:nvPr/>
        </p:nvCxnSpPr>
        <p:spPr>
          <a:xfrm>
            <a:off x="3694717" y="3848912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Arrow Connector 172">
            <a:extLst>
              <a:ext uri="{FF2B5EF4-FFF2-40B4-BE49-F238E27FC236}">
                <a16:creationId xmlns:a16="http://schemas.microsoft.com/office/drawing/2014/main" id="{2389CDCD-2A0F-7446-A057-6D7CD85E96D3}"/>
              </a:ext>
            </a:extLst>
          </p:cNvPr>
          <p:cNvCxnSpPr>
            <a:cxnSpLocks/>
          </p:cNvCxnSpPr>
          <p:nvPr/>
        </p:nvCxnSpPr>
        <p:spPr>
          <a:xfrm flipH="1">
            <a:off x="3033988" y="3919548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BBC04413-B122-424A-98CB-2738BDCD98A5}"/>
              </a:ext>
            </a:extLst>
          </p:cNvPr>
          <p:cNvCxnSpPr>
            <a:cxnSpLocks/>
          </p:cNvCxnSpPr>
          <p:nvPr/>
        </p:nvCxnSpPr>
        <p:spPr>
          <a:xfrm flipV="1">
            <a:off x="5733211" y="4429222"/>
            <a:ext cx="5911221" cy="529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8CEC2352-7ADD-084E-9201-68F2683BF456}"/>
              </a:ext>
            </a:extLst>
          </p:cNvPr>
          <p:cNvCxnSpPr>
            <a:cxnSpLocks/>
          </p:cNvCxnSpPr>
          <p:nvPr/>
        </p:nvCxnSpPr>
        <p:spPr>
          <a:xfrm rot="10800000" flipH="1">
            <a:off x="5738999" y="4324790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Arrow Connector 176">
            <a:extLst>
              <a:ext uri="{FF2B5EF4-FFF2-40B4-BE49-F238E27FC236}">
                <a16:creationId xmlns:a16="http://schemas.microsoft.com/office/drawing/2014/main" id="{804B306D-3C6C-E14D-ADC9-87222D1FE697}"/>
              </a:ext>
            </a:extLst>
          </p:cNvPr>
          <p:cNvCxnSpPr>
            <a:cxnSpLocks/>
          </p:cNvCxnSpPr>
          <p:nvPr/>
        </p:nvCxnSpPr>
        <p:spPr>
          <a:xfrm>
            <a:off x="11643384" y="4364964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76EDBEAF-BFA8-5E4F-ADCF-30ABEFD041B1}"/>
              </a:ext>
            </a:extLst>
          </p:cNvPr>
          <p:cNvCxnSpPr>
            <a:cxnSpLocks/>
          </p:cNvCxnSpPr>
          <p:nvPr/>
        </p:nvCxnSpPr>
        <p:spPr>
          <a:xfrm>
            <a:off x="5761335" y="2680813"/>
            <a:ext cx="0" cy="10998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FAF853E5-5DFC-924C-8AB5-A14F1AA0285D}"/>
              </a:ext>
            </a:extLst>
          </p:cNvPr>
          <p:cNvCxnSpPr>
            <a:cxnSpLocks/>
          </p:cNvCxnSpPr>
          <p:nvPr/>
        </p:nvCxnSpPr>
        <p:spPr>
          <a:xfrm>
            <a:off x="517759" y="3883629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DCFFB3B7-1DB0-A747-A172-6D7B9432BDEB}"/>
              </a:ext>
            </a:extLst>
          </p:cNvPr>
          <p:cNvCxnSpPr>
            <a:cxnSpLocks/>
          </p:cNvCxnSpPr>
          <p:nvPr/>
        </p:nvCxnSpPr>
        <p:spPr>
          <a:xfrm flipV="1">
            <a:off x="844068" y="4389097"/>
            <a:ext cx="218992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A6B2D0D5-9DBB-B44B-8060-FE0E318C9654}"/>
              </a:ext>
            </a:extLst>
          </p:cNvPr>
          <p:cNvCxnSpPr>
            <a:cxnSpLocks/>
          </p:cNvCxnSpPr>
          <p:nvPr/>
        </p:nvCxnSpPr>
        <p:spPr>
          <a:xfrm>
            <a:off x="846160" y="4325203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821CFDB8-D8BC-2746-97BD-5F5182703EA9}"/>
              </a:ext>
            </a:extLst>
          </p:cNvPr>
          <p:cNvCxnSpPr>
            <a:cxnSpLocks/>
          </p:cNvCxnSpPr>
          <p:nvPr/>
        </p:nvCxnSpPr>
        <p:spPr>
          <a:xfrm>
            <a:off x="3027461" y="4326800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FBC568E4-D3FE-944D-AADA-3D6387EE32E1}"/>
              </a:ext>
            </a:extLst>
          </p:cNvPr>
          <p:cNvCxnSpPr>
            <a:cxnSpLocks/>
          </p:cNvCxnSpPr>
          <p:nvPr/>
        </p:nvCxnSpPr>
        <p:spPr>
          <a:xfrm flipH="1">
            <a:off x="2366732" y="4397436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9776715-11C0-E04B-AE15-C76F468277A0}"/>
              </a:ext>
            </a:extLst>
          </p:cNvPr>
          <p:cNvCxnSpPr>
            <a:cxnSpLocks/>
          </p:cNvCxnSpPr>
          <p:nvPr/>
        </p:nvCxnSpPr>
        <p:spPr>
          <a:xfrm>
            <a:off x="517759" y="4327311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Right Brace 187">
            <a:extLst>
              <a:ext uri="{FF2B5EF4-FFF2-40B4-BE49-F238E27FC236}">
                <a16:creationId xmlns:a16="http://schemas.microsoft.com/office/drawing/2014/main" id="{2AD21062-89EE-8445-9785-95F254917562}"/>
              </a:ext>
            </a:extLst>
          </p:cNvPr>
          <p:cNvSpPr/>
          <p:nvPr/>
        </p:nvSpPr>
        <p:spPr>
          <a:xfrm rot="5400000">
            <a:off x="462597" y="3375271"/>
            <a:ext cx="109728" cy="384048"/>
          </a:xfrm>
          <a:prstGeom prst="rightBrac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94BA0BCE-13B0-3B49-9236-2762330307DA}"/>
              </a:ext>
            </a:extLst>
          </p:cNvPr>
          <p:cNvCxnSpPr>
            <a:cxnSpLocks/>
          </p:cNvCxnSpPr>
          <p:nvPr/>
        </p:nvCxnSpPr>
        <p:spPr>
          <a:xfrm rot="5400000" flipH="1">
            <a:off x="3768343" y="4584146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Rounded Rectangle 196">
            <a:extLst>
              <a:ext uri="{FF2B5EF4-FFF2-40B4-BE49-F238E27FC236}">
                <a16:creationId xmlns:a16="http://schemas.microsoft.com/office/drawing/2014/main" id="{01377981-1A99-AE48-A8D5-36EBF9D0EF53}"/>
              </a:ext>
            </a:extLst>
          </p:cNvPr>
          <p:cNvSpPr/>
          <p:nvPr/>
        </p:nvSpPr>
        <p:spPr>
          <a:xfrm>
            <a:off x="174533" y="1094839"/>
            <a:ext cx="2121299" cy="811220"/>
          </a:xfrm>
          <a:prstGeom prst="roundRect">
            <a:avLst>
              <a:gd name="adj" fmla="val 2103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job registration (</a:t>
            </a:r>
            <a:r>
              <a:rPr lang="en-US" sz="1400" dirty="0" err="1">
                <a:solidFill>
                  <a:schemeClr val="tx1"/>
                </a:solidFill>
              </a:rPr>
              <a:t>jobutils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ctr"/>
            <a:endParaRPr lang="en-US" sz="1400" dirty="0">
              <a:solidFill>
                <a:schemeClr val="tx1"/>
              </a:solidFill>
            </a:endParaRP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file logger  (</a:t>
            </a:r>
            <a:r>
              <a:rPr lang="en-US" sz="1400" dirty="0" err="1">
                <a:solidFill>
                  <a:schemeClr val="tx1"/>
                </a:solidFill>
              </a:rPr>
              <a:t>logutils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2E175DBF-3269-A648-A105-27E7E818773B}"/>
              </a:ext>
            </a:extLst>
          </p:cNvPr>
          <p:cNvSpPr/>
          <p:nvPr/>
        </p:nvSpPr>
        <p:spPr>
          <a:xfrm>
            <a:off x="168928" y="5052820"/>
            <a:ext cx="11860396" cy="544456"/>
          </a:xfrm>
          <a:prstGeom prst="roundRect">
            <a:avLst>
              <a:gd name="adj" fmla="val 36169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2" name="Rounded Rectangle 201">
            <a:extLst>
              <a:ext uri="{FF2B5EF4-FFF2-40B4-BE49-F238E27FC236}">
                <a16:creationId xmlns:a16="http://schemas.microsoft.com/office/drawing/2014/main" id="{2CE968C9-6FC5-1E4B-9762-7625B1E7D3F7}"/>
              </a:ext>
            </a:extLst>
          </p:cNvPr>
          <p:cNvSpPr/>
          <p:nvPr/>
        </p:nvSpPr>
        <p:spPr>
          <a:xfrm>
            <a:off x="168928" y="5812557"/>
            <a:ext cx="11860396" cy="521208"/>
          </a:xfrm>
          <a:prstGeom prst="roundRect">
            <a:avLst>
              <a:gd name="adj" fmla="val 3761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  amorphous builder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molecular dynamics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trajectory analysis (</a:t>
            </a:r>
            <a:r>
              <a:rPr lang="en-US" sz="1400" dirty="0" err="1">
                <a:solidFill>
                  <a:schemeClr val="tx1"/>
                </a:solidFill>
              </a:rPr>
              <a:t>ab_lmp_traj</a:t>
            </a:r>
            <a:r>
              <a:rPr lang="en-US" sz="1400" dirty="0">
                <a:solidFill>
                  <a:schemeClr val="tx1"/>
                </a:solidFill>
              </a:rPr>
              <a:t>)      crystal builder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</a:rPr>
              <a:t>molecular dynamics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</a:rPr>
              <a:t>log analysis (</a:t>
            </a:r>
            <a:r>
              <a:rPr lang="en-US" sz="1400" dirty="0" err="1">
                <a:solidFill>
                  <a:schemeClr val="tx1"/>
                </a:solidFill>
              </a:rPr>
              <a:t>cb_lmp_log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  molecule </a:t>
            </a:r>
            <a:r>
              <a:rPr lang="en-US" sz="1400" dirty="0" err="1">
                <a:solidFill>
                  <a:schemeClr val="tx1"/>
                </a:solidFill>
              </a:rPr>
              <a:t>builer</a:t>
            </a:r>
            <a:r>
              <a:rPr lang="en-US" sz="1400" dirty="0">
                <a:solidFill>
                  <a:schemeClr val="tx1"/>
                </a:solidFill>
              </a:rPr>
              <a:t>      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molecular dynamics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log analysis (</a:t>
            </a:r>
            <a:r>
              <a:rPr lang="en-US" sz="1400" dirty="0" err="1">
                <a:solidFill>
                  <a:schemeClr val="tx1"/>
                </a:solidFill>
              </a:rPr>
              <a:t>mb_lmp_log</a:t>
            </a:r>
            <a:r>
              <a:rPr lang="en-US" sz="1400" dirty="0">
                <a:solidFill>
                  <a:schemeClr val="tx1"/>
                </a:solidFill>
              </a:rPr>
              <a:t>)                  run command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check results             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update labels (</a:t>
            </a:r>
            <a:r>
              <a:rPr lang="en-US" sz="1400" dirty="0">
                <a:solidFill>
                  <a:schemeClr val="tx1"/>
                </a:solidFill>
              </a:rPr>
              <a:t>test)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509083AD-01D3-6C4F-BB35-B0596080E109}"/>
              </a:ext>
            </a:extLst>
          </p:cNvPr>
          <p:cNvSpPr txBox="1"/>
          <p:nvPr/>
        </p:nvSpPr>
        <p:spPr>
          <a:xfrm>
            <a:off x="167366" y="2023348"/>
            <a:ext cx="22728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application focused modules</a:t>
            </a: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9454E4D4-B96B-EC4C-866B-39A872CA4C49}"/>
              </a:ext>
            </a:extLst>
          </p:cNvPr>
          <p:cNvSpPr txBox="1"/>
          <p:nvPr/>
        </p:nvSpPr>
        <p:spPr>
          <a:xfrm>
            <a:off x="177582" y="5062172"/>
            <a:ext cx="118441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C000"/>
                </a:solidFill>
              </a:rPr>
              <a:t>    Builder          </a:t>
            </a:r>
            <a:r>
              <a:rPr lang="en-US" sz="1400" dirty="0"/>
              <a:t>:</a:t>
            </a:r>
            <a:r>
              <a:rPr lang="en-US" sz="1400" dirty="0">
                <a:solidFill>
                  <a:srgbClr val="FFC000"/>
                </a:solidFill>
              </a:rPr>
              <a:t>  </a:t>
            </a:r>
            <a:r>
              <a:rPr lang="en-US" sz="1400" dirty="0"/>
              <a:t>molecule (</a:t>
            </a:r>
            <a:r>
              <a:rPr lang="en-US" sz="1400" dirty="0" err="1"/>
              <a:t>mol_bldr</a:t>
            </a:r>
            <a:r>
              <a:rPr lang="en-US" sz="1400" dirty="0"/>
              <a:t>), amorphous (</a:t>
            </a:r>
            <a:r>
              <a:rPr lang="en-US" sz="1400" dirty="0" err="1"/>
              <a:t>amorp_bldr</a:t>
            </a:r>
            <a:r>
              <a:rPr lang="en-US" sz="1400" dirty="0"/>
              <a:t>), and crystal (</a:t>
            </a:r>
            <a:r>
              <a:rPr lang="en-US" sz="1400" dirty="0" err="1"/>
              <a:t>xtal_bldr</a:t>
            </a:r>
            <a:r>
              <a:rPr lang="en-US" sz="1400" dirty="0"/>
              <a:t>)                    </a:t>
            </a:r>
            <a:r>
              <a:rPr lang="en-US" sz="1400" dirty="0">
                <a:solidFill>
                  <a:srgbClr val="FFC000"/>
                </a:solidFill>
              </a:rPr>
              <a:t>Molecular Dynamics</a:t>
            </a:r>
            <a:r>
              <a:rPr lang="en-US" sz="1400" dirty="0"/>
              <a:t>: LAMMPS runner (</a:t>
            </a:r>
            <a:r>
              <a:rPr lang="en-US" sz="1400" dirty="0" err="1"/>
              <a:t>lammps</a:t>
            </a:r>
            <a:r>
              <a:rPr lang="en-US" sz="1400" dirty="0"/>
              <a:t>) </a:t>
            </a:r>
          </a:p>
          <a:p>
            <a:r>
              <a:rPr lang="en-US" sz="1400" dirty="0">
                <a:solidFill>
                  <a:srgbClr val="FFC000"/>
                </a:solidFill>
              </a:rPr>
              <a:t>    Solid Physics</a:t>
            </a:r>
            <a:r>
              <a:rPr lang="en-US" sz="1400" dirty="0"/>
              <a:t>:  reciprocal space (</a:t>
            </a:r>
            <a:r>
              <a:rPr lang="en-US" sz="1400" dirty="0" err="1"/>
              <a:t>recip_sp</a:t>
            </a:r>
            <a:r>
              <a:rPr lang="en-US" sz="1400" dirty="0"/>
              <a:t>), phonon dispersion (dispersion)                                        </a:t>
            </a:r>
            <a:r>
              <a:rPr lang="en-US" sz="1400" dirty="0">
                <a:solidFill>
                  <a:srgbClr val="FFC000"/>
                </a:solidFill>
              </a:rPr>
              <a:t>MD Post Analysis      </a:t>
            </a:r>
            <a:r>
              <a:rPr lang="en-US" sz="1400" dirty="0"/>
              <a:t>: log (</a:t>
            </a:r>
            <a:r>
              <a:rPr lang="en-US" sz="1400" dirty="0" err="1"/>
              <a:t>lmp_log</a:t>
            </a:r>
            <a:r>
              <a:rPr lang="en-US" sz="1400" dirty="0"/>
              <a:t>), trajectory (</a:t>
            </a:r>
            <a:r>
              <a:rPr lang="en-US" sz="1400" dirty="0" err="1"/>
              <a:t>lmp_traj</a:t>
            </a:r>
            <a:r>
              <a:rPr lang="en-US" sz="1400" dirty="0"/>
              <a:t>) </a:t>
            </a:r>
          </a:p>
        </p:txBody>
      </p: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188493AA-597F-2245-87B7-66A8DF2F8141}"/>
              </a:ext>
            </a:extLst>
          </p:cNvPr>
          <p:cNvCxnSpPr>
            <a:cxnSpLocks/>
          </p:cNvCxnSpPr>
          <p:nvPr/>
        </p:nvCxnSpPr>
        <p:spPr>
          <a:xfrm flipH="1">
            <a:off x="388458" y="2734629"/>
            <a:ext cx="320270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ounded Rectangle 220">
            <a:extLst>
              <a:ext uri="{FF2B5EF4-FFF2-40B4-BE49-F238E27FC236}">
                <a16:creationId xmlns:a16="http://schemas.microsoft.com/office/drawing/2014/main" id="{AC065B8D-6EE4-7242-B8A1-7CF52619B1D4}"/>
              </a:ext>
            </a:extLst>
          </p:cNvPr>
          <p:cNvSpPr/>
          <p:nvPr/>
        </p:nvSpPr>
        <p:spPr>
          <a:xfrm>
            <a:off x="177583" y="2298292"/>
            <a:ext cx="2349696" cy="899717"/>
          </a:xfrm>
          <a:prstGeom prst="roundRect">
            <a:avLst>
              <a:gd name="adj" fmla="val 18575"/>
            </a:avLst>
          </a:prstGeom>
          <a:noFill/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seeds in </a:t>
            </a:r>
            <a:r>
              <a:rPr lang="en-US" sz="1200" dirty="0">
                <a:solidFill>
                  <a:schemeClr val="accent5"/>
                </a:solidFill>
              </a:rPr>
              <a:t>light blue</a:t>
            </a:r>
          </a:p>
          <a:p>
            <a:r>
              <a:rPr lang="en-US" sz="1200" dirty="0">
                <a:solidFill>
                  <a:schemeClr val="tx1"/>
                </a:solidFill>
              </a:rPr>
              <a:t>              indicates dependence</a:t>
            </a:r>
          </a:p>
          <a:p>
            <a:r>
              <a:rPr lang="en-US" sz="1200" dirty="0">
                <a:solidFill>
                  <a:schemeClr val="tx1"/>
                </a:solidFill>
              </a:rPr>
              <a:t>(linear, branching, and merging)</a:t>
            </a:r>
          </a:p>
          <a:p>
            <a:r>
              <a:rPr lang="en-US" sz="1200" dirty="0">
                <a:solidFill>
                  <a:schemeClr val="tx1"/>
                </a:solidFill>
              </a:rPr>
              <a:t>centers and terminators in </a:t>
            </a:r>
            <a:r>
              <a:rPr lang="en-US" sz="1200" dirty="0">
                <a:solidFill>
                  <a:srgbClr val="7030A0"/>
                </a:solidFill>
              </a:rPr>
              <a:t>purple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8645B989-0AE6-8747-BC26-178C31EAAFD3}"/>
              </a:ext>
            </a:extLst>
          </p:cNvPr>
          <p:cNvSpPr/>
          <p:nvPr/>
        </p:nvSpPr>
        <p:spPr>
          <a:xfrm>
            <a:off x="8585339" y="3579975"/>
            <a:ext cx="168058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executable</a:t>
            </a:r>
            <a:r>
              <a:rPr lang="en-US" sz="1400" dirty="0"/>
              <a:t> (process)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0072D44-E63E-3A40-A103-85C34FE92124}"/>
              </a:ext>
            </a:extLst>
          </p:cNvPr>
          <p:cNvSpPr/>
          <p:nvPr/>
        </p:nvSpPr>
        <p:spPr>
          <a:xfrm>
            <a:off x="11353800" y="5056743"/>
            <a:ext cx="62703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b="1" dirty="0">
                <a:solidFill>
                  <a:srgbClr val="7030A0"/>
                </a:solidFill>
              </a:rPr>
              <a:t>driver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69B750B-F538-A346-9E74-66BA3FF4CE22}"/>
              </a:ext>
            </a:extLst>
          </p:cNvPr>
          <p:cNvSpPr/>
          <p:nvPr/>
        </p:nvSpPr>
        <p:spPr>
          <a:xfrm>
            <a:off x="11113616" y="5819324"/>
            <a:ext cx="89300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b="1" dirty="0">
                <a:solidFill>
                  <a:srgbClr val="7030A0"/>
                </a:solidFill>
              </a:rPr>
              <a:t>workflow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58E483-2560-6248-A99C-4FA39AA2FFC0}"/>
              </a:ext>
            </a:extLst>
          </p:cNvPr>
          <p:cNvSpPr/>
          <p:nvPr/>
        </p:nvSpPr>
        <p:spPr>
          <a:xfrm>
            <a:off x="10561609" y="281112"/>
            <a:ext cx="156324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</a:rPr>
              <a:t>module/</a:t>
            </a:r>
            <a:r>
              <a:rPr lang="en-US" b="1" dirty="0" err="1">
                <a:solidFill>
                  <a:srgbClr val="7030A0"/>
                </a:solidFill>
              </a:rPr>
              <a:t>nemd</a:t>
            </a:r>
            <a:endParaRPr lang="en-US" b="1" dirty="0">
              <a:solidFill>
                <a:srgbClr val="7030A0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D6BA2C4-480D-39D7-BEAA-99FFCBF58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7</a:t>
            </a:fld>
            <a:endParaRPr lang="en-US" dirty="0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06A8EA30-F965-B30B-AF61-C30FFF446AD8}"/>
              </a:ext>
            </a:extLst>
          </p:cNvPr>
          <p:cNvSpPr/>
          <p:nvPr/>
        </p:nvSpPr>
        <p:spPr>
          <a:xfrm>
            <a:off x="2522886" y="1095770"/>
            <a:ext cx="7318721" cy="805747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4" rtlCol="0" anchor="ctr"/>
          <a:lstStyle/>
          <a:p>
            <a:r>
              <a:rPr lang="en-US" sz="1400" dirty="0" err="1">
                <a:solidFill>
                  <a:schemeClr val="tx1"/>
                </a:solidFill>
              </a:rPr>
              <a:t>builtins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builtinsutils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system (</a:t>
            </a:r>
            <a:r>
              <a:rPr lang="en-US" sz="1400" dirty="0" err="1">
                <a:solidFill>
                  <a:schemeClr val="tx1"/>
                </a:solidFill>
              </a:rPr>
              <a:t>osutils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process (</a:t>
            </a:r>
            <a:r>
              <a:rPr lang="en-US" sz="1400" dirty="0" err="1">
                <a:solidFill>
                  <a:schemeClr val="tx1"/>
                </a:solidFill>
              </a:rPr>
              <a:t>psutils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time (</a:t>
            </a:r>
            <a:r>
              <a:rPr lang="en-US" sz="1400" dirty="0" err="1">
                <a:solidFill>
                  <a:schemeClr val="tx1"/>
                </a:solidFill>
              </a:rPr>
              <a:t>timeutils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environment (</a:t>
            </a:r>
            <a:r>
              <a:rPr lang="en-US" sz="1400" dirty="0" err="1">
                <a:solidFill>
                  <a:schemeClr val="tx1"/>
                </a:solidFill>
              </a:rPr>
              <a:t>envutils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constants (constants)</a:t>
            </a:r>
          </a:p>
          <a:p>
            <a:r>
              <a:rPr lang="en-US" sz="1400" dirty="0">
                <a:solidFill>
                  <a:schemeClr val="tx1"/>
                </a:solidFill>
              </a:rPr>
              <a:t>hardcoded (symbols)</a:t>
            </a:r>
          </a:p>
          <a:p>
            <a:r>
              <a:rPr lang="en-US" sz="1400" dirty="0" err="1">
                <a:solidFill>
                  <a:schemeClr val="tx1"/>
                </a:solidFill>
              </a:rPr>
              <a:t>numpy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numpyutils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 err="1">
                <a:solidFill>
                  <a:schemeClr val="tx1"/>
                </a:solidFill>
              </a:rPr>
              <a:t>numba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numbautils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 err="1">
                <a:solidFill>
                  <a:schemeClr val="tx1"/>
                </a:solidFill>
              </a:rPr>
              <a:t>rdkit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rdkitutils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points (geometry)</a:t>
            </a:r>
          </a:p>
          <a:p>
            <a:r>
              <a:rPr lang="en-US" sz="1400" dirty="0">
                <a:solidFill>
                  <a:schemeClr val="tx1"/>
                </a:solidFill>
              </a:rPr>
              <a:t>matplotlib (</a:t>
            </a:r>
            <a:r>
              <a:rPr lang="en-US" sz="1400" dirty="0" err="1">
                <a:solidFill>
                  <a:schemeClr val="tx1"/>
                </a:solidFill>
              </a:rPr>
              <a:t>plotutils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E35E9EB-CECE-0C13-FEBA-5B9120FA4B47}"/>
              </a:ext>
            </a:extLst>
          </p:cNvPr>
          <p:cNvSpPr/>
          <p:nvPr/>
        </p:nvSpPr>
        <p:spPr>
          <a:xfrm>
            <a:off x="5128787" y="4491442"/>
            <a:ext cx="11673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check (check)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C4228E6F-5DA8-39DA-7A39-4FE60A50F28E}"/>
              </a:ext>
            </a:extLst>
          </p:cNvPr>
          <p:cNvCxnSpPr>
            <a:cxnSpLocks/>
          </p:cNvCxnSpPr>
          <p:nvPr/>
        </p:nvCxnSpPr>
        <p:spPr>
          <a:xfrm rot="5400000" flipH="1">
            <a:off x="5098877" y="4595030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A7587610-3CA1-C347-80B6-9027455CC19A}"/>
              </a:ext>
            </a:extLst>
          </p:cNvPr>
          <p:cNvSpPr/>
          <p:nvPr/>
        </p:nvSpPr>
        <p:spPr>
          <a:xfrm>
            <a:off x="177582" y="2289477"/>
            <a:ext cx="11860396" cy="2525972"/>
          </a:xfrm>
          <a:prstGeom prst="roundRect">
            <a:avLst>
              <a:gd name="adj" fmla="val 6997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942C55-FDA0-8FD1-FDFA-42C5E8A60CDB}"/>
              </a:ext>
            </a:extLst>
          </p:cNvPr>
          <p:cNvCxnSpPr>
            <a:cxnSpLocks/>
          </p:cNvCxnSpPr>
          <p:nvPr/>
        </p:nvCxnSpPr>
        <p:spPr>
          <a:xfrm>
            <a:off x="7572802" y="2510949"/>
            <a:ext cx="150422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AA14FECF-B262-A4D6-7A52-2EC0E71A70C7}"/>
              </a:ext>
            </a:extLst>
          </p:cNvPr>
          <p:cNvCxnSpPr>
            <a:cxnSpLocks/>
          </p:cNvCxnSpPr>
          <p:nvPr/>
        </p:nvCxnSpPr>
        <p:spPr>
          <a:xfrm flipV="1">
            <a:off x="5107967" y="2679623"/>
            <a:ext cx="1401022" cy="9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BF1135A-49DB-43A7-1097-2185A561C68F}"/>
              </a:ext>
            </a:extLst>
          </p:cNvPr>
          <p:cNvCxnSpPr>
            <a:cxnSpLocks/>
          </p:cNvCxnSpPr>
          <p:nvPr/>
        </p:nvCxnSpPr>
        <p:spPr>
          <a:xfrm>
            <a:off x="5111494" y="2615729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6CA2648C-C1AC-D5E0-5CAB-B309CAC4DF3D}"/>
              </a:ext>
            </a:extLst>
          </p:cNvPr>
          <p:cNvCxnSpPr>
            <a:cxnSpLocks/>
          </p:cNvCxnSpPr>
          <p:nvPr/>
        </p:nvCxnSpPr>
        <p:spPr>
          <a:xfrm>
            <a:off x="6508248" y="2617326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83F9C1E3-D35B-9A1D-D341-F75B46512ADE}"/>
              </a:ext>
            </a:extLst>
          </p:cNvPr>
          <p:cNvCxnSpPr>
            <a:cxnSpLocks/>
          </p:cNvCxnSpPr>
          <p:nvPr/>
        </p:nvCxnSpPr>
        <p:spPr>
          <a:xfrm rot="5400000" flipH="1">
            <a:off x="10570353" y="3267951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089F3599-5F63-4826-A4D3-00BAEEF5F2DA}"/>
              </a:ext>
            </a:extLst>
          </p:cNvPr>
          <p:cNvSpPr txBox="1"/>
          <p:nvPr/>
        </p:nvSpPr>
        <p:spPr>
          <a:xfrm>
            <a:off x="7138589" y="3176770"/>
            <a:ext cx="13613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00B0F0"/>
                </a:solidFill>
              </a:rPr>
              <a:t>type &amp; assign</a:t>
            </a:r>
          </a:p>
          <a:p>
            <a:pPr algn="ctr"/>
            <a:r>
              <a:rPr lang="en-US" sz="1400" dirty="0"/>
              <a:t>(</a:t>
            </a:r>
            <a:r>
              <a:rPr lang="en-US" sz="1400" dirty="0" err="1"/>
              <a:t>oplsua</a:t>
            </a:r>
            <a:r>
              <a:rPr lang="en-US" sz="1400" dirty="0"/>
              <a:t>)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C5BA1D52-21BC-87F4-16EA-CFFF96D321E4}"/>
              </a:ext>
            </a:extLst>
          </p:cNvPr>
          <p:cNvCxnSpPr>
            <a:cxnSpLocks/>
          </p:cNvCxnSpPr>
          <p:nvPr/>
        </p:nvCxnSpPr>
        <p:spPr>
          <a:xfrm flipH="1">
            <a:off x="6793889" y="3320262"/>
            <a:ext cx="347266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42603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449F4-3DDE-4B4C-842B-03C52EF72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4025"/>
          </a:xfrm>
        </p:spPr>
        <p:txBody>
          <a:bodyPr numCol="1"/>
          <a:lstStyle/>
          <a:p>
            <a:r>
              <a:rPr lang="en-US" dirty="0"/>
              <a:t>Environmental Configuration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A4C6832-51B5-864C-A5B6-0C3040F3C4AC}"/>
              </a:ext>
            </a:extLst>
          </p:cNvPr>
          <p:cNvSpPr/>
          <p:nvPr/>
        </p:nvSpPr>
        <p:spPr>
          <a:xfrm>
            <a:off x="429485" y="1963691"/>
            <a:ext cx="11206992" cy="4524315"/>
          </a:xfrm>
          <a:prstGeom prst="rect">
            <a:avLst/>
          </a:prstGeom>
        </p:spPr>
        <p:txBody>
          <a:bodyPr wrap="square" numCol="2">
            <a:spAutoFit/>
          </a:bodyPr>
          <a:lstStyle/>
          <a:p>
            <a:r>
              <a:rPr lang="en-US" sz="1200" dirty="0"/>
              <a:t># /bin/</a:t>
            </a:r>
            <a:r>
              <a:rPr lang="en-US" sz="1200" dirty="0" err="1"/>
              <a:t>sh</a:t>
            </a:r>
            <a:br>
              <a:rPr lang="en-US" sz="1200" dirty="0"/>
            </a:br>
            <a:r>
              <a:rPr lang="en-US" sz="1200" dirty="0"/>
              <a:t>: '</a:t>
            </a:r>
            <a:br>
              <a:rPr lang="en-US" sz="1200" dirty="0"/>
            </a:br>
            <a:r>
              <a:rPr lang="en-US" sz="1200" dirty="0"/>
              <a:t>Set up the environment for the module, </a:t>
            </a:r>
            <a:r>
              <a:rPr lang="en-US" sz="1200" dirty="0" err="1"/>
              <a:t>sh</a:t>
            </a:r>
            <a:r>
              <a:rPr lang="en-US" sz="1200" dirty="0"/>
              <a:t>, driver, workflow, and submodule directories.</a:t>
            </a:r>
            <a:br>
              <a:rPr lang="en-US" sz="1200" dirty="0"/>
            </a:br>
            <a:br>
              <a:rPr lang="en-US" sz="1200" dirty="0"/>
            </a:br>
            <a:r>
              <a:rPr lang="en-US" sz="1200" dirty="0"/>
              <a:t>Usage:</a:t>
            </a:r>
            <a:br>
              <a:rPr lang="en-US" sz="1200" dirty="0"/>
            </a:br>
            <a:r>
              <a:rPr lang="en-US" sz="1200" dirty="0"/>
              <a:t>  . </a:t>
            </a:r>
            <a:r>
              <a:rPr lang="en-US" sz="1200" dirty="0" err="1"/>
              <a:t>premake</a:t>
            </a:r>
            <a:br>
              <a:rPr lang="en-US" sz="1200" dirty="0"/>
            </a:br>
            <a:r>
              <a:rPr lang="en-US" sz="1200" dirty="0"/>
              <a:t>  source </a:t>
            </a:r>
            <a:r>
              <a:rPr lang="en-US" sz="1200" dirty="0" err="1"/>
              <a:t>premake</a:t>
            </a:r>
            <a:br>
              <a:rPr lang="en-US" sz="1200" dirty="0"/>
            </a:br>
            <a:r>
              <a:rPr lang="en-US" sz="1200" dirty="0"/>
              <a:t>‘</a:t>
            </a:r>
          </a:p>
          <a:p>
            <a:br>
              <a:rPr lang="en-US" sz="1200" dirty="0"/>
            </a:br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Shell Type and Root Directory</a:t>
            </a:r>
            <a:br>
              <a:rPr lang="en-US" sz="1200" dirty="0"/>
            </a:br>
            <a:r>
              <a:rPr lang="en-US" sz="1200" dirty="0"/>
              <a:t>if [ $(</a:t>
            </a:r>
            <a:r>
              <a:rPr lang="en-US" sz="1200" dirty="0" err="1"/>
              <a:t>basename</a:t>
            </a:r>
            <a:r>
              <a:rPr lang="en-US" sz="1200" dirty="0"/>
              <a:t> $0) = '</a:t>
            </a:r>
            <a:r>
              <a:rPr lang="en-US" sz="1200" dirty="0" err="1"/>
              <a:t>premake</a:t>
            </a:r>
            <a:r>
              <a:rPr lang="en-US" sz="1200" dirty="0"/>
              <a:t>' ]</a:t>
            </a:r>
            <a:br>
              <a:rPr lang="en-US" sz="1200" dirty="0"/>
            </a:br>
            <a:r>
              <a:rPr lang="en-US" sz="1200" dirty="0"/>
              <a:t>then</a:t>
            </a:r>
            <a:br>
              <a:rPr lang="en-US" sz="1200" dirty="0"/>
            </a:br>
            <a:r>
              <a:rPr lang="en-US" sz="1200" dirty="0"/>
              <a:t>  NEMD_SRC="$0" &amp;&amp; echo "</a:t>
            </a:r>
            <a:r>
              <a:rPr lang="en-US" sz="1200" dirty="0" err="1"/>
              <a:t>zsh</a:t>
            </a:r>
            <a:r>
              <a:rPr lang="en-US" sz="1200" dirty="0"/>
              <a:t>"</a:t>
            </a:r>
            <a:br>
              <a:rPr lang="en-US" sz="1200" dirty="0"/>
            </a:br>
            <a:r>
              <a:rPr lang="en-US" sz="1200" dirty="0" err="1"/>
              <a:t>elif</a:t>
            </a:r>
            <a:r>
              <a:rPr lang="en-US" sz="1200" dirty="0"/>
              <a:t> [ $BASH_SOURCE ]</a:t>
            </a:r>
            <a:br>
              <a:rPr lang="en-US" sz="1200" dirty="0"/>
            </a:br>
            <a:r>
              <a:rPr lang="en-US" sz="1200" dirty="0"/>
              <a:t>  then</a:t>
            </a:r>
            <a:br>
              <a:rPr lang="en-US" sz="1200" dirty="0"/>
            </a:br>
            <a:r>
              <a:rPr lang="en-US" sz="1200" dirty="0"/>
              <a:t>  NEMD_SRC=${BASH_SOURCE[0]} &amp;&amp; echo "POSIX"</a:t>
            </a:r>
            <a:br>
              <a:rPr lang="en-US" sz="1200" dirty="0"/>
            </a:br>
            <a:r>
              <a:rPr lang="en-US" sz="1200" dirty="0"/>
              <a:t>else</a:t>
            </a:r>
            <a:br>
              <a:rPr lang="en-US" sz="1200" dirty="0"/>
            </a:br>
            <a:r>
              <a:rPr lang="en-US" sz="1200" dirty="0"/>
              <a:t>  x="$(</a:t>
            </a:r>
            <a:r>
              <a:rPr lang="en-US" sz="1200" dirty="0" err="1"/>
              <a:t>lsof</a:t>
            </a:r>
            <a:r>
              <a:rPr lang="en-US" sz="1200" dirty="0"/>
              <a:t> -p $$ -Fn0 | tail -1 | tr -d "\0")" &amp;&amp; NEMD_SRC=${x#*n} &amp;&amp; echo "dash"</a:t>
            </a:r>
            <a:br>
              <a:rPr lang="en-US" sz="1200" dirty="0"/>
            </a:br>
            <a:r>
              <a:rPr lang="en-US" sz="1200" dirty="0"/>
              <a:t>fi</a:t>
            </a:r>
            <a:br>
              <a:rPr lang="en-US" sz="1200" dirty="0"/>
            </a:br>
            <a:r>
              <a:rPr lang="en-US" sz="1200" dirty="0"/>
              <a:t>[ ! -f $NEMD_SRC ] &amp;&amp; echo "Cannot locate the source root" &amp;&amp; return</a:t>
            </a:r>
            <a:br>
              <a:rPr lang="en-US" sz="1200" dirty="0"/>
            </a:br>
            <a:r>
              <a:rPr lang="en-US" sz="1200" dirty="0"/>
              <a:t>NEMD_SRC="$(</a:t>
            </a:r>
            <a:r>
              <a:rPr lang="en-US" sz="1200" dirty="0" err="1"/>
              <a:t>readlink</a:t>
            </a:r>
            <a:r>
              <a:rPr lang="en-US" sz="1200" dirty="0"/>
              <a:t> -f ${NEMD_SRC} | </a:t>
            </a:r>
            <a:r>
              <a:rPr lang="en-US" sz="1200" dirty="0" err="1"/>
              <a:t>xargs</a:t>
            </a:r>
            <a:r>
              <a:rPr lang="en-US" sz="1200" dirty="0"/>
              <a:t> </a:t>
            </a:r>
            <a:r>
              <a:rPr lang="en-US" sz="1200" dirty="0" err="1"/>
              <a:t>dirname</a:t>
            </a:r>
            <a:r>
              <a:rPr lang="en-US" sz="1200" dirty="0"/>
              <a:t>)" &amp;&amp; echo $NEMD_SRC</a:t>
            </a:r>
            <a:br>
              <a:rPr lang="en-US" sz="1200" dirty="0"/>
            </a:br>
            <a:endParaRPr lang="en-US" sz="1200" dirty="0"/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/>
          </a:p>
          <a:p>
            <a:endParaRPr lang="en-US" sz="1200" dirty="0"/>
          </a:p>
          <a:p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Searchable Module: NEMD, LAMMPS, and ALAMODE</a:t>
            </a:r>
            <a:br>
              <a:rPr lang="en-US" sz="1200" dirty="0"/>
            </a:br>
            <a:r>
              <a:rPr lang="en-US" sz="1200" dirty="0" err="1"/>
              <a:t>add_pypath</a:t>
            </a:r>
            <a:r>
              <a:rPr lang="en-US" sz="1200" dirty="0"/>
              <a:t>() {</a:t>
            </a:r>
            <a:br>
              <a:rPr lang="en-US" sz="1200" dirty="0"/>
            </a:br>
            <a:r>
              <a:rPr lang="en-US" sz="1200" dirty="0"/>
              <a:t>  [ -d "$1" ] &amp;&amp; echo $PYTHONPATH | grep -q "$1" &amp;&amp; return</a:t>
            </a:r>
            <a:br>
              <a:rPr lang="en-US" sz="1200" dirty="0"/>
            </a:br>
            <a:r>
              <a:rPr lang="en-US" sz="1200" dirty="0"/>
              <a:t>  export PYTHONPATH="$1${PYTHONPATH:+":$PYTHONPATH"}"</a:t>
            </a:r>
            <a:br>
              <a:rPr lang="en-US" sz="1200" dirty="0"/>
            </a:br>
            <a:r>
              <a:rPr lang="en-US" sz="1200" dirty="0"/>
              <a:t>  }</a:t>
            </a:r>
            <a:br>
              <a:rPr lang="en-US" sz="1200" dirty="0"/>
            </a:br>
            <a:r>
              <a:rPr lang="en-US" sz="1200" dirty="0" err="1"/>
              <a:t>add_pypath</a:t>
            </a:r>
            <a:r>
              <a:rPr lang="en-US" sz="1200" dirty="0"/>
              <a:t> $NEMD_SRC/module</a:t>
            </a:r>
          </a:p>
          <a:p>
            <a:endParaRPr lang="en-US" sz="1200" dirty="0"/>
          </a:p>
          <a:p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Searchable Script: Shell, Workflow, Driver, and Submodule</a:t>
            </a:r>
            <a:br>
              <a:rPr lang="en-US" sz="1200" dirty="0"/>
            </a:br>
            <a:r>
              <a:rPr lang="en-US" sz="1200" dirty="0"/>
              <a:t>path() {</a:t>
            </a:r>
          </a:p>
          <a:p>
            <a:r>
              <a:rPr lang="en-US" sz="1200" dirty="0"/>
              <a:t>  [ -d "$1" ] &amp;&amp; echo $PATH | grep -q "$1”  || export PATH="$1${PATH:+":$PATH"}”</a:t>
            </a:r>
          </a:p>
          <a:p>
            <a:r>
              <a:rPr lang="en-US" sz="1200" dirty="0"/>
              <a:t>}</a:t>
            </a:r>
            <a:br>
              <a:rPr lang="en-US" sz="1200" dirty="0">
                <a:solidFill>
                  <a:srgbClr val="BCBEC4"/>
                </a:solidFill>
                <a:effectLst/>
              </a:rPr>
            </a:br>
            <a:r>
              <a:rPr lang="en-US" sz="1200" dirty="0" err="1"/>
              <a:t>add_path</a:t>
            </a:r>
            <a:r>
              <a:rPr lang="en-US" sz="1200" dirty="0"/>
              <a:t> $NEMD_SRC/</a:t>
            </a:r>
            <a:r>
              <a:rPr lang="en-US" sz="1200" dirty="0" err="1"/>
              <a:t>sh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$NEMD_SRC/driver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$NEMD_SRC/workflow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$NEMD_SRC/module/alamode/alamode/tools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A906C4-08E1-5E4D-8799-D5E0343C01EC}"/>
              </a:ext>
            </a:extLst>
          </p:cNvPr>
          <p:cNvSpPr/>
          <p:nvPr/>
        </p:nvSpPr>
        <p:spPr>
          <a:xfrm>
            <a:off x="391943" y="1326363"/>
            <a:ext cx="858904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/>
              <a:t>source </a:t>
            </a:r>
            <a:r>
              <a:rPr lang="en-US" i="1" dirty="0" err="1"/>
              <a:t>premake</a:t>
            </a:r>
            <a:r>
              <a:rPr lang="en-US" dirty="0"/>
              <a:t> sets the environment in which source code instead of installation is used.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60B5E4-2BCF-9370-AE1C-FF1FE561A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6719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7CC5E-1BED-C24D-BC13-D096C522B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126673" cy="1325563"/>
          </a:xfrm>
        </p:spPr>
        <p:txBody>
          <a:bodyPr/>
          <a:lstStyle/>
          <a:p>
            <a:r>
              <a:rPr lang="en-US" dirty="0"/>
              <a:t>Testing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74C8347-FFFA-AD4D-840F-167C914D09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1743795"/>
              </p:ext>
            </p:extLst>
          </p:nvPr>
        </p:nvGraphicFramePr>
        <p:xfrm>
          <a:off x="714893" y="1591570"/>
          <a:ext cx="10753965" cy="476402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54136">
                  <a:extLst>
                    <a:ext uri="{9D8B030D-6E8A-4147-A177-3AD203B41FA5}">
                      <a16:colId xmlns:a16="http://schemas.microsoft.com/office/drawing/2014/main" val="140681280"/>
                    </a:ext>
                  </a:extLst>
                </a:gridCol>
                <a:gridCol w="2111828">
                  <a:extLst>
                    <a:ext uri="{9D8B030D-6E8A-4147-A177-3AD203B41FA5}">
                      <a16:colId xmlns:a16="http://schemas.microsoft.com/office/drawing/2014/main" val="819792391"/>
                    </a:ext>
                  </a:extLst>
                </a:gridCol>
                <a:gridCol w="6788001">
                  <a:extLst>
                    <a:ext uri="{9D8B030D-6E8A-4147-A177-3AD203B41FA5}">
                      <a16:colId xmlns:a16="http://schemas.microsoft.com/office/drawing/2014/main" val="3388334755"/>
                    </a:ext>
                  </a:extLst>
                </a:gridCol>
              </a:tblGrid>
              <a:tr h="548783"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Command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Location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Description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61390173"/>
                  </a:ext>
                </a:extLst>
              </a:tr>
              <a:tr h="823174"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source </a:t>
                      </a:r>
                      <a:r>
                        <a:rPr lang="en-US" dirty="0" err="1"/>
                        <a:t>premake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premake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Environmental configuration allows additional utilities, strongly recommended when opening a new shell.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5471136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 err="1"/>
                        <a:t>nemd_test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test/unit/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Unit testing </a:t>
                      </a:r>
                      <a:r>
                        <a:rPr lang="en-US" sz="1800" dirty="0"/>
                        <a:t>makes sure that functions and methods are operating as expected.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0259124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nemd_itest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test/integration/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kern="1200" dirty="0">
                          <a:solidFill>
                            <a:schemeClr val="accent6"/>
                          </a:solidFill>
                          <a:effectLst/>
                        </a:rPr>
                        <a:t>Integration testing</a:t>
                      </a:r>
                      <a:r>
                        <a:rPr lang="en-US" sz="1800" kern="1200" dirty="0">
                          <a:effectLst/>
                        </a:rPr>
                        <a:t> </a:t>
                      </a:r>
                      <a:r>
                        <a:rPr lang="en-US" sz="1800" dirty="0"/>
                        <a:t>makes sure that scripts run without tracebacks and yield reproducible results.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8220872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nemd_ptest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test/performance/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>
                          <a:solidFill>
                            <a:schemeClr val="accent1"/>
                          </a:solidFill>
                        </a:rPr>
                        <a:t>Performance testing 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evaluates the speed, responsiveness and stability for bottleneck identification and nullification.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65586714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nemd_stest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test/scientific/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kern="1200" dirty="0">
                          <a:solidFill>
                            <a:schemeClr val="accent2"/>
                          </a:solidFill>
                          <a:latin typeface="+mn-lt"/>
                          <a:ea typeface="+mn-ea"/>
                          <a:cs typeface="+mn-cs"/>
                        </a:rPr>
                        <a:t>Scientific testing </a:t>
                      </a:r>
                      <a:r>
                        <a:rPr lang="en-US" sz="1800" dirty="0"/>
                        <a:t>ensures the repeatability, correctness and 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accuracy of the </a:t>
                      </a:r>
                      <a:r>
                        <a:rPr lang="en-US" sz="1800" dirty="0"/>
                        <a:t>scientific outputs.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0715119"/>
                  </a:ext>
                </a:extLst>
              </a:tr>
            </a:tbl>
          </a:graphicData>
        </a:graphic>
      </p:graphicFrame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0015E66D-2C0C-9840-AA50-A15CDE3BAF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86976504"/>
              </p:ext>
            </p:extLst>
          </p:nvPr>
        </p:nvGraphicFramePr>
        <p:xfrm>
          <a:off x="8977745" y="183788"/>
          <a:ext cx="2438928" cy="182050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9" name="Rectangle 18">
            <a:extLst>
              <a:ext uri="{FF2B5EF4-FFF2-40B4-BE49-F238E27FC236}">
                <a16:creationId xmlns:a16="http://schemas.microsoft.com/office/drawing/2014/main" id="{9CDA6099-73EB-5144-AB28-D91820C35B89}"/>
              </a:ext>
            </a:extLst>
          </p:cNvPr>
          <p:cNvSpPr/>
          <p:nvPr/>
        </p:nvSpPr>
        <p:spPr>
          <a:xfrm>
            <a:off x="9724536" y="1084119"/>
            <a:ext cx="982289" cy="4893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200" dirty="0"/>
              <a:t>Bug-free</a:t>
            </a:r>
          </a:p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200" dirty="0">
                <a:solidFill>
                  <a:schemeClr val="accent4"/>
                </a:solidFill>
              </a:rPr>
              <a:t>unit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47BE624-C351-E947-A83D-174C1415950F}"/>
              </a:ext>
            </a:extLst>
          </p:cNvPr>
          <p:cNvSpPr/>
          <p:nvPr/>
        </p:nvSpPr>
        <p:spPr>
          <a:xfrm>
            <a:off x="2881745" y="569325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US" i="1" dirty="0"/>
              <a:t>source </a:t>
            </a:r>
            <a:r>
              <a:rPr lang="en-US" i="1" dirty="0" err="1"/>
              <a:t>premake</a:t>
            </a:r>
            <a:r>
              <a:rPr lang="en-US" dirty="0"/>
              <a:t> before running tests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563404A-649A-19FA-498E-450E07A3F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858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5081"/>
            <a:ext cx="4298004" cy="1325563"/>
          </a:xfrm>
        </p:spPr>
        <p:txBody>
          <a:bodyPr/>
          <a:lstStyle/>
          <a:p>
            <a:r>
              <a:rPr lang="en-US" dirty="0"/>
              <a:t>Integration Test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D2B87E6-6F62-754F-B76D-621DDC49B4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1743047"/>
              </p:ext>
            </p:extLst>
          </p:nvPr>
        </p:nvGraphicFramePr>
        <p:xfrm>
          <a:off x="6845438" y="431766"/>
          <a:ext cx="4841736" cy="152705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812662">
                  <a:extLst>
                    <a:ext uri="{9D8B030D-6E8A-4147-A177-3AD203B41FA5}">
                      <a16:colId xmlns:a16="http://schemas.microsoft.com/office/drawing/2014/main" val="1700155147"/>
                    </a:ext>
                  </a:extLst>
                </a:gridCol>
                <a:gridCol w="4029074">
                  <a:extLst>
                    <a:ext uri="{9D8B030D-6E8A-4147-A177-3AD203B41FA5}">
                      <a16:colId xmlns:a16="http://schemas.microsoft.com/office/drawing/2014/main" val="4090573760"/>
                    </a:ext>
                  </a:extLst>
                </a:gridCol>
              </a:tblGrid>
              <a:tr h="30541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file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708201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 err="1">
                          <a:effectLst/>
                        </a:rPr>
                        <a:t>cmd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effectLst/>
                        </a:rPr>
                        <a:t>Shell commands to run drivers and workflows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4436560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</a:rPr>
                        <a:t>check</a:t>
                      </a:r>
                      <a:endParaRPr lang="en-US" sz="1400" kern="1200" dirty="0">
                        <a:solidFill>
                          <a:schemeClr val="accent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Shell syntax </a:t>
                      </a:r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</a:rPr>
                        <a:t>to check the results against expectations</a:t>
                      </a:r>
                      <a:endParaRPr lang="en-US" sz="1400" kern="1200" dirty="0">
                        <a:solidFill>
                          <a:schemeClr val="accent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567960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tag</a:t>
                      </a:r>
                      <a:endParaRPr lang="en-US" sz="1400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Tag the execution (e.g., name, cost)</a:t>
                      </a:r>
                      <a:endParaRPr lang="en-US" sz="1400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1257283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Parametrize one command into multiple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2718043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1FD4C4C-D4CF-5C43-82EA-6B4469CA35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0268348"/>
              </p:ext>
            </p:extLst>
          </p:nvPr>
        </p:nvGraphicFramePr>
        <p:xfrm>
          <a:off x="6845438" y="2078219"/>
          <a:ext cx="4841735" cy="213360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41262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3800473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304365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Supported in check file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shell syntax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echo, [ -f file ], &amp;&amp;, ||, ( grep pattern file ),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exist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The existence of files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glob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The match number by pattern expansion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9999943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in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Specific string in files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0698211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 err="1">
                          <a:effectLst/>
                        </a:rPr>
                        <a:t>cmp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Content comparison of multiples files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5061091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collect_log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Collect information from log files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3583919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6607B0D-9816-0842-8455-A2FFD625CB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1512327"/>
              </p:ext>
            </p:extLst>
          </p:nvPr>
        </p:nvGraphicFramePr>
        <p:xfrm>
          <a:off x="6845440" y="4334400"/>
          <a:ext cx="4841734" cy="1006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5549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3786185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350845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Supported keys in tag file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415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label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script name of driver or workflow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35084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slow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time cost on execution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</a:tbl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0B77A13E-679A-C04C-9081-AA8837EE12E7}"/>
              </a:ext>
            </a:extLst>
          </p:cNvPr>
          <p:cNvSpPr/>
          <p:nvPr/>
        </p:nvSpPr>
        <p:spPr>
          <a:xfrm>
            <a:off x="682915" y="1281054"/>
            <a:ext cx="5847585" cy="51244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500" i="1" dirty="0" err="1"/>
              <a:t>nemd_itest</a:t>
            </a:r>
            <a:r>
              <a:rPr lang="en-US" sz="1500" dirty="0"/>
              <a:t> runs examples in </a:t>
            </a:r>
            <a:r>
              <a:rPr lang="en-US" sz="1500" dirty="0">
                <a:solidFill>
                  <a:schemeClr val="dk1"/>
                </a:solidFill>
              </a:rPr>
              <a:t>test/integration</a:t>
            </a:r>
          </a:p>
          <a:p>
            <a:pPr algn="just"/>
            <a:endParaRPr lang="en-US" sz="1500" dirty="0">
              <a:solidFill>
                <a:schemeClr val="dk1"/>
              </a:solidFill>
            </a:endParaRPr>
          </a:p>
          <a:p>
            <a:pPr algn="just"/>
            <a:r>
              <a:rPr lang="en-US" sz="1500" dirty="0">
                <a:solidFill>
                  <a:schemeClr val="dk1"/>
                </a:solidFill>
              </a:rPr>
              <a:t>Each test contains one </a:t>
            </a:r>
            <a:r>
              <a:rPr lang="en-US" sz="1500" dirty="0" err="1">
                <a:solidFill>
                  <a:schemeClr val="dk1"/>
                </a:solidFill>
              </a:rPr>
              <a:t>cmd</a:t>
            </a:r>
            <a:r>
              <a:rPr lang="en-US" sz="1500" dirty="0">
                <a:solidFill>
                  <a:schemeClr val="dk1"/>
                </a:solidFill>
              </a:rPr>
              <a:t> file, one check file, and one optional tag file. The four-digit </a:t>
            </a:r>
            <a:r>
              <a:rPr lang="en-US" sz="1500" dirty="0" err="1">
                <a:solidFill>
                  <a:schemeClr val="dk1"/>
                </a:solidFill>
              </a:rPr>
              <a:t>dirname</a:t>
            </a:r>
            <a:r>
              <a:rPr lang="en-US" sz="1500" dirty="0">
                <a:solidFill>
                  <a:schemeClr val="dk1"/>
                </a:solidFill>
              </a:rPr>
              <a:t> is the test id.</a:t>
            </a:r>
          </a:p>
          <a:p>
            <a:endParaRPr lang="en-US" sz="1500" dirty="0"/>
          </a:p>
          <a:p>
            <a:r>
              <a:rPr lang="en-US" sz="1400" i="1" dirty="0"/>
              <a:t>cd test/integration/0049; head </a:t>
            </a:r>
            <a:r>
              <a:rPr lang="en-US" sz="1400" i="1" dirty="0" err="1"/>
              <a:t>cmd</a:t>
            </a:r>
            <a:r>
              <a:rPr lang="en-US" sz="1400" i="1" dirty="0"/>
              <a:t> check tag param</a:t>
            </a:r>
          </a:p>
          <a:p>
            <a:endParaRPr lang="en-US" sz="1400" dirty="0"/>
          </a:p>
          <a:p>
            <a:r>
              <a:rPr lang="en-US" sz="1400" i="1" dirty="0"/>
              <a:t>==&gt; </a:t>
            </a:r>
            <a:r>
              <a:rPr lang="en-US" sz="1400" i="1" dirty="0" err="1"/>
              <a:t>cmd</a:t>
            </a:r>
            <a:r>
              <a:rPr lang="en-US" sz="1400" i="1" dirty="0"/>
              <a:t> &lt;==</a:t>
            </a:r>
          </a:p>
          <a:p>
            <a:r>
              <a:rPr lang="en-US" sz="1400" i="1" dirty="0"/>
              <a:t># Performance: [</a:t>
            </a:r>
            <a:r>
              <a:rPr lang="en-US" sz="1400" i="1" dirty="0" err="1"/>
              <a:t>Ar</a:t>
            </a:r>
            <a:r>
              <a:rPr lang="en-US" sz="1400" i="1" dirty="0"/>
              <a:t>] Amorphous Builder</a:t>
            </a:r>
          </a:p>
          <a:p>
            <a:r>
              <a:rPr lang="en-US" sz="1400" i="1" dirty="0" err="1"/>
              <a:t>nemd_run</a:t>
            </a:r>
            <a:r>
              <a:rPr lang="en-US" sz="1400" i="1" dirty="0"/>
              <a:t> </a:t>
            </a:r>
            <a:r>
              <a:rPr lang="en-US" sz="1400" i="1" dirty="0" err="1"/>
              <a:t>amorp_bldr_driver.py</a:t>
            </a:r>
            <a:r>
              <a:rPr lang="en-US" sz="1400" i="1" dirty="0"/>
              <a:t> [</a:t>
            </a:r>
            <a:r>
              <a:rPr lang="en-US" sz="1400" i="1" dirty="0" err="1"/>
              <a:t>Ar</a:t>
            </a:r>
            <a:r>
              <a:rPr lang="en-US" sz="1400" i="1" dirty="0"/>
              <a:t>] -method grid -</a:t>
            </a:r>
            <a:r>
              <a:rPr lang="en-US" sz="1400" i="1" dirty="0" err="1"/>
              <a:t>mol_num</a:t>
            </a:r>
            <a:r>
              <a:rPr lang="en-US" sz="1400" i="1" dirty="0"/>
              <a:t> $param -seed 1</a:t>
            </a:r>
          </a:p>
          <a:p>
            <a:endParaRPr lang="en-US" sz="1400" i="1" dirty="0"/>
          </a:p>
          <a:p>
            <a:r>
              <a:rPr lang="en-US" sz="1400" i="1" dirty="0"/>
              <a:t>==&gt; check &lt;==</a:t>
            </a:r>
          </a:p>
          <a:p>
            <a:r>
              <a:rPr lang="en-US" sz="1400" i="1" dirty="0" err="1"/>
              <a:t>collect_log</a:t>
            </a:r>
            <a:r>
              <a:rPr lang="en-US" sz="1400" i="1" dirty="0"/>
              <a:t>(</a:t>
            </a:r>
            <a:r>
              <a:rPr lang="en-US" sz="1400" i="1" dirty="0" err="1"/>
              <a:t>time,memory</a:t>
            </a:r>
            <a:r>
              <a:rPr lang="en-US" sz="1400" i="1" dirty="0"/>
              <a:t>) &amp;&amp; exist(0049.csv, 0049_time_memory.png)</a:t>
            </a:r>
          </a:p>
          <a:p>
            <a:endParaRPr lang="en-US" sz="1400" i="1" dirty="0"/>
          </a:p>
          <a:p>
            <a:r>
              <a:rPr lang="en-US" sz="1400" i="1" dirty="0"/>
              <a:t>==&gt; tag &lt;==</a:t>
            </a:r>
          </a:p>
          <a:p>
            <a:r>
              <a:rPr lang="en-US" sz="1400" i="1" dirty="0"/>
              <a:t>label(</a:t>
            </a:r>
            <a:r>
              <a:rPr lang="en-US" sz="1400" i="1" dirty="0" err="1"/>
              <a:t>amorp_bldr,wa</a:t>
            </a:r>
            <a:r>
              <a:rPr lang="en-US" sz="1400" i="1" dirty="0"/>
              <a:t>)</a:t>
            </a:r>
          </a:p>
          <a:p>
            <a:r>
              <a:rPr lang="en-US" sz="1400" i="1" dirty="0"/>
              <a:t>slow(100, 00:00:01)</a:t>
            </a:r>
          </a:p>
          <a:p>
            <a:r>
              <a:rPr lang="en-US" sz="1400" i="1" dirty="0"/>
              <a:t>slow(50000, 00:00:04)</a:t>
            </a:r>
          </a:p>
          <a:p>
            <a:endParaRPr lang="en-US" sz="1400" i="1" dirty="0"/>
          </a:p>
          <a:p>
            <a:r>
              <a:rPr lang="en-US" sz="1400" i="1" dirty="0"/>
              <a:t>==&gt; param &lt;==</a:t>
            </a:r>
          </a:p>
          <a:p>
            <a:r>
              <a:rPr lang="en-US" sz="1400" i="1" dirty="0"/>
              <a:t># Number of Molecules</a:t>
            </a:r>
          </a:p>
          <a:p>
            <a:r>
              <a:rPr lang="en-US" sz="1400" i="1" dirty="0"/>
              <a:t>100</a:t>
            </a:r>
          </a:p>
          <a:p>
            <a:r>
              <a:rPr lang="en-US" sz="1400" i="1" dirty="0"/>
              <a:t>50000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8208E74-6968-1DAB-A24A-74B381B34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10</a:t>
            </a:fld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44E2AD1-5186-F2C1-2AF8-715D405196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8985189"/>
              </p:ext>
            </p:extLst>
          </p:nvPr>
        </p:nvGraphicFramePr>
        <p:xfrm>
          <a:off x="6845439" y="5469752"/>
          <a:ext cx="4841734" cy="923543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67019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3874715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309342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Tag file format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4859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comment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The str after # symbol is the label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309342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parameter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i="1" dirty="0"/>
                        <a:t>Replace the $param in </a:t>
                      </a:r>
                      <a:r>
                        <a:rPr lang="en-US" sz="1400" i="1" dirty="0" err="1"/>
                        <a:t>cmd</a:t>
                      </a:r>
                      <a:r>
                        <a:rPr lang="en-US" sz="1400" i="1" dirty="0"/>
                        <a:t> 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to generate command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221913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0AB48-4D0B-7282-1FF0-0E7F73043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3CF70-0072-42F8-CA2A-26EFF1100D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65081"/>
            <a:ext cx="7052734" cy="1325563"/>
          </a:xfrm>
        </p:spPr>
        <p:txBody>
          <a:bodyPr/>
          <a:lstStyle/>
          <a:p>
            <a:r>
              <a:rPr lang="en-US" dirty="0" err="1"/>
              <a:t>test_workflow.py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529FC4E-A5C6-5829-9B82-9B625439D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11</a:t>
            </a:fld>
            <a:endParaRPr lang="en-US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FDE4EC0-08D4-966E-FA72-011021835E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2890042"/>
              </p:ext>
            </p:extLst>
          </p:nvPr>
        </p:nvGraphicFramePr>
        <p:xfrm>
          <a:off x="956732" y="1236133"/>
          <a:ext cx="10397067" cy="512022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4238243">
                  <a:extLst>
                    <a:ext uri="{9D8B030D-6E8A-4147-A177-3AD203B41FA5}">
                      <a16:colId xmlns:a16="http://schemas.microsoft.com/office/drawing/2014/main" val="746965002"/>
                    </a:ext>
                  </a:extLst>
                </a:gridCol>
                <a:gridCol w="6158824">
                  <a:extLst>
                    <a:ext uri="{9D8B030D-6E8A-4147-A177-3AD203B41FA5}">
                      <a16:colId xmlns:a16="http://schemas.microsoft.com/office/drawing/2014/main" val="295673291"/>
                    </a:ext>
                  </a:extLst>
                </a:gridCol>
              </a:tblGrid>
              <a:tr h="37250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effectLst/>
                        </a:rPr>
                        <a:t>Supported arguments</a:t>
                      </a:r>
                      <a:endParaRPr lang="en-US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5691384"/>
                  </a:ext>
                </a:extLst>
              </a:tr>
              <a:tr h="74501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-name {</a:t>
                      </a:r>
                      <a:r>
                        <a:rPr lang="en-US" sz="1400" kern="1200" dirty="0" err="1">
                          <a:solidFill>
                            <a:schemeClr val="accent6"/>
                          </a:solidFill>
                          <a:effectLst/>
                        </a:rPr>
                        <a:t>integration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,</a:t>
                      </a:r>
                      <a:r>
                        <a:rPr lang="en-US" sz="1400" kern="1200" dirty="0" err="1">
                          <a:solidFill>
                            <a:schemeClr val="accent1"/>
                          </a:solidFill>
                          <a:effectLst/>
                        </a:rPr>
                        <a:t>performance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,</a:t>
                      </a:r>
                      <a:r>
                        <a:rPr lang="en-US" sz="1400" kern="1200" dirty="0" err="1">
                          <a:solidFill>
                            <a:schemeClr val="accent2"/>
                          </a:solidFill>
                          <a:effectLst/>
                        </a:rPr>
                        <a:t>scientific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</a:rPr>
                        <a:t>integration: reproducible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performance: resource efficient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</a:rPr>
                        <a:t>scientific: physical meaningful</a:t>
                      </a:r>
                      <a:endParaRPr lang="en-US" sz="1400" kern="1200" dirty="0">
                        <a:solidFill>
                          <a:schemeClr val="accent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7890681"/>
                  </a:ext>
                </a:extLst>
              </a:tr>
              <a:tr h="31042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dir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DIR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Search test(s) under this directory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4991860"/>
                  </a:ext>
                </a:extLst>
              </a:tr>
              <a:tr h="31042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ID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Select the tests according to these ids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0858068"/>
                  </a:ext>
                </a:extLst>
              </a:tr>
              <a:tr h="37162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-slow SECOND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Skip (sub)tests marked with time longer than this criteria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2525047"/>
                  </a:ext>
                </a:extLst>
              </a:tr>
              <a:tr h="31042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-label LABEL [LABEL ...]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Select the tests marked with the given labels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447737"/>
                  </a:ext>
                </a:extLst>
              </a:tr>
              <a:tr h="7450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-task 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cmd,check,tag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cmd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: run the commands in the 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cmd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file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check: check &amp; collect the results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tag: update the tag file (e.g., time, name)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7666738"/>
                  </a:ext>
                </a:extLst>
              </a:tr>
              <a:tr h="5277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jtype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task,aggregator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task: runs tasks and register files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aggregator: collect results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8033399"/>
                  </a:ext>
                </a:extLst>
              </a:tr>
              <a:tr h="5277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cpu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CPU [CPU ...]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Total number of CPUs [the CPUs for one task]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Each task uses 1 CPU If one-task CPUs not provided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8141949"/>
                  </a:ext>
                </a:extLst>
              </a:tr>
              <a:tr h="37162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-screen 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tqdm,progress,job,off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Print the serialization 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tqdm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, parallelization progress, and job details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0231954"/>
                  </a:ext>
                </a:extLst>
              </a:tr>
              <a:tr h="5277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-DEBUG [{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on,off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}]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on: enable debug mode for the workflow and sub-jobs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off: disable the mode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2845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97957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931D7-45C9-A74A-92AA-A7925BC286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4443" y="312023"/>
            <a:ext cx="6024664" cy="6324866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en-US" sz="4100" dirty="0"/>
              <a:t>Builder</a:t>
            </a:r>
            <a:endParaRPr lang="en-US" sz="4100" i="1" dirty="0"/>
          </a:p>
          <a:p>
            <a:pPr marL="0" indent="0" algn="just">
              <a:buNone/>
            </a:pPr>
            <a:endParaRPr lang="en-US" sz="1500" i="1" dirty="0"/>
          </a:p>
          <a:p>
            <a:pPr marL="0" indent="0" algn="just">
              <a:buNone/>
            </a:pPr>
            <a:r>
              <a:rPr lang="en-US" sz="1500" i="1" dirty="0" err="1"/>
              <a:t>amorp_bldr_driver.py</a:t>
            </a:r>
            <a:r>
              <a:rPr lang="en-US" sz="1500" dirty="0"/>
              <a:t> builds polymers from constitutional repeat units, and packs molecules as an amorphous cell.</a:t>
            </a:r>
          </a:p>
          <a:p>
            <a:pPr marL="342900" indent="-342900">
              <a:buSzPct val="100000"/>
              <a:buFont typeface="Arial" panose="020B0604020202020204" pitchFamily="34" charset="0"/>
              <a:buAutoNum type="arabicParenR"/>
            </a:pPr>
            <a:r>
              <a:rPr lang="en-US" sz="1300" dirty="0"/>
              <a:t>-method grid: grid the space and put molecules into sub-cells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-method pack: randomly rotate and translate molecules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-method grow: grow molecules from the smallest rigid fragments</a:t>
            </a:r>
          </a:p>
          <a:p>
            <a:pPr marL="0" indent="0">
              <a:buNone/>
            </a:pPr>
            <a:endParaRPr lang="en-US" sz="1000" i="1" dirty="0"/>
          </a:p>
          <a:p>
            <a:pPr marL="0" indent="0">
              <a:buNone/>
            </a:pPr>
            <a:r>
              <a:rPr lang="en-US" sz="1500" dirty="0" err="1"/>
              <a:t>mol_bldr_driver.py</a:t>
            </a:r>
            <a:r>
              <a:rPr lang="en-US" sz="1500" dirty="0"/>
              <a:t> builds single polymer or molecule via the grid method</a:t>
            </a:r>
            <a:r>
              <a:rPr lang="en-US" sz="1500" i="1" dirty="0"/>
              <a:t>.</a:t>
            </a:r>
            <a:endParaRPr lang="en-US" sz="1500" dirty="0"/>
          </a:p>
          <a:p>
            <a:pPr marL="342900" indent="-342900">
              <a:buFont typeface="+mj-lt"/>
              <a:buAutoNum type="arabicParenR"/>
            </a:pPr>
            <a:r>
              <a:rPr lang="en-US" sz="1300" dirty="0"/>
              <a:t>-</a:t>
            </a:r>
            <a:r>
              <a:rPr lang="en-US" sz="1300" dirty="0" err="1"/>
              <a:t>substruct</a:t>
            </a:r>
            <a:r>
              <a:rPr lang="en-US" sz="1300" dirty="0"/>
              <a:t> SMILES (VALUE): set or measure the substructure geometry</a:t>
            </a:r>
          </a:p>
          <a:p>
            <a:pPr marL="342900" indent="-342900">
              <a:buFont typeface="+mj-lt"/>
              <a:buAutoNum type="arabicParenR"/>
            </a:pPr>
            <a:endParaRPr lang="en-US" sz="1000" dirty="0"/>
          </a:p>
          <a:p>
            <a:pPr marL="0" indent="0" algn="just">
              <a:buNone/>
            </a:pPr>
            <a:r>
              <a:rPr lang="en-US" sz="1500" i="1" dirty="0" err="1"/>
              <a:t>xtal_bldr_driver.py</a:t>
            </a:r>
            <a:r>
              <a:rPr lang="en-US" sz="1500" i="1" dirty="0"/>
              <a:t> </a:t>
            </a:r>
            <a:r>
              <a:rPr lang="en-US" sz="1500" dirty="0"/>
              <a:t>generates crystal supercell with scalable lattice vectors.</a:t>
            </a:r>
          </a:p>
          <a:p>
            <a:pPr marL="342900" indent="-342900">
              <a:buAutoNum type="arabicParenR"/>
            </a:pPr>
            <a:r>
              <a:rPr lang="en-US" sz="1300" dirty="0"/>
              <a:t>-name Si: diamond cubic structure (space group 227)</a:t>
            </a:r>
          </a:p>
          <a:p>
            <a:pPr marL="342900" indent="-342900">
              <a:buAutoNum type="arabicParenR"/>
            </a:pPr>
            <a:r>
              <a:rPr lang="en-US" sz="1300" dirty="0"/>
              <a:t>-dimension [DIMENSION ...] : duplicate by these factors to generate the supercell</a:t>
            </a:r>
          </a:p>
          <a:p>
            <a:pPr marL="342900" indent="-342900">
              <a:buAutoNum type="arabicParenR"/>
            </a:pPr>
            <a:r>
              <a:rPr lang="en-US" sz="1300" dirty="0"/>
              <a:t>-</a:t>
            </a:r>
            <a:r>
              <a:rPr lang="en-US" sz="1300" dirty="0" err="1"/>
              <a:t>force_field</a:t>
            </a:r>
            <a:r>
              <a:rPr lang="en-US" sz="1300" dirty="0"/>
              <a:t> SW: (w style computes a 3-body </a:t>
            </a:r>
            <a:r>
              <a:rPr lang="en-US" sz="13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Stillinger-Weber</a:t>
            </a:r>
            <a:r>
              <a:rPr lang="en-US" sz="1300" dirty="0"/>
              <a:t> potential)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500" dirty="0"/>
              <a:t>Integration test</a:t>
            </a:r>
          </a:p>
          <a:p>
            <a:pPr marL="342900" indent="-342900">
              <a:buAutoNum type="arabicParenR"/>
            </a:pPr>
            <a:r>
              <a:rPr lang="en-US" sz="1300" dirty="0"/>
              <a:t>single molecule or polymer (with part of the geometry set or measured)</a:t>
            </a:r>
          </a:p>
          <a:p>
            <a:pPr marL="342900" indent="-342900">
              <a:buAutoNum type="arabicParenR"/>
            </a:pPr>
            <a:r>
              <a:rPr lang="en-US" sz="1300" dirty="0"/>
              <a:t>multiple molecules and (or) polymers at target or reduced densities</a:t>
            </a:r>
          </a:p>
          <a:p>
            <a:pPr marL="342900" indent="-342900">
              <a:buAutoNum type="arabicParenR"/>
            </a:pPr>
            <a:r>
              <a:rPr lang="en-US" sz="1300" dirty="0"/>
              <a:t>various structures and long polymers</a:t>
            </a:r>
          </a:p>
          <a:p>
            <a:pPr marL="342900" indent="-342900">
              <a:buAutoNum type="arabicParenR"/>
            </a:pPr>
            <a:r>
              <a:rPr lang="en-US" sz="1300" dirty="0"/>
              <a:t>Crystal structure with scaled lattice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C1D83D3-035A-084E-AE46-1D65A74479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6640308"/>
              </p:ext>
            </p:extLst>
          </p:nvPr>
        </p:nvGraphicFramePr>
        <p:xfrm>
          <a:off x="6257428" y="312022"/>
          <a:ext cx="5551251" cy="606893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894945">
                  <a:extLst>
                    <a:ext uri="{9D8B030D-6E8A-4147-A177-3AD203B41FA5}">
                      <a16:colId xmlns:a16="http://schemas.microsoft.com/office/drawing/2014/main" val="2370514001"/>
                    </a:ext>
                  </a:extLst>
                </a:gridCol>
                <a:gridCol w="849548">
                  <a:extLst>
                    <a:ext uri="{9D8B030D-6E8A-4147-A177-3AD203B41FA5}">
                      <a16:colId xmlns:a16="http://schemas.microsoft.com/office/drawing/2014/main" val="2292934565"/>
                    </a:ext>
                  </a:extLst>
                </a:gridCol>
                <a:gridCol w="1147864">
                  <a:extLst>
                    <a:ext uri="{9D8B030D-6E8A-4147-A177-3AD203B41FA5}">
                      <a16:colId xmlns:a16="http://schemas.microsoft.com/office/drawing/2014/main" val="1529396667"/>
                    </a:ext>
                  </a:extLst>
                </a:gridCol>
                <a:gridCol w="1498060">
                  <a:extLst>
                    <a:ext uri="{9D8B030D-6E8A-4147-A177-3AD203B41FA5}">
                      <a16:colId xmlns:a16="http://schemas.microsoft.com/office/drawing/2014/main" val="699767921"/>
                    </a:ext>
                  </a:extLst>
                </a:gridCol>
                <a:gridCol w="1160834">
                  <a:extLst>
                    <a:ext uri="{9D8B030D-6E8A-4147-A177-3AD203B41FA5}">
                      <a16:colId xmlns:a16="http://schemas.microsoft.com/office/drawing/2014/main" val="2392853615"/>
                    </a:ext>
                  </a:extLst>
                </a:gridCol>
              </a:tblGrid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Integration Test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method/driver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Molecule/Polymer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Structure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Comment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409061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grid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CC(C)O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Single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24252942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i="1" dirty="0" err="1"/>
                        <a:t>mol_bldr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2(2)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CCCC (120)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Set Geom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901094750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i="1" dirty="0" err="1"/>
                        <a:t>mol_bldr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1(3)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CCC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Measure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7282332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4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 | 10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CCCCCC(C)O [Ar]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Mol | 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49923357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Pack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CC(=O)O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Single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64252630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6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11(6)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Polym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803456469"/>
                  </a:ext>
                </a:extLst>
              </a:tr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11(6)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Reduce (1.12)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302089768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Grow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344236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O CCCO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Mol | 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935577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3(5)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*CC(O)*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Polym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0093473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5(3) | 15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*CC(*)C(=O)O CN(C)C=O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Polym | 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28642195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5(5)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Reduce (2.6)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166009791"/>
                  </a:ext>
                </a:extLst>
              </a:tr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 (1)| 10 (1)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</a:t>
                      </a:r>
                      <a:r>
                        <a:rPr 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] CCCC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Failed Initialization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74812722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1(200)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Single Long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213175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10(100)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*CC(*)C(=O)O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Multi Long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0863563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TIP3P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94815051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SPCE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47132977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SPC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71450897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CO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561245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CCO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17439923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CC(=O)C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156888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CCC(=O)CC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13536668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CC(C)(C)C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952674631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24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CC(C)CC(=O)C(C)(C)C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97575787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O CCCO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3713123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[Li+].[F-]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033712642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[Na+].[Cl-]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2836952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[Br-].[Mg+2].[Br-]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473638560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[K+].[Br-]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82250457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 | 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</a:t>
                      </a:r>
                      <a:r>
                        <a:rPr lang="en-US" sz="1000" u="none" strike="noStrike" dirty="0" err="1">
                          <a:effectLst/>
                        </a:rPr>
                        <a:t>Rb</a:t>
                      </a:r>
                      <a:r>
                        <a:rPr lang="en-US" sz="1000" u="none" strike="noStrike" dirty="0">
                          <a:effectLst/>
                        </a:rPr>
                        <a:t>+].[Cl-] [Cs+].[Br-]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452337688"/>
                  </a:ext>
                </a:extLst>
              </a:tr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5 | 5 | 5 | 5 | 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[He] [Ne] [</a:t>
                      </a:r>
                      <a:r>
                        <a:rPr lang="en-US" sz="1000" u="none" strike="noStrike" dirty="0" err="1">
                          <a:effectLst/>
                        </a:rPr>
                        <a:t>Ar</a:t>
                      </a:r>
                      <a:r>
                        <a:rPr lang="en-US" sz="1000" u="none" strike="noStrike" dirty="0">
                          <a:effectLst/>
                        </a:rPr>
                        <a:t>] [Kr] [Xe]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72848920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1| 1| 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[Ca+2] [Sr+2] [Ba+2] [Cl-]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301322427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33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i="1" dirty="0" err="1"/>
                        <a:t>xtal_bldr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1x2x3 supercell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 (face centered-cubic)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Scale Factor 0.95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633238104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2C52ADCC-16B5-524D-B96F-54E333917F4F}"/>
              </a:ext>
            </a:extLst>
          </p:cNvPr>
          <p:cNvSpPr/>
          <p:nvPr/>
        </p:nvSpPr>
        <p:spPr>
          <a:xfrm>
            <a:off x="6187521" y="6368766"/>
            <a:ext cx="2196435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molecule numbers separated by |</a:t>
            </a:r>
          </a:p>
          <a:p>
            <a:r>
              <a:rPr lang="en-US" sz="1100" dirty="0"/>
              <a:t>repeat unit number noted inside ()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1B98B0F-98F1-6F4F-96E8-C56F7460FC25}"/>
              </a:ext>
            </a:extLst>
          </p:cNvPr>
          <p:cNvSpPr/>
          <p:nvPr/>
        </p:nvSpPr>
        <p:spPr>
          <a:xfrm>
            <a:off x="8401330" y="6364223"/>
            <a:ext cx="265008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* are the capping atoms for polymerization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45F48F8-F6BA-4A6C-4E85-361BC29B6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0264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0EF3FB5-AC66-9447-8D17-5430181F0E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9323" y="387651"/>
            <a:ext cx="6133288" cy="6179403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4400" dirty="0"/>
              <a:t>Molecular Dynamics</a:t>
            </a:r>
            <a:endParaRPr lang="en-US" sz="4400" i="1" dirty="0"/>
          </a:p>
          <a:p>
            <a:pPr marL="0" indent="0" algn="just">
              <a:buNone/>
            </a:pPr>
            <a:r>
              <a:rPr lang="en-US" sz="1500" i="1" dirty="0" err="1"/>
              <a:t>lammps_driver.py</a:t>
            </a:r>
            <a:r>
              <a:rPr lang="en-US" sz="1500" i="1" dirty="0"/>
              <a:t> </a:t>
            </a:r>
            <a:r>
              <a:rPr lang="en-US" sz="1500" dirty="0"/>
              <a:t>runs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GPU auto-detection.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</a:t>
            </a:r>
            <a:r>
              <a:rPr lang="en-US" sz="1300" dirty="0" err="1"/>
              <a:t>cpu</a:t>
            </a:r>
            <a:r>
              <a:rPr lang="en-US" sz="1300" dirty="0"/>
              <a:t> NUM: multiple CPU threads via OPENMP.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lmp_log_driver.py</a:t>
            </a:r>
            <a:r>
              <a:rPr lang="en-US" sz="1500" dirty="0"/>
              <a:t> analyzes the log from previous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-task {...}: temperature , pairwise energy, molecular energy, total energy, pressure, volume</a:t>
            </a:r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lmp_traj_driver.py</a:t>
            </a:r>
            <a:r>
              <a:rPr lang="en-US" sz="1500" i="1" dirty="0"/>
              <a:t> </a:t>
            </a:r>
            <a:r>
              <a:rPr lang="en-US" sz="1500" dirty="0"/>
              <a:t>analyzes the trajectory from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-task {...}: radial distribution function (RDF), density, clash, XYZ, diffusion coefficient via mean squared displacement (MSD), and visualization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-PYTHON {0,1,2}    0: native python; 1: compiled </a:t>
            </a:r>
            <a:r>
              <a:rPr lang="en-US" sz="1300" dirty="0" err="1"/>
              <a:t>Numba</a:t>
            </a:r>
            <a:r>
              <a:rPr lang="en-US" sz="1300" dirty="0"/>
              <a:t>; 2: the cached </a:t>
            </a:r>
            <a:r>
              <a:rPr lang="en-US" sz="1300" dirty="0" err="1"/>
              <a:t>Numba</a:t>
            </a:r>
            <a:endParaRPr lang="en-US" sz="13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 algn="ctr">
              <a:buNone/>
            </a:pPr>
            <a:r>
              <a:rPr lang="en-US" sz="4400" dirty="0"/>
              <a:t>Solid Physics</a:t>
            </a:r>
            <a:endParaRPr lang="en-US" sz="44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1500" i="1" dirty="0" err="1">
                <a:solidFill>
                  <a:srgbClr val="000000"/>
                </a:solidFill>
                <a:latin typeface="Calibri" panose="020F0502020204030204" pitchFamily="34" charset="0"/>
              </a:rPr>
              <a:t>recip_sp_driver.py</a:t>
            </a:r>
            <a:r>
              <a:rPr lang="en-US" sz="1500" i="1" dirty="0">
                <a:solidFill>
                  <a:srgbClr val="000000"/>
                </a:solidFill>
                <a:latin typeface="Calibri" panose="020F0502020204030204" pitchFamily="34" charset="0"/>
              </a:rPr>
              <a:t> </a:t>
            </a:r>
            <a:r>
              <a:rPr lang="en-US" sz="1500" dirty="0">
                <a:solidFill>
                  <a:srgbClr val="000000"/>
                </a:solidFill>
                <a:latin typeface="Calibri" panose="020F0502020204030204" pitchFamily="34" charset="0"/>
              </a:rPr>
              <a:t>plots direct and reciprocal lattice of Hexagon (graphene).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 -</a:t>
            </a:r>
            <a:r>
              <a:rPr lang="en-US" sz="1300" dirty="0" err="1"/>
              <a:t>miller_indices</a:t>
            </a:r>
            <a:r>
              <a:rPr lang="en-US" sz="1300" dirty="0"/>
              <a:t>  [...]: Miller Indices defines the plane and norm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dispersion_driver.py</a:t>
            </a:r>
            <a:r>
              <a:rPr lang="en-US" sz="1500" i="1" dirty="0"/>
              <a:t> </a:t>
            </a:r>
            <a:r>
              <a:rPr lang="en-US" sz="1500" dirty="0"/>
              <a:t>calculates and plots phonon dispersion.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 -name {Si} : Name to retrieve the crystal structure from the database</a:t>
            </a: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ED0C6FC-6847-BE4F-A9CD-0337C98BEE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4120263"/>
              </p:ext>
            </p:extLst>
          </p:nvPr>
        </p:nvGraphicFramePr>
        <p:xfrm>
          <a:off x="6334298" y="3399495"/>
          <a:ext cx="5544589" cy="293956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915789">
                  <a:extLst>
                    <a:ext uri="{9D8B030D-6E8A-4147-A177-3AD203B41FA5}">
                      <a16:colId xmlns:a16="http://schemas.microsoft.com/office/drawing/2014/main" val="2370514001"/>
                    </a:ext>
                  </a:extLst>
                </a:gridCol>
                <a:gridCol w="1137455">
                  <a:extLst>
                    <a:ext uri="{9D8B030D-6E8A-4147-A177-3AD203B41FA5}">
                      <a16:colId xmlns:a16="http://schemas.microsoft.com/office/drawing/2014/main" val="2292934565"/>
                    </a:ext>
                  </a:extLst>
                </a:gridCol>
                <a:gridCol w="3491345">
                  <a:extLst>
                    <a:ext uri="{9D8B030D-6E8A-4147-A177-3AD203B41FA5}">
                      <a16:colId xmlns:a16="http://schemas.microsoft.com/office/drawing/2014/main" val="2392853615"/>
                    </a:ext>
                  </a:extLst>
                </a:gridCol>
              </a:tblGrid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Integration Test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u="none" strike="noStrike" dirty="0">
                          <a:solidFill>
                            <a:schemeClr val="accent1"/>
                          </a:solidFill>
                          <a:effectLst/>
                        </a:rPr>
                        <a:t>Driver</a:t>
                      </a:r>
                      <a:r>
                        <a:rPr lang="en-US" sz="1100" u="none" strike="noStrike" dirty="0">
                          <a:effectLst/>
                        </a:rPr>
                        <a:t>/</a:t>
                      </a:r>
                      <a:r>
                        <a:rPr lang="en-US" sz="1100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Workflow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Comment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4090614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lammps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dirty="0"/>
                        <a:t>Single GPU on Ubuntu;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Multiple CPUs</a:t>
                      </a:r>
                      <a:r>
                        <a:rPr lang="en-US" sz="1100" dirty="0"/>
                        <a:t> on </a:t>
                      </a:r>
                      <a:r>
                        <a:rPr lang="en-US" sz="1100" dirty="0" err="1"/>
                        <a:t>macOs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24252942"/>
                  </a:ext>
                </a:extLst>
              </a:tr>
              <a:tr h="30809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35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lammps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lmp_log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Serial Driver Jobs: Molecular Dynamics, Log Analyzer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901094750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lmp_log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Thermodynamic Data </a:t>
                      </a:r>
                      <a:r>
                        <a:rPr lang="en-US" sz="1100" u="none" strike="noStrike" dirty="0">
                          <a:effectLst/>
                        </a:rPr>
                        <a:t>Analyzer</a:t>
                      </a:r>
                      <a:endParaRPr lang="en-US" sz="11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7282332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37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lmp_traj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RDF, Density, Clash, XYZ, MSD and visualization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499233574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All-pair RDF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642526306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39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Original Python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80345646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40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Compiled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302089768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Cached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344236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42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Uncompiled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935577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43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recip_sp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Real Space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Plane 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Norm = 2</a:t>
                      </a:r>
                      <a:r>
                        <a:rPr lang="el-G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π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/ Reciprocal Vector Summation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00934735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dirty="0">
                          <a:solidFill>
                            <a:schemeClr val="accent1"/>
                          </a:solidFill>
                        </a:rPr>
                        <a:t>dispersion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Primitive Cell, Symmetry, Force Constant, and K-Path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286421955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45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ab_lmp_traj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Ar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Amorphous, Berendsen NPT, Density (2 replica)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166009791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mb_lmp_log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The energy hypersurface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748127226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47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mb_lmp_log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Geometry measurement  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21317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cb_lmp_log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Energy vs Scale Factor 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08635636"/>
                  </a:ext>
                </a:extLst>
              </a:tr>
            </a:tbl>
          </a:graphicData>
        </a:graphic>
      </p:graphicFrame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3E26658-ADBD-2242-A148-21A827C98FE7}"/>
              </a:ext>
            </a:extLst>
          </p:cNvPr>
          <p:cNvSpPr txBox="1">
            <a:spLocks/>
          </p:cNvSpPr>
          <p:nvPr/>
        </p:nvSpPr>
        <p:spPr>
          <a:xfrm>
            <a:off x="6325972" y="82851"/>
            <a:ext cx="5544589" cy="3191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200" dirty="0">
              <a:latin typeface="Calibri" panose="020F0502020204030204" pitchFamily="34" charset="0"/>
            </a:endParaRPr>
          </a:p>
          <a:p>
            <a:pPr marL="0" indent="0" algn="ctr">
              <a:buNone/>
            </a:pPr>
            <a:r>
              <a:rPr lang="en-US" sz="3900" dirty="0"/>
              <a:t>Decentralized Automation </a:t>
            </a: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From different seeds, </a:t>
            </a:r>
            <a:r>
              <a:rPr lang="en-US" sz="1400" i="1" dirty="0" err="1">
                <a:latin typeface="Calibri" panose="020F0502020204030204" pitchFamily="34" charset="0"/>
              </a:rPr>
              <a:t>ab_lmp_traj_workflow.py</a:t>
            </a:r>
            <a:r>
              <a:rPr lang="en-US" sz="1400" i="1" dirty="0">
                <a:latin typeface="Calibri" panose="020F0502020204030204" pitchFamily="34" charset="0"/>
              </a:rPr>
              <a:t> </a:t>
            </a:r>
            <a:r>
              <a:rPr lang="en-US" sz="1400" dirty="0">
                <a:latin typeface="Calibri" panose="020F0502020204030204" pitchFamily="34" charset="0"/>
              </a:rPr>
              <a:t>builds amorphous structure, run simulation, and analyzes the trajectory.</a:t>
            </a:r>
          </a:p>
          <a:p>
            <a:pPr marL="0" indent="0" algn="just">
              <a:buNone/>
            </a:pPr>
            <a:endParaRPr lang="en-US" sz="1400" dirty="0">
              <a:latin typeface="Calibri" panose="020F0502020204030204" pitchFamily="34" charset="0"/>
            </a:endParaRP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Using different geometries, </a:t>
            </a:r>
            <a:r>
              <a:rPr lang="en-US" sz="1400" i="1" dirty="0" err="1">
                <a:latin typeface="Calibri" panose="020F0502020204030204" pitchFamily="34" charset="0"/>
              </a:rPr>
              <a:t>mb_lmp_log</a:t>
            </a:r>
            <a:r>
              <a:rPr lang="en-US" sz="1400" i="1" dirty="0">
                <a:latin typeface="Calibri" panose="020F0502020204030204" pitchFamily="34" charset="0"/>
              </a:rPr>
              <a:t> _</a:t>
            </a:r>
            <a:r>
              <a:rPr lang="en-US" sz="1400" i="1" dirty="0" err="1">
                <a:latin typeface="Calibri" panose="020F0502020204030204" pitchFamily="34" charset="0"/>
              </a:rPr>
              <a:t>workflow.py</a:t>
            </a:r>
            <a:r>
              <a:rPr lang="en-US" sz="1400" i="1" dirty="0">
                <a:latin typeface="Calibri" panose="020F0502020204030204" pitchFamily="34" charset="0"/>
              </a:rPr>
              <a:t> </a:t>
            </a:r>
            <a:r>
              <a:rPr lang="en-US" sz="1400" dirty="0">
                <a:latin typeface="Calibri" panose="020F0502020204030204" pitchFamily="34" charset="0"/>
              </a:rPr>
              <a:t>builds molecules, calculates single point energy, and analyzes the log file.</a:t>
            </a:r>
          </a:p>
          <a:p>
            <a:pPr marL="0" indent="0" algn="just">
              <a:buNone/>
            </a:pPr>
            <a:endParaRPr lang="en-US" sz="1400" dirty="0">
              <a:latin typeface="Calibri" panose="020F0502020204030204" pitchFamily="34" charset="0"/>
            </a:endParaRP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With lattice vectors scaled differently, </a:t>
            </a:r>
            <a:r>
              <a:rPr lang="en-US" sz="1400" dirty="0" err="1">
                <a:solidFill>
                  <a:srgbClr val="000000"/>
                </a:solidFill>
                <a:latin typeface="Calibri" panose="020F0502020204030204" pitchFamily="34" charset="0"/>
              </a:rPr>
              <a:t>cb_lmp_log_workflow.py</a:t>
            </a:r>
            <a:r>
              <a:rPr lang="en-US" sz="1400" dirty="0">
                <a:solidFill>
                  <a:srgbClr val="000000"/>
                </a:solidFill>
                <a:latin typeface="Calibri" panose="020F0502020204030204" pitchFamily="34" charset="0"/>
              </a:rPr>
              <a:t> builds crystal structure, run simulations, and </a:t>
            </a:r>
            <a:r>
              <a:rPr lang="en-US" sz="1400" dirty="0">
                <a:latin typeface="Calibri" panose="020F0502020204030204" pitchFamily="34" charset="0"/>
              </a:rPr>
              <a:t>analyzes the log file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200" dirty="0"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EE2520-E813-389E-1C17-A2B04EC4A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2001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Scientific Test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E4A50E-A4D4-994E-BB48-CC433E82E80C}"/>
              </a:ext>
            </a:extLst>
          </p:cNvPr>
          <p:cNvSpPr/>
          <p:nvPr/>
        </p:nvSpPr>
        <p:spPr>
          <a:xfrm>
            <a:off x="922867" y="1506022"/>
            <a:ext cx="964353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0001: </a:t>
            </a:r>
            <a:r>
              <a:rPr lang="en-US" dirty="0" err="1"/>
              <a:t>buld</a:t>
            </a:r>
            <a:r>
              <a:rPr lang="en-US" dirty="0"/>
              <a:t> amorphous structure with via grid method 100 million  Argon molecules via grid method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9888FE3-FC9F-C19C-4839-C34F1FAD5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5535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Test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BFBF89-8989-C94F-A095-43490545E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2277533"/>
            <a:ext cx="5715000" cy="3429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FE4A50E-A4D4-994E-BB48-CC433E82E80C}"/>
              </a:ext>
            </a:extLst>
          </p:cNvPr>
          <p:cNvSpPr/>
          <p:nvPr/>
        </p:nvSpPr>
        <p:spPr>
          <a:xfrm>
            <a:off x="922867" y="1506022"/>
            <a:ext cx="964353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0001: </a:t>
            </a:r>
            <a:r>
              <a:rPr lang="en-US" dirty="0" err="1"/>
              <a:t>buld</a:t>
            </a:r>
            <a:r>
              <a:rPr lang="en-US" dirty="0"/>
              <a:t> amorphous structure with via grid method 100 million  Argon molecules via grid method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0AF2FC8-16B7-B849-97E5-38D3BF84EF6D}"/>
              </a:ext>
            </a:extLst>
          </p:cNvPr>
          <p:cNvSpPr/>
          <p:nvPr/>
        </p:nvSpPr>
        <p:spPr>
          <a:xfrm>
            <a:off x="1751651" y="5952067"/>
            <a:ext cx="3168431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/>
              <a:t>1.4 GHz Quad-Core Intel Core i5</a:t>
            </a:r>
          </a:p>
          <a:p>
            <a:pPr algn="ctr"/>
            <a:r>
              <a:rPr lang="en-US" dirty="0"/>
              <a:t>16 GB 2133 MHz LPDDR3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F05FCFF-324F-61E7-69CC-7DEA8AB91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5368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8C344A-6936-3292-7B0A-CEBF0C369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Command-Line Arguments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BB0EB9-B9FD-2DC2-79C0-D12E70D80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16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67DFA66-50BE-1E11-024B-05226D2C63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6216063"/>
              </p:ext>
            </p:extLst>
          </p:nvPr>
        </p:nvGraphicFramePr>
        <p:xfrm>
          <a:off x="947990" y="1449442"/>
          <a:ext cx="10076429" cy="259588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460344">
                  <a:extLst>
                    <a:ext uri="{9D8B030D-6E8A-4147-A177-3AD203B41FA5}">
                      <a16:colId xmlns:a16="http://schemas.microsoft.com/office/drawing/2014/main" val="578952244"/>
                    </a:ext>
                  </a:extLst>
                </a:gridCol>
                <a:gridCol w="3316931">
                  <a:extLst>
                    <a:ext uri="{9D8B030D-6E8A-4147-A177-3AD203B41FA5}">
                      <a16:colId xmlns:a16="http://schemas.microsoft.com/office/drawing/2014/main" val="3414224844"/>
                    </a:ext>
                  </a:extLst>
                </a:gridCol>
                <a:gridCol w="4299154">
                  <a:extLst>
                    <a:ext uri="{9D8B030D-6E8A-4147-A177-3AD203B41FA5}">
                      <a16:colId xmlns:a16="http://schemas.microsoft.com/office/drawing/2014/main" val="23342118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Script Flag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6641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-seed SEED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Set random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Randomize coordinate, velocity, sequence, selection,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66517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-JOBNAME JOBNAME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Name output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Jobname[_type].{log, csv, data, 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npz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parquet, etc.}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3868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-INTERACTIVE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Pause for user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Zoom in / out figure, set initial guess,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7360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-PYTHON {-1,0,1,2}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0: native; 1: compiled; 2: cached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 performance compiled python.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2749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cpu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CPU [CPU ...]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Total number of CPUs [num for one task]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Limit the total resource and max single consumption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93975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-DEBUG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Additional printing and output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Surfaces the issues instead of prioritizing performance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0089168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CC97128-65D5-F9CE-8A26-7A7EF3F7AD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5404363"/>
              </p:ext>
            </p:extLst>
          </p:nvPr>
        </p:nvGraphicFramePr>
        <p:xfrm>
          <a:off x="947992" y="4133528"/>
          <a:ext cx="10076428" cy="214884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452919">
                  <a:extLst>
                    <a:ext uri="{9D8B030D-6E8A-4147-A177-3AD203B41FA5}">
                      <a16:colId xmlns:a16="http://schemas.microsoft.com/office/drawing/2014/main" val="578952244"/>
                    </a:ext>
                  </a:extLst>
                </a:gridCol>
                <a:gridCol w="3331728">
                  <a:extLst>
                    <a:ext uri="{9D8B030D-6E8A-4147-A177-3AD203B41FA5}">
                      <a16:colId xmlns:a16="http://schemas.microsoft.com/office/drawing/2014/main" val="3414224844"/>
                    </a:ext>
                  </a:extLst>
                </a:gridCol>
                <a:gridCol w="4291781">
                  <a:extLst>
                    <a:ext uri="{9D8B030D-6E8A-4147-A177-3AD203B41FA5}">
                      <a16:colId xmlns:a16="http://schemas.microsoft.com/office/drawing/2014/main" val="26242478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Workflow Flag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6641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jtype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{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task,aggregator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Task handles calculations and registers files</a:t>
                      </a:r>
                    </a:p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Aggregator collects results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High-cost tasks and light-weight aggregators can run either serially or separately.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3868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-clean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Clean previous results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Run on top of previous results or from scratches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7360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-screen {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tqdm,progress,job,off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Print the serialization 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tqdm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parallelization progress, and job details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Run batch script silently or with selected printing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2749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-DEBUG [{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on,off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Additional printing and output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Set or let the sub-jobs set the debug mode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008916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BBCC9C4-DC60-1158-2C05-E55902CF670E}"/>
              </a:ext>
            </a:extLst>
          </p:cNvPr>
          <p:cNvSpPr txBox="1"/>
          <p:nvPr/>
        </p:nvSpPr>
        <p:spPr>
          <a:xfrm>
            <a:off x="947990" y="6328788"/>
            <a:ext cx="79788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export SHALLOW=1</a:t>
            </a:r>
            <a:r>
              <a:rPr lang="en-US" sz="1400" dirty="0"/>
              <a:t> increases the performance at the sacrifice of stability. (e.g. shallow copy, unclean build)</a:t>
            </a:r>
          </a:p>
        </p:txBody>
      </p:sp>
    </p:spTree>
    <p:extLst>
      <p:ext uri="{BB962C8B-B14F-4D97-AF65-F5344CB8AC3E}">
        <p14:creationId xmlns:p14="http://schemas.microsoft.com/office/powerpoint/2010/main" val="31990987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6F0F3-2CAE-174E-A141-B83E10C0D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Thoughts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B896DA-3023-5D45-B407-2EEA49AF37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598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Before reading more literatures on force field development: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sz="2400" dirty="0"/>
              <a:t>Structure Generation: supported structures</a:t>
            </a:r>
          </a:p>
          <a:p>
            <a:r>
              <a:rPr lang="en-US" sz="2400" dirty="0"/>
              <a:t>DFT Calculation: accuracy vs cost</a:t>
            </a:r>
          </a:p>
          <a:p>
            <a:r>
              <a:rPr lang="en-US" sz="2400" dirty="0"/>
              <a:t>Force Constant Fit: Energy + Formula </a:t>
            </a:r>
            <a:r>
              <a:rPr lang="en-US" sz="2400" dirty="0">
                <a:sym typeface="Wingdings" pitchFamily="2" charset="2"/>
              </a:rPr>
              <a:t></a:t>
            </a:r>
            <a:r>
              <a:rPr lang="en-US" sz="2400" dirty="0"/>
              <a:t> Parameters</a:t>
            </a:r>
          </a:p>
          <a:p>
            <a:r>
              <a:rPr lang="en-US" sz="2400" dirty="0" err="1"/>
              <a:t>Typer</a:t>
            </a:r>
            <a:r>
              <a:rPr lang="en-US" sz="2400" dirty="0"/>
              <a:t>: Type the atoms by matches, bonding, and neighbors</a:t>
            </a:r>
          </a:p>
          <a:p>
            <a:r>
              <a:rPr lang="en-US" sz="2400" dirty="0"/>
              <a:t>Assignment: assign parameters based on the types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62191C-5B22-9DD7-8FD0-F269496A5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1814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10034</TotalTime>
  <Words>3665</Words>
  <Application>Microsoft Macintosh PowerPoint</Application>
  <PresentationFormat>Widescreen</PresentationFormat>
  <Paragraphs>645</Paragraphs>
  <Slides>17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Calibri Light</vt:lpstr>
      <vt:lpstr>Wingdings</vt:lpstr>
      <vt:lpstr>Office Theme</vt:lpstr>
      <vt:lpstr>Molecular Simulation Toolkit</vt:lpstr>
      <vt:lpstr>BSD 3-Clause License</vt:lpstr>
      <vt:lpstr>Installation</vt:lpstr>
      <vt:lpstr>setup.py</vt:lpstr>
      <vt:lpstr>Structure</vt:lpstr>
      <vt:lpstr>Architecture</vt:lpstr>
      <vt:lpstr>Architecture</vt:lpstr>
      <vt:lpstr>Environmental Configuration</vt:lpstr>
      <vt:lpstr>Testing</vt:lpstr>
      <vt:lpstr>Integration Test</vt:lpstr>
      <vt:lpstr>test_workflow.py</vt:lpstr>
      <vt:lpstr>PowerPoint Presentation</vt:lpstr>
      <vt:lpstr>PowerPoint Presentation</vt:lpstr>
      <vt:lpstr>Scientific Test</vt:lpstr>
      <vt:lpstr>Performance Test</vt:lpstr>
      <vt:lpstr>Command-Line Arguments</vt:lpstr>
      <vt:lpstr>Thoughts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General Information of the NEMD Toolkit</dc:title>
  <dc:creator>Microsoft Office User</dc:creator>
  <cp:lastModifiedBy>Teng Zhang</cp:lastModifiedBy>
  <cp:revision>330</cp:revision>
  <dcterms:created xsi:type="dcterms:W3CDTF">2024-07-22T15:38:28Z</dcterms:created>
  <dcterms:modified xsi:type="dcterms:W3CDTF">2025-06-21T16:13:06Z</dcterms:modified>
</cp:coreProperties>
</file>