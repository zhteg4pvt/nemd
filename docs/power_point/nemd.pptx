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75" r:id="rId11"/>
    <p:sldId id="263" r:id="rId12"/>
    <p:sldId id="273" r:id="rId13"/>
    <p:sldId id="262" r:id="rId14"/>
    <p:sldId id="271" r:id="rId15"/>
    <p:sldId id="267" r:id="rId16"/>
    <p:sldId id="268" r:id="rId17"/>
    <p:sldId id="272" r:id="rId18"/>
    <p:sldId id="26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5619"/>
  </p:normalViewPr>
  <p:slideViewPr>
    <p:cSldViewPr snapToGrid="0" snapToObjects="1">
      <p:cViewPr varScale="1">
        <p:scale>
          <a:sx n="198" d="100"/>
          <a:sy n="198" d="100"/>
        </p:scale>
        <p:origin x="3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1"/>
              </a:solidFill>
            </a:rPr>
            <a:t>Performance</a:t>
          </a:r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1"/>
              </a:solidFill>
            </a:rPr>
            <a:t>Performance</a:t>
          </a:r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9/12/25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0F25D-A23E-4E2D-F308-5821D856D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66B69F-1E68-6633-928C-A970FFA81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C3ECE-C349-54BB-88B1-CB632DDD2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DB290-8F75-3992-14A6-2350E4215B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5669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2202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9/12/25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9/12/25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9/12/25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9/12/25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9/12/25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auth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auth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E72D66-DA66-8C86-7389-06DDFABFFC57}"/>
              </a:ext>
            </a:extLst>
          </p:cNvPr>
          <p:cNvSpPr txBox="1"/>
          <p:nvPr/>
        </p:nvSpPr>
        <p:spPr>
          <a:xfrm>
            <a:off x="8912514" y="6346067"/>
            <a:ext cx="157941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i="1" dirty="0"/>
              <a:t>after factory reset</a:t>
            </a: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25548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294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28024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294270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576743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028612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648798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1105215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48169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4142605" y="2357713"/>
            <a:ext cx="211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dynamic force field </a:t>
            </a:r>
            <a:r>
              <a:rPr lang="en-US" sz="1400" dirty="0"/>
              <a:t>(</a:t>
            </a:r>
            <a:r>
              <a:rPr lang="en-US" sz="1400" dirty="0" err="1"/>
              <a:t>sw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6214146" y="2359631"/>
            <a:ext cx="137011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lmpin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8893557" y="2566623"/>
            <a:ext cx="28289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conformer, molecule, 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5069828" y="277725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5284052" y="3165411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5087435" y="3575020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720528" y="2354934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020600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8823" y="4491595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590104" y="3579709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578223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924278" y="3157935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165410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070536" y="1094839"/>
            <a:ext cx="1969479" cy="81122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467115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931593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860044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473657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527302" y="818091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62762" y="81660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456242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>
            <a:off x="2313276" y="1573308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171251" y="818091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836432" y="304123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8390972" y="3175905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660262" y="4024033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5122614" y="4023918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631839" y="3175426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662157" y="2942403"/>
            <a:ext cx="0" cy="99195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0961623" y="3028246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 flipV="1">
            <a:off x="7022424" y="2943128"/>
            <a:ext cx="2779813" cy="1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753518" y="3100691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969945" y="310286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753519" y="310144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5753652" y="303723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755449" y="3475537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V="1">
            <a:off x="8970478" y="3474609"/>
            <a:ext cx="0" cy="132163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75544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036224" y="2939830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348792" y="288052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18056" y="2943926"/>
            <a:ext cx="18288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927284" y="2792914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23805" y="3134868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18712" y="3734027"/>
            <a:ext cx="182880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801503" y="3265697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834352" y="3442802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3911209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384731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3848912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3919548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 flipV="1">
            <a:off x="5733211" y="4429222"/>
            <a:ext cx="5911221" cy="529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38999" y="432479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643384" y="436496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5761335" y="268081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3883629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389097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32520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326800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39743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32731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375271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87525" y="4584146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174533" y="1094839"/>
            <a:ext cx="2121299" cy="811220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052820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builder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tags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167366" y="2023348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062172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2064" y="266429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3" y="2298292"/>
            <a:ext cx="2349696" cy="899717"/>
          </a:xfrm>
          <a:prstGeom prst="roundRect">
            <a:avLst>
              <a:gd name="adj" fmla="val 18575"/>
            </a:avLst>
          </a:prstGeom>
          <a:noFill/>
          <a:ln>
            <a:solidFill>
              <a:schemeClr val="bg1">
                <a:lumMod val="85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8585339" y="357997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056743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81112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6A8EA30-F965-B30B-AF61-C30FFF446AD8}"/>
              </a:ext>
            </a:extLst>
          </p:cNvPr>
          <p:cNvSpPr/>
          <p:nvPr/>
        </p:nvSpPr>
        <p:spPr>
          <a:xfrm>
            <a:off x="2522886" y="1095770"/>
            <a:ext cx="7318721" cy="805747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4" rtlCol="0" anchor="ctr"/>
          <a:lstStyle/>
          <a:p>
            <a:r>
              <a:rPr lang="en-US" sz="1400" dirty="0" err="1">
                <a:solidFill>
                  <a:schemeClr val="tx1"/>
                </a:solidFill>
              </a:rPr>
              <a:t>builtins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builtinsutils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environment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constants (constants)</a:t>
            </a:r>
          </a:p>
          <a:p>
            <a:r>
              <a:rPr lang="en-US" sz="1400" dirty="0">
                <a:solidFill>
                  <a:schemeClr val="tx1"/>
                </a:solidFill>
              </a:rPr>
              <a:t>hardcoded (symbols)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points (geometry)</a:t>
            </a:r>
          </a:p>
          <a:p>
            <a:r>
              <a:rPr lang="en-US" sz="1400" dirty="0">
                <a:solidFill>
                  <a:schemeClr val="tx1"/>
                </a:solidFill>
              </a:rPr>
              <a:t>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E35E9EB-CECE-0C13-FEBA-5B9120FA4B47}"/>
              </a:ext>
            </a:extLst>
          </p:cNvPr>
          <p:cNvSpPr/>
          <p:nvPr/>
        </p:nvSpPr>
        <p:spPr>
          <a:xfrm>
            <a:off x="5128787" y="4491442"/>
            <a:ext cx="11673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check (check)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4228E6F-5DA8-39DA-7A39-4FE60A50F28E}"/>
              </a:ext>
            </a:extLst>
          </p:cNvPr>
          <p:cNvCxnSpPr>
            <a:cxnSpLocks/>
          </p:cNvCxnSpPr>
          <p:nvPr/>
        </p:nvCxnSpPr>
        <p:spPr>
          <a:xfrm rot="5400000" flipH="1">
            <a:off x="5066907" y="459503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2289477"/>
            <a:ext cx="11860396" cy="2525972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942C55-FDA0-8FD1-FDFA-42C5E8A60CDB}"/>
              </a:ext>
            </a:extLst>
          </p:cNvPr>
          <p:cNvCxnSpPr>
            <a:cxnSpLocks/>
          </p:cNvCxnSpPr>
          <p:nvPr/>
        </p:nvCxnSpPr>
        <p:spPr>
          <a:xfrm>
            <a:off x="7572802" y="2510949"/>
            <a:ext cx="150422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AA14FECF-B262-A4D6-7A52-2EC0E71A70C7}"/>
              </a:ext>
            </a:extLst>
          </p:cNvPr>
          <p:cNvCxnSpPr>
            <a:cxnSpLocks/>
          </p:cNvCxnSpPr>
          <p:nvPr/>
        </p:nvCxnSpPr>
        <p:spPr>
          <a:xfrm flipV="1">
            <a:off x="5107967" y="267962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BF1135A-49DB-43A7-1097-2185A561C68F}"/>
              </a:ext>
            </a:extLst>
          </p:cNvPr>
          <p:cNvCxnSpPr>
            <a:cxnSpLocks/>
          </p:cNvCxnSpPr>
          <p:nvPr/>
        </p:nvCxnSpPr>
        <p:spPr>
          <a:xfrm>
            <a:off x="5111494" y="261572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6CA2648C-C1AC-D5E0-5CAB-B309CAC4DF3D}"/>
              </a:ext>
            </a:extLst>
          </p:cNvPr>
          <p:cNvCxnSpPr>
            <a:cxnSpLocks/>
          </p:cNvCxnSpPr>
          <p:nvPr/>
        </p:nvCxnSpPr>
        <p:spPr>
          <a:xfrm>
            <a:off x="6508248" y="261732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3F9C1E3-D35B-9A1D-D341-F75B46512ADE}"/>
              </a:ext>
            </a:extLst>
          </p:cNvPr>
          <p:cNvCxnSpPr>
            <a:cxnSpLocks/>
          </p:cNvCxnSpPr>
          <p:nvPr/>
        </p:nvCxnSpPr>
        <p:spPr>
          <a:xfrm rot="5400000" flipH="1">
            <a:off x="10570353" y="326795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089F3599-5F63-4826-A4D3-00BAEEF5F2DA}"/>
              </a:ext>
            </a:extLst>
          </p:cNvPr>
          <p:cNvSpPr txBox="1"/>
          <p:nvPr/>
        </p:nvSpPr>
        <p:spPr>
          <a:xfrm>
            <a:off x="7138589" y="3176770"/>
            <a:ext cx="13613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type &amp; assign</a:t>
            </a:r>
          </a:p>
          <a:p>
            <a:pPr algn="ctr"/>
            <a:r>
              <a:rPr lang="en-US" sz="1400" dirty="0"/>
              <a:t>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5BA1D52-21BC-87F4-16EA-CFFF96D321E4}"/>
              </a:ext>
            </a:extLst>
          </p:cNvPr>
          <p:cNvCxnSpPr>
            <a:cxnSpLocks/>
          </p:cNvCxnSpPr>
          <p:nvPr/>
        </p:nvCxnSpPr>
        <p:spPr>
          <a:xfrm flipH="1">
            <a:off x="6793889" y="3320262"/>
            <a:ext cx="347266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EBF6F02-8466-A426-51D1-E6B4089706B6}"/>
              </a:ext>
            </a:extLst>
          </p:cNvPr>
          <p:cNvCxnSpPr>
            <a:cxnSpLocks/>
          </p:cNvCxnSpPr>
          <p:nvPr/>
        </p:nvCxnSpPr>
        <p:spPr>
          <a:xfrm>
            <a:off x="6705411" y="1536732"/>
            <a:ext cx="0" cy="13716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171664"/>
              </p:ext>
            </p:extLst>
          </p:nvPr>
        </p:nvGraphicFramePr>
        <p:xfrm>
          <a:off x="404453" y="1591570"/>
          <a:ext cx="11383094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8149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631950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4827348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3442299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Goal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source </a:t>
                      </a:r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premake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Use the source code instead of the installation.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test/unit/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400" dirty="0"/>
                        <a:t>makes sure that functions and methods are operating as expected. (Bug-free for every piece)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Free of bugs when parameterizing every piece of the code.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nemd_itest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400" kern="1200" dirty="0">
                          <a:effectLst/>
                        </a:rPr>
                        <a:t> </a:t>
                      </a:r>
                      <a:r>
                        <a:rPr lang="en-US" sz="1400" dirty="0"/>
                        <a:t>makes sure that scripts run without tracebacks and yield reproducible results.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Expected behavior and accuracy when driver and workflow combines pieces.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nemd_ptest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 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Resource efficiency on scaling up.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 err="1"/>
                        <a:t>nemd_stest</a:t>
                      </a:r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400" dirty="0"/>
                        <a:t>ensures the repeatability, correctness and 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400" dirty="0"/>
                        <a:t>scientific outputs. 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400" dirty="0"/>
                        <a:t>Physical meaning and standard deviation.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4679421"/>
              </p:ext>
            </p:extLst>
          </p:nvPr>
        </p:nvGraphicFramePr>
        <p:xfrm>
          <a:off x="9348619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10069832" y="1160852"/>
            <a:ext cx="982289" cy="3139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6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A57C75-0530-DFBC-804F-FE681A5481B6}"/>
              </a:ext>
            </a:extLst>
          </p:cNvPr>
          <p:cNvSpPr txBox="1"/>
          <p:nvPr/>
        </p:nvSpPr>
        <p:spPr>
          <a:xfrm>
            <a:off x="422793" y="6355595"/>
            <a:ext cx="60970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633F-CBF3-EF3B-4E48-8D26D1F96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5031-93D8-A936-7C5B-6D1C1A5A0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3231292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Unit Testing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005D0D-F223-1F94-65FC-E62DB7B920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0BBD2F5-7534-1CD7-43D2-6A9AEC96F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1875880"/>
              </p:ext>
            </p:extLst>
          </p:nvPr>
        </p:nvGraphicFramePr>
        <p:xfrm>
          <a:off x="361233" y="3814120"/>
          <a:ext cx="5734767" cy="257254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70007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1504412">
                  <a:extLst>
                    <a:ext uri="{9D8B030D-6E8A-4147-A177-3AD203B41FA5}">
                      <a16:colId xmlns:a16="http://schemas.microsoft.com/office/drawing/2014/main" val="3804093500"/>
                    </a:ext>
                  </a:extLst>
                </a:gridCol>
                <a:gridCol w="961202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  <a:gridCol w="1385830">
                  <a:extLst>
                    <a:ext uri="{9D8B030D-6E8A-4147-A177-3AD203B41FA5}">
                      <a16:colId xmlns:a16="http://schemas.microsoft.com/office/drawing/2014/main" val="1365888191"/>
                    </a:ext>
                  </a:extLst>
                </a:gridCol>
                <a:gridCol w="913316">
                  <a:extLst>
                    <a:ext uri="{9D8B030D-6E8A-4147-A177-3AD203B41FA5}">
                      <a16:colId xmlns:a16="http://schemas.microsoft.com/office/drawing/2014/main" val="4111230781"/>
                    </a:ext>
                  </a:extLst>
                </a:gridCol>
              </a:tblGrid>
              <a:tr h="70791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PYTEST_ADDOPTS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Type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 (</a:t>
                      </a:r>
                      <a:r>
                        <a:rPr lang="en-US" sz="1400" dirty="0" err="1"/>
                        <a:t>num|sec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0" marR="0"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Avg (sec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T="137160" marB="13716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932314">
                <a:tc rowSpan="2">
                  <a:txBody>
                    <a:bodyPr/>
                    <a:lstStyle/>
                    <a:p>
                      <a:pPr algn="ctr"/>
                      <a:r>
                        <a:rPr lang="en-US" sz="1400" i="1" dirty="0" err="1"/>
                        <a:t>nemd_test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'not slow'"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1732 | 14.71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129 | 6.13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43 | 4.25</a:t>
                      </a:r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0.0132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932314"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i="1" dirty="0"/>
                        <a:t>"-m slow"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driver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  1 | 20.19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1 | 3.95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   no tests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13.49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1139EAB-FAE4-FB7B-AED3-4DD3FAC9C920}"/>
              </a:ext>
            </a:extLst>
          </p:cNvPr>
          <p:cNvSpPr txBox="1"/>
          <p:nvPr/>
        </p:nvSpPr>
        <p:spPr>
          <a:xfrm>
            <a:off x="361233" y="6386661"/>
            <a:ext cx="3071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i="1" dirty="0"/>
              <a:t>* source </a:t>
            </a:r>
            <a:r>
              <a:rPr lang="en-US" sz="1400" i="1" dirty="0" err="1"/>
              <a:t>premake</a:t>
            </a:r>
            <a:r>
              <a:rPr lang="en-US" sz="1400" dirty="0"/>
              <a:t> before running tests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D5B4CE-5718-2280-528F-82EBFA1598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9380772"/>
              </p:ext>
            </p:extLst>
          </p:nvPr>
        </p:nvGraphicFramePr>
        <p:xfrm>
          <a:off x="6301520" y="2515701"/>
          <a:ext cx="5305333" cy="3870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96379">
                  <a:extLst>
                    <a:ext uri="{9D8B030D-6E8A-4147-A177-3AD203B41FA5}">
                      <a16:colId xmlns:a16="http://schemas.microsoft.com/office/drawing/2014/main" val="519871301"/>
                    </a:ext>
                  </a:extLst>
                </a:gridCol>
                <a:gridCol w="883450">
                  <a:extLst>
                    <a:ext uri="{9D8B030D-6E8A-4147-A177-3AD203B41FA5}">
                      <a16:colId xmlns:a16="http://schemas.microsoft.com/office/drawing/2014/main" val="3084682247"/>
                    </a:ext>
                  </a:extLst>
                </a:gridCol>
                <a:gridCol w="946500">
                  <a:extLst>
                    <a:ext uri="{9D8B030D-6E8A-4147-A177-3AD203B41FA5}">
                      <a16:colId xmlns:a16="http://schemas.microsoft.com/office/drawing/2014/main" val="2730536322"/>
                    </a:ext>
                  </a:extLst>
                </a:gridCol>
                <a:gridCol w="1172805">
                  <a:extLst>
                    <a:ext uri="{9D8B030D-6E8A-4147-A177-3AD203B41FA5}">
                      <a16:colId xmlns:a16="http://schemas.microsoft.com/office/drawing/2014/main" val="3113920103"/>
                    </a:ext>
                  </a:extLst>
                </a:gridCol>
                <a:gridCol w="1106199">
                  <a:extLst>
                    <a:ext uri="{9D8B030D-6E8A-4147-A177-3AD203B41FA5}">
                      <a16:colId xmlns:a16="http://schemas.microsoft.com/office/drawing/2014/main" val="1319148285"/>
                    </a:ext>
                  </a:extLst>
                </a:gridCol>
              </a:tblGrid>
              <a:tr h="4777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Command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PYTEST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Dirname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Type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Results</a:t>
                      </a:r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1929244"/>
                  </a:ext>
                </a:extLst>
              </a:tr>
              <a:tr h="1104681"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 err="1"/>
                        <a:t>nemd_cover</a:t>
                      </a:r>
                      <a:endParaRPr lang="en-US" sz="1400" i="1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/>
                        <a:t>"-m ''"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workflow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200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8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30466548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driver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466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0493721"/>
                  </a:ext>
                </a:extLst>
              </a:tr>
              <a:tr h="1104681"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just"/>
                      <a:endParaRPr lang="en-US" sz="1400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module</a:t>
                      </a:r>
                    </a:p>
                    <a:p>
                      <a:pPr algn="ctr"/>
                      <a:endParaRPr lang="en-US" sz="1400" dirty="0"/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statements</a:t>
                      </a:r>
                    </a:p>
                    <a:p>
                      <a:pPr algn="ctr"/>
                      <a:r>
                        <a:rPr lang="en-US" sz="1400" dirty="0"/>
                        <a:t>missing</a:t>
                      </a:r>
                    </a:p>
                    <a:p>
                      <a:pPr algn="ctr"/>
                      <a:r>
                        <a:rPr lang="en-US" sz="1400" dirty="0"/>
                        <a:t>excluded</a:t>
                      </a:r>
                    </a:p>
                    <a:p>
                      <a:pPr algn="ctr"/>
                      <a:r>
                        <a:rPr lang="en-US" sz="1400" dirty="0"/>
                        <a:t>coverage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6088</a:t>
                      </a:r>
                    </a:p>
                    <a:p>
                      <a:pPr algn="ctr"/>
                      <a:r>
                        <a:rPr lang="en-US" sz="1400" dirty="0"/>
                        <a:t>0</a:t>
                      </a:r>
                    </a:p>
                    <a:p>
                      <a:pPr algn="ctr"/>
                      <a:r>
                        <a:rPr lang="en-US" sz="1400" dirty="0"/>
                        <a:t>164</a:t>
                      </a:r>
                    </a:p>
                    <a:p>
                      <a:pPr algn="ctr"/>
                      <a:r>
                        <a:rPr lang="en-US" sz="1400" dirty="0"/>
                        <a:t>100%</a:t>
                      </a:r>
                    </a:p>
                  </a:txBody>
                  <a:tcPr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955903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44CE8A1-94B7-AA2F-211C-76BBBE531409}"/>
              </a:ext>
            </a:extLst>
          </p:cNvPr>
          <p:cNvSpPr txBox="1"/>
          <p:nvPr/>
        </p:nvSpPr>
        <p:spPr>
          <a:xfrm>
            <a:off x="361233" y="1679020"/>
            <a:ext cx="55864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unit tests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DD0116-5DFF-79FB-A652-1E32A9A868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7193985"/>
              </p:ext>
            </p:extLst>
          </p:nvPr>
        </p:nvGraphicFramePr>
        <p:xfrm>
          <a:off x="287092" y="2284237"/>
          <a:ext cx="5734767" cy="12801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46724">
                  <a:extLst>
                    <a:ext uri="{9D8B030D-6E8A-4147-A177-3AD203B41FA5}">
                      <a16:colId xmlns:a16="http://schemas.microsoft.com/office/drawing/2014/main" val="2111335203"/>
                    </a:ext>
                  </a:extLst>
                </a:gridCol>
                <a:gridCol w="3188043">
                  <a:extLst>
                    <a:ext uri="{9D8B030D-6E8A-4147-A177-3AD203B41FA5}">
                      <a16:colId xmlns:a16="http://schemas.microsoft.com/office/drawing/2014/main" val="2492083346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kern="1200" dirty="0">
                          <a:solidFill>
                            <a:schemeClr val="tx1"/>
                          </a:solidFill>
                        </a:rPr>
                        <a:t>$NEMD_SRC/test/unit in parallel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983503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specific 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tests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93504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-s -v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screen and verbose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5729843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lang="en-US" sz="1400" i="1" kern="1200" dirty="0" err="1">
                          <a:solidFill>
                            <a:schemeClr val="tx1"/>
                          </a:solidFill>
                        </a:rPr>
                        <a:t>nemd_test</a:t>
                      </a:r>
                      <a:r>
                        <a:rPr lang="en-US" sz="1400" i="1" kern="1200" dirty="0">
                          <a:solidFill>
                            <a:schemeClr val="tx1"/>
                          </a:solidFill>
                        </a:rPr>
                        <a:t> -m slow [file1 file2...]</a:t>
                      </a:r>
                      <a:endParaRPr lang="en-US" sz="1400" i="1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effectLst/>
                        </a:rPr>
                        <a:t>selected tests marked with slow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8751"/>
                  </a:ext>
                </a:extLst>
              </a:tr>
            </a:tbl>
          </a:graphicData>
        </a:graphic>
      </p:graphicFrame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368FDEB-1B1A-36FF-5EC9-7040891164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213107"/>
              </p:ext>
            </p:extLst>
          </p:nvPr>
        </p:nvGraphicFramePr>
        <p:xfrm>
          <a:off x="6091539" y="853913"/>
          <a:ext cx="5890054" cy="1437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09063">
                  <a:extLst>
                    <a:ext uri="{9D8B030D-6E8A-4147-A177-3AD203B41FA5}">
                      <a16:colId xmlns:a16="http://schemas.microsoft.com/office/drawing/2014/main" val="3331805810"/>
                    </a:ext>
                  </a:extLst>
                </a:gridCol>
                <a:gridCol w="2680991">
                  <a:extLst>
                    <a:ext uri="{9D8B030D-6E8A-4147-A177-3AD203B41FA5}">
                      <a16:colId xmlns:a16="http://schemas.microsoft.com/office/drawing/2014/main" val="1422148830"/>
                    </a:ext>
                  </a:extLst>
                </a:gridCol>
              </a:tblGrid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endParaRPr lang="en-US" sz="1300" i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run analysis, create html, open browser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40872081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driver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all driver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3310005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workflow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</a:t>
                      </a:r>
                      <a:r>
                        <a:rPr lang="en-US" sz="13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test_workflow_test.py</a:t>
                      </a:r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only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3814008"/>
                  </a:ext>
                </a:extLst>
              </a:tr>
              <a:tr h="359346">
                <a:tc>
                  <a:txBody>
                    <a:bodyPr/>
                    <a:lstStyle/>
                    <a:p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nemd_cover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module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cru_test.py</a:t>
                      </a:r>
                      <a:r>
                        <a:rPr lang="en-US" sz="1300" i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1300" i="1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osutils_test.py</a:t>
                      </a:r>
                      <a:endParaRPr lang="en-US" sz="1300" i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analyze multiple specific tests</a:t>
                      </a:r>
                    </a:p>
                  </a:txBody>
                  <a:tcPr marL="0" marR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07649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6A96FABA-B7F8-19BB-7F66-729319E7CC40}"/>
              </a:ext>
            </a:extLst>
          </p:cNvPr>
          <p:cNvSpPr txBox="1"/>
          <p:nvPr/>
        </p:nvSpPr>
        <p:spPr>
          <a:xfrm>
            <a:off x="6227805" y="290983"/>
            <a:ext cx="54616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 coverage analysis and generate report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5D73A7-D2DF-1EC9-CEE2-6582208A7EC9}"/>
              </a:ext>
            </a:extLst>
          </p:cNvPr>
          <p:cNvSpPr txBox="1"/>
          <p:nvPr/>
        </p:nvSpPr>
        <p:spPr>
          <a:xfrm>
            <a:off x="6301520" y="6385023"/>
            <a:ext cx="35895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Excluded: </a:t>
            </a:r>
            <a:r>
              <a:rPr lang="en-US" sz="1400" b="0" i="0" dirty="0">
                <a:solidFill>
                  <a:schemeClr val="bg1">
                    <a:lumMod val="50000"/>
                  </a:schemeClr>
                </a:solidFill>
                <a:effectLst/>
                <a:latin typeface="SFMono-Regular"/>
              </a:rPr>
              <a:t>__main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FMono-Regular"/>
              </a:rPr>
              <a:t>__,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FMono-Regular"/>
              </a:rPr>
              <a:t>numba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FMono-Regular"/>
              </a:rPr>
              <a:t>, platform-specific</a:t>
            </a:r>
          </a:p>
        </p:txBody>
      </p:sp>
    </p:spTree>
    <p:extLst>
      <p:ext uri="{BB962C8B-B14F-4D97-AF65-F5344CB8AC3E}">
        <p14:creationId xmlns:p14="http://schemas.microsoft.com/office/powerpoint/2010/main" val="356122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920770"/>
              </p:ext>
            </p:extLst>
          </p:nvPr>
        </p:nvGraphicFramePr>
        <p:xfrm>
          <a:off x="6473375" y="431766"/>
          <a:ext cx="526868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84324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384362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commands to check the results against expectations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Test t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ags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 shell syntax  </a:t>
                      </a: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44051"/>
              </p:ext>
            </p:extLst>
          </p:nvPr>
        </p:nvGraphicFramePr>
        <p:xfrm>
          <a:off x="6473375" y="2078219"/>
          <a:ext cx="526868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76400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5922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Check Command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>
                          <a:effectLst/>
                        </a:rPr>
                        <a:t>general shell </a:t>
                      </a:r>
                      <a:r>
                        <a:rPr lang="en-US" sz="1400" i="1" kern="1200" dirty="0" err="1">
                          <a:effectLst/>
                        </a:rPr>
                        <a:t>cmd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exist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 existence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glob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Match number from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has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strings in file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</a:t>
                      </a:r>
                      <a:r>
                        <a:rPr lang="en-US" sz="1400" i="1" kern="1200" dirty="0" err="1">
                          <a:effectLst/>
                        </a:rPr>
                        <a:t>cmp</a:t>
                      </a:r>
                      <a:endParaRPr lang="en-US" sz="1400" i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i="1" kern="1200" dirty="0" err="1">
                          <a:effectLst/>
                        </a:rPr>
                        <a:t>nemd_check</a:t>
                      </a:r>
                      <a:r>
                        <a:rPr lang="en-US" sz="1400" i="1" kern="1200" dirty="0">
                          <a:effectLst/>
                        </a:rPr>
                        <a:t> </a:t>
                      </a:r>
                      <a:r>
                        <a:rPr lang="en-US" sz="140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4019824"/>
              </p:ext>
            </p:extLst>
          </p:nvPr>
        </p:nvGraphicFramePr>
        <p:xfrm>
          <a:off x="6473375" y="4334400"/>
          <a:ext cx="5268685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862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120056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Key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(-NAME in the .log)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504827" y="1281054"/>
            <a:ext cx="6055630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test/integration/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</a:t>
            </a: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dirty="0"/>
              <a:t>==&gt; </a:t>
            </a:r>
            <a:r>
              <a:rPr lang="en-US" sz="1400" dirty="0" err="1"/>
              <a:t>cmd</a:t>
            </a:r>
            <a:r>
              <a:rPr lang="en-US" sz="1400" dirty="0"/>
              <a:t> &lt;==</a:t>
            </a:r>
          </a:p>
          <a:p>
            <a:r>
              <a:rPr lang="en-US" sz="1400" dirty="0"/>
              <a:t># Performance: [</a:t>
            </a:r>
            <a:r>
              <a:rPr lang="en-US" sz="1400" dirty="0" err="1"/>
              <a:t>Ar</a:t>
            </a:r>
            <a:r>
              <a:rPr lang="en-US" sz="1400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dirty="0"/>
          </a:p>
          <a:p>
            <a:r>
              <a:rPr lang="en-US" sz="1400" dirty="0"/>
              <a:t>==&gt; check &lt;==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collect </a:t>
            </a:r>
            <a:r>
              <a:rPr lang="en-US" sz="1400" i="1" dirty="0" err="1"/>
              <a:t>task_time</a:t>
            </a:r>
            <a:r>
              <a:rPr lang="en-US" sz="1400" i="1" dirty="0"/>
              <a:t> memory</a:t>
            </a:r>
          </a:p>
          <a:p>
            <a:r>
              <a:rPr lang="en-US" sz="1400" i="1" dirty="0" err="1"/>
              <a:t>nemd_check</a:t>
            </a:r>
            <a:r>
              <a:rPr lang="en-US" sz="1400" i="1" dirty="0"/>
              <a:t> exist </a:t>
            </a:r>
            <a:r>
              <a:rPr lang="en-US" sz="1400" i="1" dirty="0" err="1"/>
              <a:t>collect.csv</a:t>
            </a:r>
            <a:r>
              <a:rPr lang="en-US" sz="1400" i="1" dirty="0"/>
              <a:t> </a:t>
            </a:r>
            <a:r>
              <a:rPr lang="en-US" sz="1400" i="1" dirty="0" err="1"/>
              <a:t>collect.png</a:t>
            </a:r>
            <a:endParaRPr lang="en-US" sz="1400" i="1" dirty="0"/>
          </a:p>
          <a:p>
            <a:endParaRPr lang="en-US" sz="1400" dirty="0"/>
          </a:p>
          <a:p>
            <a:r>
              <a:rPr lang="en-US" sz="1400" dirty="0"/>
              <a:t>==&gt; tag &lt;==</a:t>
            </a:r>
          </a:p>
          <a:p>
            <a:r>
              <a:rPr lang="en-US" sz="1400" dirty="0"/>
              <a:t>slow 100.0 00:00:04 50000.0 00:00:05</a:t>
            </a:r>
          </a:p>
          <a:p>
            <a:r>
              <a:rPr lang="en-US" sz="1400" dirty="0"/>
              <a:t>label </a:t>
            </a:r>
            <a:r>
              <a:rPr lang="en-US" sz="1400" dirty="0" err="1"/>
              <a:t>number_of_molecules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/>
              <a:t>==&gt; param &lt;==</a:t>
            </a:r>
          </a:p>
          <a:p>
            <a:r>
              <a:rPr lang="en-US" sz="1400" dirty="0"/>
              <a:t># Number of Molecules</a:t>
            </a:r>
          </a:p>
          <a:p>
            <a:r>
              <a:rPr lang="en-US" sz="1400" dirty="0"/>
              <a:t>100</a:t>
            </a:r>
          </a:p>
          <a:p>
            <a:r>
              <a:rPr lang="en-US" sz="1400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2872198"/>
              </p:ext>
            </p:extLst>
          </p:nvPr>
        </p:nvGraphicFramePr>
        <p:xfrm>
          <a:off x="6473375" y="5469752"/>
          <a:ext cx="526868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05229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4216392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Param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names the parameter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command(s)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605370"/>
              </p:ext>
            </p:extLst>
          </p:nvPr>
        </p:nvGraphicFramePr>
        <p:xfrm>
          <a:off x="1066800" y="1130301"/>
          <a:ext cx="9963150" cy="52120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061362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5901788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2102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42044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reproducibility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efficiency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of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dirname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DIRNAME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223070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42044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297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 tasks and register outputs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2978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per-task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off,serial,parallel,job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3015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True: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False: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  <a:tr h="1751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-copy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Copy test data into the working directory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6077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into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CRU: initiator, monomer, terminator, and regular molecule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-grow: grow molecules from the smallest rigid fragments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scaled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Only Stillinger-Weber potential supported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3619986"/>
              </p:ext>
            </p:extLst>
          </p:nvPr>
        </p:nvGraphicFramePr>
        <p:xfrm>
          <a:off x="6327263" y="117318"/>
          <a:ext cx="5640294" cy="631617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09300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6317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66276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62087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239456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Integration Test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method/driver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Molecule/Polymer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Structure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Comment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grid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Single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mol_bldr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2(2)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CCCC (120)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Set Geom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3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mol_bldr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1(3)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Measure 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en-US" sz="950" b="0" i="0" u="none" strike="noStrike" dirty="0">
                        <a:solidFill>
                          <a:schemeClr val="accent2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 | 10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CCCCCC(C)O [Ar]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5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Pack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CC(=O)O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Single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6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11(6)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chemeClr val="accent5">
                              <a:lumMod val="75000"/>
                            </a:schemeClr>
                          </a:solidFill>
                          <a:effectLst/>
                          <a:latin typeface="+mn-lt"/>
                        </a:rPr>
                        <a:t>7</a:t>
                      </a:r>
                      <a:endParaRPr lang="en-US" sz="950" b="0" i="0" u="none" strike="noStrike" dirty="0">
                        <a:solidFill>
                          <a:schemeClr val="accent5">
                            <a:lumMod val="7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11(6)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Reduced Density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Grow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C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O CCCO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Mol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3(5)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*CC(O)*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5(3) | 15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*CC(*)C(=O)O CN(C)C=O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Polym | Mol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12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5(5)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Relocation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13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10 | 10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 CCCC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Failed Initialization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1(200)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*CC*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Single Long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10(100)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*CC(*)C(=O)O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Multi Long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TIP3P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17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SPCE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SPC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19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CC(=O)C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CCC(=O)CC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23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CC(C)(C)C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24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CC(C)CC(=O)C(C)(C)C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25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O CCCO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[Li+].[F-]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27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[Na+].[Cl-]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[Br-].[Mg+2].[Br-]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29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10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[K+].[Br-]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30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5 | 5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</a:t>
                      </a:r>
                      <a:r>
                        <a:rPr lang="en-US" sz="950" u="none" strike="noStrike" dirty="0" err="1">
                          <a:effectLst/>
                          <a:latin typeface="+mn-lt"/>
                        </a:rPr>
                        <a:t>Rb</a:t>
                      </a:r>
                      <a:r>
                        <a:rPr lang="en-US" sz="950" u="none" strike="noStrike" dirty="0">
                          <a:effectLst/>
                          <a:latin typeface="+mn-lt"/>
                        </a:rPr>
                        <a:t>+].[Cl-] [Cs+].[Br-]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31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5 | 5 | 5 | 5 | 5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[He] [Ne] [</a:t>
                      </a:r>
                      <a:r>
                        <a:rPr lang="en-US" sz="950" u="none" strike="noStrike" dirty="0" err="1">
                          <a:effectLst/>
                          <a:latin typeface="+mn-lt"/>
                        </a:rPr>
                        <a:t>Ar</a:t>
                      </a:r>
                      <a:r>
                        <a:rPr lang="en-US" sz="950" u="none" strike="noStrike" dirty="0">
                          <a:effectLst/>
                          <a:latin typeface="+mn-lt"/>
                        </a:rPr>
                        <a:t>] [Kr] [Xe]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32</a:t>
                      </a:r>
                      <a:endParaRPr lang="en-US" sz="950" b="0" i="0" u="none" strike="noStrike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>
                          <a:effectLst/>
                          <a:latin typeface="+mn-lt"/>
                        </a:rPr>
                        <a:t>1 | 1| 1| 6</a:t>
                      </a:r>
                      <a:endParaRPr lang="en-US" sz="95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u="none" strike="noStrike" dirty="0">
                          <a:effectLst/>
                          <a:latin typeface="+mn-lt"/>
                        </a:rPr>
                        <a:t>[Ca+2] [Sr+2] [Ba+2] [Cl-]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i="1" dirty="0" err="1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</a:rPr>
                        <a:t>xtal_bldr</a:t>
                      </a:r>
                      <a:endParaRPr lang="en-US" sz="950" b="0" i="0" u="none" strike="noStrike" dirty="0">
                        <a:solidFill>
                          <a:schemeClr val="bg1">
                            <a:lumMod val="50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"C*.*CC*.C*"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mono, 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ter</a:t>
                      </a:r>
                      <a:endParaRPr lang="en-US" sz="95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63178255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"[*:1]C([*:1])([*:1]).*C*"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with multiple stars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239140001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"*C"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terminator only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06581777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"[*:1]C([*:1])[*:1]"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initiator only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54529324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"[*:1]C([*:1])[*:1].C*"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initiator, terminator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32911340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No Relaxation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86966376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Performance (mol num)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581497169"/>
                  </a:ext>
                </a:extLst>
              </a:tr>
              <a:tr h="146304"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950" b="0" i="0" u="none" strike="noStrike" dirty="0">
                        <a:solidFill>
                          <a:schemeClr val="accent6"/>
                        </a:solidFill>
                        <a:effectLst/>
                        <a:latin typeface="+mn-lt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[</a:t>
                      </a:r>
                      <a:r>
                        <a:rPr lang="en-US" sz="95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Ar</a:t>
                      </a:r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]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5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Performance (Press)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06503931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337538" y="6418388"/>
            <a:ext cx="5534998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i="1" dirty="0" err="1">
                <a:solidFill>
                  <a:schemeClr val="bg1">
                    <a:lumMod val="50000"/>
                  </a:schemeClr>
                </a:solidFill>
              </a:rPr>
              <a:t>amorp_bldr_driver.py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1100" dirty="0"/>
              <a:t>as driver unless noted otherwise</a:t>
            </a:r>
          </a:p>
          <a:p>
            <a:r>
              <a:rPr lang="en-US" sz="1100" dirty="0"/>
              <a:t>composition separated by |, repeat unit number inside (), polymerization capping atoms as *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03434" y="6356350"/>
            <a:ext cx="1050365" cy="365125"/>
          </a:xfrm>
        </p:spPr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3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696683"/>
              </p:ext>
            </p:extLst>
          </p:nvPr>
        </p:nvGraphicFramePr>
        <p:xfrm>
          <a:off x="6334298" y="3058204"/>
          <a:ext cx="5544589" cy="328605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datafile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81509147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Single atom and Single frame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15782957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13072" y="121487"/>
            <a:ext cx="5544589" cy="293956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runs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 with different geometries,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8900205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True,False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  <a:p>
            <a:endParaRPr lang="en-US" sz="2400" dirty="0"/>
          </a:p>
          <a:p>
            <a:endParaRPr lang="en-US" sz="2400" dirty="0"/>
          </a:p>
          <a:p>
            <a:pPr marL="0" indent="0">
              <a:buNone/>
            </a:pPr>
            <a:r>
              <a:rPr lang="en-US" sz="1500" dirty="0"/>
              <a:t>https://</a:t>
            </a:r>
            <a:r>
              <a:rPr lang="en-US" sz="1500" dirty="0" err="1"/>
              <a:t>mattermodeling.stackexchange.com</a:t>
            </a:r>
            <a:r>
              <a:rPr lang="en-US" sz="1500" dirty="0"/>
              <a:t>/questions/8932/what-are-some-open-source-codes-that-can-generate-potentials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11772</TotalTime>
  <Words>4057</Words>
  <Application>Microsoft Macintosh PowerPoint</Application>
  <PresentationFormat>Widescreen</PresentationFormat>
  <Paragraphs>775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SFMono-Regular</vt:lpstr>
      <vt:lpstr>Times New Roman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Unit Testing</vt:lpstr>
      <vt:lpstr>Integration Test</vt:lpstr>
      <vt:lpstr>test_workflow.py</vt:lpstr>
      <vt:lpstr>PowerPoint Presentation</vt:lpstr>
      <vt:lpstr>PowerPoint Presentation</vt:lpstr>
      <vt:lpstr>Performance Test</vt:lpstr>
      <vt:lpstr>Scientific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407</cp:revision>
  <dcterms:created xsi:type="dcterms:W3CDTF">2024-07-22T15:38:28Z</dcterms:created>
  <dcterms:modified xsi:type="dcterms:W3CDTF">2025-09-12T13:11:01Z</dcterms:modified>
</cp:coreProperties>
</file>