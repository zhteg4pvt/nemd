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9" r:id="rId4"/>
    <p:sldId id="266" r:id="rId5"/>
    <p:sldId id="258" r:id="rId6"/>
    <p:sldId id="264" r:id="rId7"/>
    <p:sldId id="270" r:id="rId8"/>
    <p:sldId id="269" r:id="rId9"/>
    <p:sldId id="261" r:id="rId10"/>
    <p:sldId id="263" r:id="rId11"/>
    <p:sldId id="262" r:id="rId12"/>
    <p:sldId id="271" r:id="rId13"/>
    <p:sldId id="268" r:id="rId14"/>
    <p:sldId id="267" r:id="rId15"/>
    <p:sldId id="265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8FD4443E-F989-4FC4-A0C8-D5A2AF1F390B}" styleName="Dark Style 1 - Accent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443"/>
    <p:restoredTop sz="96247"/>
  </p:normalViewPr>
  <p:slideViewPr>
    <p:cSldViewPr snapToGrid="0" snapToObjects="1">
      <p:cViewPr varScale="1">
        <p:scale>
          <a:sx n="154" d="100"/>
          <a:sy n="154" d="100"/>
        </p:scale>
        <p:origin x="128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1">
  <dgm:title val=""/>
  <dgm:desc val=""/>
  <dgm:catLst>
    <dgm:cat type="accent1" pri="11100"/>
  </dgm:catLst>
  <dgm:styleLbl name="node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1">
        <a:alpha val="4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0B797DE-B755-7C43-92B3-1C539C1D8D92}" type="doc">
      <dgm:prSet loTypeId="urn:microsoft.com/office/officeart/2005/8/layout/cycle7" loCatId="" qsTypeId="urn:microsoft.com/office/officeart/2005/8/quickstyle/simple3" qsCatId="simple" csTypeId="urn:microsoft.com/office/officeart/2005/8/colors/accent1_1" csCatId="accent1" phldr="1"/>
      <dgm:spPr/>
      <dgm:t>
        <a:bodyPr/>
        <a:lstStyle/>
        <a:p>
          <a:endParaRPr lang="en-US"/>
        </a:p>
      </dgm:t>
    </dgm:pt>
    <dgm:pt modelId="{AD6F4435-FC1F-C54F-96B8-CB501F0D4AEA}">
      <dgm:prSet phldrT="[Text]">
        <dgm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dirty="0"/>
            <a:t>Accurate </a:t>
          </a:r>
          <a:r>
            <a:rPr lang="en-US" dirty="0">
              <a:solidFill>
                <a:schemeClr val="accent6"/>
              </a:solidFill>
              <a:effectLst/>
            </a:rPr>
            <a:t>Integration</a:t>
          </a:r>
          <a:endParaRPr lang="en-US" dirty="0"/>
        </a:p>
      </dgm:t>
    </dgm:pt>
    <dgm:pt modelId="{A14A3990-18FA-5340-8266-5E4D65BF55A9}" type="parTrans" cxnId="{5BEBEF84-E776-7349-8A6C-4724F91CB4F5}">
      <dgm:prSet/>
      <dgm:spPr/>
      <dgm:t>
        <a:bodyPr/>
        <a:lstStyle/>
        <a:p>
          <a:endParaRPr lang="en-US"/>
        </a:p>
      </dgm:t>
    </dgm:pt>
    <dgm:pt modelId="{6AB1D38D-58E1-F947-9F2A-DCF29BABA13A}" type="sibTrans" cxnId="{5BEBEF84-E776-7349-8A6C-4724F91CB4F5}">
      <dgm:prSet/>
      <dgm:spPr/>
      <dgm:t>
        <a:bodyPr/>
        <a:lstStyle/>
        <a:p>
          <a:endParaRPr lang="en-US"/>
        </a:p>
      </dgm:t>
    </dgm:pt>
    <dgm:pt modelId="{8F0B2263-A744-214C-8D37-B40F9D988D0B}">
      <dgm:prSet phldrT="[Text]">
        <dgm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dirty="0"/>
            <a:t>Efficient </a:t>
          </a:r>
          <a:r>
            <a:rPr lang="en-US" dirty="0">
              <a:solidFill>
                <a:schemeClr val="accent1"/>
              </a:solidFill>
            </a:rPr>
            <a:t>Performance</a:t>
          </a:r>
          <a:endParaRPr lang="en-US" dirty="0"/>
        </a:p>
      </dgm:t>
    </dgm:pt>
    <dgm:pt modelId="{F3BC5860-2BEB-A843-B323-70DE68653ABF}" type="parTrans" cxnId="{048D6CA4-8BEC-8546-91FA-E5B0B6E89546}">
      <dgm:prSet/>
      <dgm:spPr/>
      <dgm:t>
        <a:bodyPr/>
        <a:lstStyle/>
        <a:p>
          <a:endParaRPr lang="en-US"/>
        </a:p>
      </dgm:t>
    </dgm:pt>
    <dgm:pt modelId="{296F964E-CDA0-044A-B00E-C9CF3F11E2B9}" type="sibTrans" cxnId="{048D6CA4-8BEC-8546-91FA-E5B0B6E89546}">
      <dgm:prSet/>
      <dgm:spPr/>
      <dgm:t>
        <a:bodyPr/>
        <a:lstStyle/>
        <a:p>
          <a:endParaRPr lang="en-US"/>
        </a:p>
      </dgm:t>
    </dgm:pt>
    <dgm:pt modelId="{DFBC8459-7D84-C644-AB23-B95A73728839}">
      <dgm:prSet phldrT="[Text]">
        <dgm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dirty="0"/>
            <a:t>Physical </a:t>
          </a:r>
          <a:r>
            <a:rPr lang="en-US" dirty="0">
              <a:solidFill>
                <a:schemeClr val="accent2"/>
              </a:solidFill>
              <a:latin typeface="+mn-lt"/>
              <a:ea typeface="+mn-ea"/>
              <a:cs typeface="+mn-cs"/>
            </a:rPr>
            <a:t>Scientific</a:t>
          </a:r>
          <a:endParaRPr lang="en-US" dirty="0"/>
        </a:p>
      </dgm:t>
    </dgm:pt>
    <dgm:pt modelId="{BB478CC1-AA79-C74A-A4BF-60E9BEB7E735}" type="parTrans" cxnId="{95D58CD8-2FDE-614D-AB83-ABAC0FCDF24B}">
      <dgm:prSet/>
      <dgm:spPr/>
      <dgm:t>
        <a:bodyPr/>
        <a:lstStyle/>
        <a:p>
          <a:endParaRPr lang="en-US"/>
        </a:p>
      </dgm:t>
    </dgm:pt>
    <dgm:pt modelId="{F487EBAA-60F2-1144-94CA-3BA53771BB05}" type="sibTrans" cxnId="{95D58CD8-2FDE-614D-AB83-ABAC0FCDF24B}">
      <dgm:prSet/>
      <dgm:spPr/>
      <dgm:t>
        <a:bodyPr/>
        <a:lstStyle/>
        <a:p>
          <a:endParaRPr lang="en-US"/>
        </a:p>
      </dgm:t>
    </dgm:pt>
    <dgm:pt modelId="{B2BFA72D-9850-0B46-B92C-E0C2011EE45C}" type="pres">
      <dgm:prSet presAssocID="{80B797DE-B755-7C43-92B3-1C539C1D8D92}" presName="Name0" presStyleCnt="0">
        <dgm:presLayoutVars>
          <dgm:dir/>
          <dgm:resizeHandles val="exact"/>
        </dgm:presLayoutVars>
      </dgm:prSet>
      <dgm:spPr/>
    </dgm:pt>
    <dgm:pt modelId="{5D91C630-3A03-9A4D-92A7-A63559EA8DC0}" type="pres">
      <dgm:prSet presAssocID="{AD6F4435-FC1F-C54F-96B8-CB501F0D4AEA}" presName="node" presStyleLbl="node1" presStyleIdx="0" presStyleCnt="3">
        <dgm:presLayoutVars>
          <dgm:bulletEnabled val="1"/>
        </dgm:presLayoutVars>
      </dgm:prSet>
      <dgm:spPr/>
    </dgm:pt>
    <dgm:pt modelId="{4241FF00-BD33-6F4D-9245-04848D8009D0}" type="pres">
      <dgm:prSet presAssocID="{6AB1D38D-58E1-F947-9F2A-DCF29BABA13A}" presName="sibTrans" presStyleLbl="sibTrans2D1" presStyleIdx="0" presStyleCnt="3"/>
      <dgm:spPr/>
    </dgm:pt>
    <dgm:pt modelId="{2B37395C-7716-964C-8CE6-58290DDC1DDE}" type="pres">
      <dgm:prSet presAssocID="{6AB1D38D-58E1-F947-9F2A-DCF29BABA13A}" presName="connectorText" presStyleLbl="sibTrans2D1" presStyleIdx="0" presStyleCnt="3"/>
      <dgm:spPr/>
    </dgm:pt>
    <dgm:pt modelId="{06AB1FA4-15EB-1B4E-AF9D-E691626A6CD3}" type="pres">
      <dgm:prSet presAssocID="{8F0B2263-A744-214C-8D37-B40F9D988D0B}" presName="node" presStyleLbl="node1" presStyleIdx="1" presStyleCnt="3">
        <dgm:presLayoutVars>
          <dgm:bulletEnabled val="1"/>
        </dgm:presLayoutVars>
      </dgm:prSet>
      <dgm:spPr/>
    </dgm:pt>
    <dgm:pt modelId="{174ABFCD-3EE4-2E4E-A36A-F93100215715}" type="pres">
      <dgm:prSet presAssocID="{296F964E-CDA0-044A-B00E-C9CF3F11E2B9}" presName="sibTrans" presStyleLbl="sibTrans2D1" presStyleIdx="1" presStyleCnt="3"/>
      <dgm:spPr/>
    </dgm:pt>
    <dgm:pt modelId="{3AC2A499-7104-5B4D-885F-25112C55B681}" type="pres">
      <dgm:prSet presAssocID="{296F964E-CDA0-044A-B00E-C9CF3F11E2B9}" presName="connectorText" presStyleLbl="sibTrans2D1" presStyleIdx="1" presStyleCnt="3"/>
      <dgm:spPr/>
    </dgm:pt>
    <dgm:pt modelId="{8113D230-3331-3247-B32B-AB5DD383B133}" type="pres">
      <dgm:prSet presAssocID="{DFBC8459-7D84-C644-AB23-B95A73728839}" presName="node" presStyleLbl="node1" presStyleIdx="2" presStyleCnt="3">
        <dgm:presLayoutVars>
          <dgm:bulletEnabled val="1"/>
        </dgm:presLayoutVars>
      </dgm:prSet>
      <dgm:spPr/>
    </dgm:pt>
    <dgm:pt modelId="{2C59713A-67B1-654F-8562-9167BDEFF8AB}" type="pres">
      <dgm:prSet presAssocID="{F487EBAA-60F2-1144-94CA-3BA53771BB05}" presName="sibTrans" presStyleLbl="sibTrans2D1" presStyleIdx="2" presStyleCnt="3"/>
      <dgm:spPr/>
    </dgm:pt>
    <dgm:pt modelId="{26147F30-F3B3-E34B-9559-A373D0F538AE}" type="pres">
      <dgm:prSet presAssocID="{F487EBAA-60F2-1144-94CA-3BA53771BB05}" presName="connectorText" presStyleLbl="sibTrans2D1" presStyleIdx="2" presStyleCnt="3"/>
      <dgm:spPr/>
    </dgm:pt>
  </dgm:ptLst>
  <dgm:cxnLst>
    <dgm:cxn modelId="{635CE409-64B5-9A41-824A-3547A419E85F}" type="presOf" srcId="{DFBC8459-7D84-C644-AB23-B95A73728839}" destId="{8113D230-3331-3247-B32B-AB5DD383B133}" srcOrd="0" destOrd="0" presId="urn:microsoft.com/office/officeart/2005/8/layout/cycle7"/>
    <dgm:cxn modelId="{67ACAB12-7397-6E46-AD0A-6F67144C5EEF}" type="presOf" srcId="{6AB1D38D-58E1-F947-9F2A-DCF29BABA13A}" destId="{2B37395C-7716-964C-8CE6-58290DDC1DDE}" srcOrd="1" destOrd="0" presId="urn:microsoft.com/office/officeart/2005/8/layout/cycle7"/>
    <dgm:cxn modelId="{171C0E16-D89F-D04F-AFBE-8464B25FCD66}" type="presOf" srcId="{296F964E-CDA0-044A-B00E-C9CF3F11E2B9}" destId="{174ABFCD-3EE4-2E4E-A36A-F93100215715}" srcOrd="0" destOrd="0" presId="urn:microsoft.com/office/officeart/2005/8/layout/cycle7"/>
    <dgm:cxn modelId="{9A9BD41B-95C9-6941-8578-43ECF87E6014}" type="presOf" srcId="{80B797DE-B755-7C43-92B3-1C539C1D8D92}" destId="{B2BFA72D-9850-0B46-B92C-E0C2011EE45C}" srcOrd="0" destOrd="0" presId="urn:microsoft.com/office/officeart/2005/8/layout/cycle7"/>
    <dgm:cxn modelId="{BCF6082E-22CF-5949-8EF9-8A883F2A2122}" type="presOf" srcId="{6AB1D38D-58E1-F947-9F2A-DCF29BABA13A}" destId="{4241FF00-BD33-6F4D-9245-04848D8009D0}" srcOrd="0" destOrd="0" presId="urn:microsoft.com/office/officeart/2005/8/layout/cycle7"/>
    <dgm:cxn modelId="{5DFFAE3D-434A-0D4A-A189-D478856ECEC9}" type="presOf" srcId="{AD6F4435-FC1F-C54F-96B8-CB501F0D4AEA}" destId="{5D91C630-3A03-9A4D-92A7-A63559EA8DC0}" srcOrd="0" destOrd="0" presId="urn:microsoft.com/office/officeart/2005/8/layout/cycle7"/>
    <dgm:cxn modelId="{208D8A54-4214-F44C-A217-FC36C25AEF7A}" type="presOf" srcId="{8F0B2263-A744-214C-8D37-B40F9D988D0B}" destId="{06AB1FA4-15EB-1B4E-AF9D-E691626A6CD3}" srcOrd="0" destOrd="0" presId="urn:microsoft.com/office/officeart/2005/8/layout/cycle7"/>
    <dgm:cxn modelId="{5BEBEF84-E776-7349-8A6C-4724F91CB4F5}" srcId="{80B797DE-B755-7C43-92B3-1C539C1D8D92}" destId="{AD6F4435-FC1F-C54F-96B8-CB501F0D4AEA}" srcOrd="0" destOrd="0" parTransId="{A14A3990-18FA-5340-8266-5E4D65BF55A9}" sibTransId="{6AB1D38D-58E1-F947-9F2A-DCF29BABA13A}"/>
    <dgm:cxn modelId="{EFA7C08E-5202-5848-BC80-75787CF06D7D}" type="presOf" srcId="{F487EBAA-60F2-1144-94CA-3BA53771BB05}" destId="{2C59713A-67B1-654F-8562-9167BDEFF8AB}" srcOrd="0" destOrd="0" presId="urn:microsoft.com/office/officeart/2005/8/layout/cycle7"/>
    <dgm:cxn modelId="{048D6CA4-8BEC-8546-91FA-E5B0B6E89546}" srcId="{80B797DE-B755-7C43-92B3-1C539C1D8D92}" destId="{8F0B2263-A744-214C-8D37-B40F9D988D0B}" srcOrd="1" destOrd="0" parTransId="{F3BC5860-2BEB-A843-B323-70DE68653ABF}" sibTransId="{296F964E-CDA0-044A-B00E-C9CF3F11E2B9}"/>
    <dgm:cxn modelId="{2D9797C7-8F9F-9444-88F4-5935A5D65C02}" type="presOf" srcId="{296F964E-CDA0-044A-B00E-C9CF3F11E2B9}" destId="{3AC2A499-7104-5B4D-885F-25112C55B681}" srcOrd="1" destOrd="0" presId="urn:microsoft.com/office/officeart/2005/8/layout/cycle7"/>
    <dgm:cxn modelId="{95D58CD8-2FDE-614D-AB83-ABAC0FCDF24B}" srcId="{80B797DE-B755-7C43-92B3-1C539C1D8D92}" destId="{DFBC8459-7D84-C644-AB23-B95A73728839}" srcOrd="2" destOrd="0" parTransId="{BB478CC1-AA79-C74A-A4BF-60E9BEB7E735}" sibTransId="{F487EBAA-60F2-1144-94CA-3BA53771BB05}"/>
    <dgm:cxn modelId="{6B90BEDD-890C-A94C-A5CD-36CDB66940C6}" type="presOf" srcId="{F487EBAA-60F2-1144-94CA-3BA53771BB05}" destId="{26147F30-F3B3-E34B-9559-A373D0F538AE}" srcOrd="1" destOrd="0" presId="urn:microsoft.com/office/officeart/2005/8/layout/cycle7"/>
    <dgm:cxn modelId="{337DD788-E56D-F74A-9408-58A5203C47B6}" type="presParOf" srcId="{B2BFA72D-9850-0B46-B92C-E0C2011EE45C}" destId="{5D91C630-3A03-9A4D-92A7-A63559EA8DC0}" srcOrd="0" destOrd="0" presId="urn:microsoft.com/office/officeart/2005/8/layout/cycle7"/>
    <dgm:cxn modelId="{4E62766D-3526-B34D-82B5-40FC1B9AB030}" type="presParOf" srcId="{B2BFA72D-9850-0B46-B92C-E0C2011EE45C}" destId="{4241FF00-BD33-6F4D-9245-04848D8009D0}" srcOrd="1" destOrd="0" presId="urn:microsoft.com/office/officeart/2005/8/layout/cycle7"/>
    <dgm:cxn modelId="{891E2B81-1796-F340-A150-70BE24DFE44A}" type="presParOf" srcId="{4241FF00-BD33-6F4D-9245-04848D8009D0}" destId="{2B37395C-7716-964C-8CE6-58290DDC1DDE}" srcOrd="0" destOrd="0" presId="urn:microsoft.com/office/officeart/2005/8/layout/cycle7"/>
    <dgm:cxn modelId="{B72B36B1-E06A-0C4D-94B5-A4B25E07F9FA}" type="presParOf" srcId="{B2BFA72D-9850-0B46-B92C-E0C2011EE45C}" destId="{06AB1FA4-15EB-1B4E-AF9D-E691626A6CD3}" srcOrd="2" destOrd="0" presId="urn:microsoft.com/office/officeart/2005/8/layout/cycle7"/>
    <dgm:cxn modelId="{85565C7B-118D-9049-8B42-4D65B2ACCE72}" type="presParOf" srcId="{B2BFA72D-9850-0B46-B92C-E0C2011EE45C}" destId="{174ABFCD-3EE4-2E4E-A36A-F93100215715}" srcOrd="3" destOrd="0" presId="urn:microsoft.com/office/officeart/2005/8/layout/cycle7"/>
    <dgm:cxn modelId="{7EFCC53B-A281-F84B-9AFF-23F9E5C1249A}" type="presParOf" srcId="{174ABFCD-3EE4-2E4E-A36A-F93100215715}" destId="{3AC2A499-7104-5B4D-885F-25112C55B681}" srcOrd="0" destOrd="0" presId="urn:microsoft.com/office/officeart/2005/8/layout/cycle7"/>
    <dgm:cxn modelId="{D742C95C-BB2F-1B46-9D9B-9D2ADB430330}" type="presParOf" srcId="{B2BFA72D-9850-0B46-B92C-E0C2011EE45C}" destId="{8113D230-3331-3247-B32B-AB5DD383B133}" srcOrd="4" destOrd="0" presId="urn:microsoft.com/office/officeart/2005/8/layout/cycle7"/>
    <dgm:cxn modelId="{AD5748C8-6F9F-644C-A595-6011A353215D}" type="presParOf" srcId="{B2BFA72D-9850-0B46-B92C-E0C2011EE45C}" destId="{2C59713A-67B1-654F-8562-9167BDEFF8AB}" srcOrd="5" destOrd="0" presId="urn:microsoft.com/office/officeart/2005/8/layout/cycle7"/>
    <dgm:cxn modelId="{F5EF857B-23A6-A448-900C-21909580418C}" type="presParOf" srcId="{2C59713A-67B1-654F-8562-9167BDEFF8AB}" destId="{26147F30-F3B3-E34B-9559-A373D0F538AE}" srcOrd="0" destOrd="0" presId="urn:microsoft.com/office/officeart/2005/8/layout/cycle7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D91C630-3A03-9A4D-92A7-A63559EA8DC0}">
      <dsp:nvSpPr>
        <dsp:cNvPr id="0" name=""/>
        <dsp:cNvSpPr/>
      </dsp:nvSpPr>
      <dsp:spPr>
        <a:xfrm>
          <a:off x="759783" y="22947"/>
          <a:ext cx="919361" cy="459680"/>
        </a:xfrm>
        <a:prstGeom prst="roundRect">
          <a:avLst>
            <a:gd name="adj" fmla="val 10000"/>
          </a:avLst>
        </a:prstGeom>
        <a:solidFill>
          <a:schemeClr val="lt1"/>
        </a:solidFill>
        <a:ln w="12700" cap="flat" cmpd="sng" algn="ctr">
          <a:solidFill>
            <a:schemeClr val="accent6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/>
      </dsp:spPr>
      <dsp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Accurate </a:t>
          </a:r>
          <a:r>
            <a:rPr lang="en-US" sz="1200" kern="1200" dirty="0">
              <a:solidFill>
                <a:schemeClr val="accent6"/>
              </a:solidFill>
              <a:effectLst/>
            </a:rPr>
            <a:t>Integration</a:t>
          </a:r>
          <a:endParaRPr lang="en-US" sz="1200" kern="1200" dirty="0"/>
        </a:p>
      </dsp:txBody>
      <dsp:txXfrm>
        <a:off x="773247" y="36411"/>
        <a:ext cx="892433" cy="432752"/>
      </dsp:txXfrm>
    </dsp:sp>
    <dsp:sp modelId="{4241FF00-BD33-6F4D-9245-04848D8009D0}">
      <dsp:nvSpPr>
        <dsp:cNvPr id="0" name=""/>
        <dsp:cNvSpPr/>
      </dsp:nvSpPr>
      <dsp:spPr>
        <a:xfrm rot="3600000">
          <a:off x="1359455" y="829808"/>
          <a:ext cx="479192" cy="160888"/>
        </a:xfrm>
        <a:prstGeom prst="left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00" kern="1200"/>
        </a:p>
      </dsp:txBody>
      <dsp:txXfrm>
        <a:off x="1407721" y="861986"/>
        <a:ext cx="382660" cy="96532"/>
      </dsp:txXfrm>
    </dsp:sp>
    <dsp:sp modelId="{06AB1FA4-15EB-1B4E-AF9D-E691626A6CD3}">
      <dsp:nvSpPr>
        <dsp:cNvPr id="0" name=""/>
        <dsp:cNvSpPr/>
      </dsp:nvSpPr>
      <dsp:spPr>
        <a:xfrm>
          <a:off x="1518959" y="1337878"/>
          <a:ext cx="919361" cy="459680"/>
        </a:xfrm>
        <a:prstGeom prst="roundRect">
          <a:avLst>
            <a:gd name="adj" fmla="val 10000"/>
          </a:avLst>
        </a:prstGeom>
        <a:solidFill>
          <a:schemeClr val="lt1"/>
        </a:solidFill>
        <a:ln w="12700" cap="flat" cmpd="sng" algn="ctr">
          <a:solidFill>
            <a:schemeClr val="accent5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/>
      </dsp:spPr>
      <dsp:style>
        <a:lnRef idx="2">
          <a:schemeClr val="accent5"/>
        </a:lnRef>
        <a:fillRef idx="1">
          <a:schemeClr val="lt1"/>
        </a:fillRef>
        <a:effectRef idx="0">
          <a:schemeClr val="accent5"/>
        </a:effectRef>
        <a:fontRef idx="minor">
          <a:schemeClr val="dk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Efficient </a:t>
          </a:r>
          <a:r>
            <a:rPr lang="en-US" sz="1200" kern="1200" dirty="0">
              <a:solidFill>
                <a:schemeClr val="accent1"/>
              </a:solidFill>
            </a:rPr>
            <a:t>Performance</a:t>
          </a:r>
          <a:endParaRPr lang="en-US" sz="1200" kern="1200" dirty="0"/>
        </a:p>
      </dsp:txBody>
      <dsp:txXfrm>
        <a:off x="1532423" y="1351342"/>
        <a:ext cx="892433" cy="432752"/>
      </dsp:txXfrm>
    </dsp:sp>
    <dsp:sp modelId="{174ABFCD-3EE4-2E4E-A36A-F93100215715}">
      <dsp:nvSpPr>
        <dsp:cNvPr id="0" name=""/>
        <dsp:cNvSpPr/>
      </dsp:nvSpPr>
      <dsp:spPr>
        <a:xfrm rot="10800000">
          <a:off x="979867" y="1487274"/>
          <a:ext cx="479192" cy="160888"/>
        </a:xfrm>
        <a:prstGeom prst="left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00" kern="1200"/>
        </a:p>
      </dsp:txBody>
      <dsp:txXfrm rot="10800000">
        <a:off x="1028133" y="1519452"/>
        <a:ext cx="382660" cy="96532"/>
      </dsp:txXfrm>
    </dsp:sp>
    <dsp:sp modelId="{8113D230-3331-3247-B32B-AB5DD383B133}">
      <dsp:nvSpPr>
        <dsp:cNvPr id="0" name=""/>
        <dsp:cNvSpPr/>
      </dsp:nvSpPr>
      <dsp:spPr>
        <a:xfrm>
          <a:off x="607" y="1337878"/>
          <a:ext cx="919361" cy="459680"/>
        </a:xfrm>
        <a:prstGeom prst="roundRect">
          <a:avLst>
            <a:gd name="adj" fmla="val 10000"/>
          </a:avLst>
        </a:prstGeom>
        <a:solidFill>
          <a:schemeClr val="lt1"/>
        </a:solidFill>
        <a:ln w="12700" cap="flat" cmpd="sng" algn="ctr">
          <a:solidFill>
            <a:schemeClr val="accent2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/>
      </dsp:spPr>
      <dsp:style>
        <a:lnRef idx="2">
          <a:schemeClr val="accent2"/>
        </a:lnRef>
        <a:fillRef idx="1">
          <a:schemeClr val="lt1"/>
        </a:fillRef>
        <a:effectRef idx="0">
          <a:schemeClr val="accent2"/>
        </a:effectRef>
        <a:fontRef idx="minor">
          <a:schemeClr val="dk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Physical </a:t>
          </a:r>
          <a:r>
            <a:rPr lang="en-US" sz="1200" kern="1200" dirty="0">
              <a:solidFill>
                <a:schemeClr val="accent2"/>
              </a:solidFill>
              <a:latin typeface="+mn-lt"/>
              <a:ea typeface="+mn-ea"/>
              <a:cs typeface="+mn-cs"/>
            </a:rPr>
            <a:t>Scientific</a:t>
          </a:r>
          <a:endParaRPr lang="en-US" sz="1200" kern="1200" dirty="0"/>
        </a:p>
      </dsp:txBody>
      <dsp:txXfrm>
        <a:off x="14071" y="1351342"/>
        <a:ext cx="892433" cy="432752"/>
      </dsp:txXfrm>
    </dsp:sp>
    <dsp:sp modelId="{2C59713A-67B1-654F-8562-9167BDEFF8AB}">
      <dsp:nvSpPr>
        <dsp:cNvPr id="0" name=""/>
        <dsp:cNvSpPr/>
      </dsp:nvSpPr>
      <dsp:spPr>
        <a:xfrm rot="18000000">
          <a:off x="600280" y="829808"/>
          <a:ext cx="479192" cy="160888"/>
        </a:xfrm>
        <a:prstGeom prst="left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00" kern="1200"/>
        </a:p>
      </dsp:txBody>
      <dsp:txXfrm>
        <a:off x="648546" y="861986"/>
        <a:ext cx="382660" cy="9653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ycle7">
  <dgm:title val=""/>
  <dgm:desc val=""/>
  <dgm:catLst>
    <dgm:cat type="cycle" pri="6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cycle">
          <dgm:param type="stAng" val="0"/>
          <dgm:param type="spanAng" val="360"/>
        </dgm:alg>
      </dgm:if>
      <dgm:else name="Name3">
        <dgm:alg type="cycle">
          <dgm:param type="stAng" val="0"/>
          <dgm:param type="spanAng" val="-360"/>
        </dgm:alg>
      </dgm:else>
    </dgm:choose>
    <dgm:shape xmlns:r="http://schemas.openxmlformats.org/officeDocument/2006/relationships" r:blip="">
      <dgm:adjLst/>
    </dgm:shape>
    <dgm:presOf/>
    <dgm:constrLst>
      <dgm:constr type="diam" refType="w"/>
      <dgm:constr type="w" for="ch" ptType="node" refType="w"/>
      <dgm:constr type="primFontSz" for="ch" ptType="node" op="equ" val="65"/>
      <dgm:constr type="w" for="ch" forName="sibTrans" refType="w" refFor="ch" refPtType="node" op="equ" fact="0.35"/>
      <dgm:constr type="connDist" for="ch" forName="sibTrans" op="equ"/>
      <dgm:constr type="primFontSz" for="des" forName="connectorText" op="equ" val="55"/>
      <dgm:constr type="primFontSz" for="des" forName="connectorText" refType="primFontSz" refFor="ch" refPtType="node" op="lte" fact="0.8"/>
      <dgm:constr type="sibSp" refType="w" refFor="ch" refPtType="node" op="equ" fact="0.65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5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choose name="Name4">
        <dgm:if name="Name5" axis="par ch" ptType="doc node" func="cnt" op="gt" val="1">
          <dgm:forEach name="sibTransForEach" axis="followSib" ptType="sibTrans" hideLastTrans="0" cnt="1">
            <dgm:layoutNode name="sibTrans">
              <dgm:choose name="Name6">
                <dgm:if name="Name7" axis="par ch" ptType="doc node" func="posEven" op="equ" val="1">
                  <dgm:alg type="conn">
                    <dgm:param type="begPts" val="radial"/>
                    <dgm:param type="endPts" val="radial"/>
                    <dgm:param type="begSty" val="arr"/>
                    <dgm:param type="endSty" val="arr"/>
                  </dgm:alg>
                </dgm:if>
                <dgm:else name="Name8">
                  <dgm:alg type="conn">
                    <dgm:param type="begPts" val="auto"/>
                    <dgm:param type="endPts" val="auto"/>
                    <dgm:param type="begSty" val="arr"/>
                    <dgm:param type="endSty" val="arr"/>
                  </dgm:alg>
                </dgm:else>
              </dgm:choose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5"/>
                <dgm:constr type="connDist"/>
                <dgm:constr type="begPad" refType="connDist" fact="0.1"/>
                <dgm:constr type="endPad" refType="connDist" fact="0.1"/>
              </dgm:constrLst>
              <dgm:ruleLst/>
              <dgm:layoutNode name="connectorText">
                <dgm:alg type="tx">
                  <dgm:param type="autoTxRot" val="grav"/>
                </dgm:alg>
                <dgm:shape xmlns:r="http://schemas.openxmlformats.org/officeDocument/2006/relationships" type="conn" r:blip="" hideGeom="1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</dgm:layoutNode>
          </dgm:forEach>
        </dgm:if>
        <dgm:else name="Name9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7935B3-F5AC-0F49-A77F-693DEAA46623}" type="datetimeFigureOut">
              <a:rPr lang="en-US" smtClean="0"/>
              <a:t>1/24/25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9A8B51A-AF34-8043-88BB-7DEBFD50DD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16843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A8B51A-AF34-8043-88BB-7DEBFD50DDAE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82369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A8B51A-AF34-8043-88BB-7DEBFD50DDAE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49405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A8B51A-AF34-8043-88BB-7DEBFD50DDAE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81158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358EA8-FCF2-7740-A3AB-B7CCA99EE2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E31233B-0476-5043-BEF6-761B9C4071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565C91-3BE9-C443-97BD-D6277C1093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C81EDA-B9C2-8543-B841-6A2EFDA806E7}" type="datetimeFigureOut">
              <a:rPr lang="en-US" smtClean="0"/>
              <a:t>1/24/25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804123-55B1-4645-9464-1F9B4FF0BE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48A162-B81A-944D-99D9-11E39184C9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76927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9C21E8-C2DE-104D-967E-CA0FF618AF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C95DD7-6ACC-D344-8D6A-081DE67170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04B349-4F0D-894E-AD9E-C8D1B39C63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C81EDA-B9C2-8543-B841-6A2EFDA806E7}" type="datetimeFigureOut">
              <a:rPr lang="en-US" smtClean="0"/>
              <a:t>1/24/25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3BD305-3291-0847-87F8-146BCC35F3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3E3FFB-1CEF-CD45-AEDB-14C6888A23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74394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F788FB-E1C6-0948-B7D6-4005A12876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F326CB-A93C-A748-AE55-3A84F493F0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19B757-0A54-3443-84C0-65873E3F37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C81EDA-B9C2-8543-B841-6A2EFDA806E7}" type="datetimeFigureOut">
              <a:rPr lang="en-US" smtClean="0"/>
              <a:t>1/24/25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F777A8-B390-AD43-9316-7F20F4D954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D1D6B4-256C-1948-BCFC-7594033D53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66557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06FBB5-B722-3A46-A14A-A723649FD2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A5A430-6CC3-0240-B917-1B5E9A05375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3A6E127-F6D6-6E47-992D-AAB4113943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54EC72-74E5-4842-B10B-E46F917825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C81EDA-B9C2-8543-B841-6A2EFDA806E7}" type="datetimeFigureOut">
              <a:rPr lang="en-US" smtClean="0"/>
              <a:t>1/24/25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D28DF8D-02EF-184D-ABFF-13191F79D8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2331F1-86F5-D941-89D8-0D3AC6402C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94213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AFFC86-2AE9-1B4C-919A-EAB194055D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135F746-6C3E-9C4F-8AAE-6A474D0554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9AF0EE7-6F44-F448-9A20-041EDD3CD0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AFB6FDB-DF0E-A54B-A3A5-FBFE9BAD66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128D6A-E2F4-F44B-8FA0-9424742E26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440A058-F234-D841-83EC-56812E3E09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C81EDA-B9C2-8543-B841-6A2EFDA806E7}" type="datetimeFigureOut">
              <a:rPr lang="en-US" smtClean="0"/>
              <a:t>1/24/25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6FC077F-7055-D04B-802C-EB03F517C8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A4350B2-AC98-ED44-AA30-4A41C43EB9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26026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ABA2B0-F6B9-554F-8BFB-4F0D99D018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36AC341-6D23-9A4E-AB3D-E9FFD1A67C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C81EDA-B9C2-8543-B841-6A2EFDA806E7}" type="datetimeFigureOut">
              <a:rPr lang="en-US" smtClean="0"/>
              <a:t>1/24/25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04147E-0023-1E48-9B46-83053DAE99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B722CF-E5B4-E74B-A7B0-12F7823BB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7425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13B2DC2-5A2E-A24E-B7D1-FF883CF7FA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C81EDA-B9C2-8543-B841-6A2EFDA806E7}" type="datetimeFigureOut">
              <a:rPr lang="en-US" smtClean="0"/>
              <a:t>1/24/25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7CB29CE-4228-BD4C-A420-70C257145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114DD2-3E82-1246-9760-3AF41CF049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91049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B8CA2-68C1-F142-900B-17AAC31353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870681-4878-1F46-A6A1-53C6FDF4DD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80CD99-B40B-E640-93ED-B452D6C405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276116-6773-1444-A31A-CE340D5A8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C81EDA-B9C2-8543-B841-6A2EFDA806E7}" type="datetimeFigureOut">
              <a:rPr lang="en-US" smtClean="0"/>
              <a:t>1/24/25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31B01F-24FF-B744-B660-8655E56D11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7755F5-5A75-8F4C-9F3C-F3E9E8B277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94025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E653F8-D055-1D48-8974-B59CF2267B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0E7EB70-418E-DD41-A6E4-57C3E92756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B2DE1C0-806E-8A48-B3AF-560DCDAC2B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043B28-10B3-E44C-8EEA-5E6F442493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C81EDA-B9C2-8543-B841-6A2EFDA806E7}" type="datetimeFigureOut">
              <a:rPr lang="en-US" smtClean="0"/>
              <a:t>1/24/25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838D99-521A-0744-BCD1-2621000333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B5FDE6-E6EC-1B48-AA21-895D7DDF61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318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2B9B72-A8A4-A74F-8E1E-3AC6EC296C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7454F5B-62DA-7542-966C-C08C53BC9B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88ABB0-D704-A54E-8299-92AC38ED59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C81EDA-B9C2-8543-B841-6A2EFDA806E7}" type="datetimeFigureOut">
              <a:rPr lang="en-US" smtClean="0"/>
              <a:t>1/24/25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DB263C-A99F-544F-935E-91C65D0E74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BDF06A-9EED-284C-866A-F1E12F15A0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30455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1A0D12E-01E0-A04F-A3F4-22D4E32BBBF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6CACDF6-BA3A-1044-A721-EA6F030EF2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B0E2C9-6B5C-FB49-9713-679C0BEC34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C81EDA-B9C2-8543-B841-6A2EFDA806E7}" type="datetimeFigureOut">
              <a:rPr lang="en-US" smtClean="0"/>
              <a:t>1/24/25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01C65A-6A18-2740-A284-DAD25FD931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42885B-7257-664D-9FD5-B0446B1E82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8905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DDFA117-430A-0842-BF0A-806ADCCD51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341114-5B51-D64E-B2F6-6CC36C6DE9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DEEF16-25A2-F34D-BACC-65FA6AAC2F8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C81EDA-B9C2-8543-B841-6A2EFDA806E7}" type="datetimeFigureOut">
              <a:rPr lang="en-US" smtClean="0"/>
              <a:t>1/24/25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1A32EF-278E-4D4D-A7AB-20D488CC47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F59C42-B5B3-6B46-936D-A9D1A4A044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60951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lammps.org/pair_sw.html#stillinger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52D603-8601-914F-B530-0182C8206AD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981691"/>
            <a:ext cx="9144000" cy="2387600"/>
          </a:xfrm>
        </p:spPr>
        <p:txBody>
          <a:bodyPr>
            <a:normAutofit/>
          </a:bodyPr>
          <a:lstStyle/>
          <a:p>
            <a:r>
              <a:rPr lang="en-US" dirty="0"/>
              <a:t>Molecular Simulation Toolkit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D95FD3-E679-D541-8417-A00AC40FC2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461366"/>
            <a:ext cx="9144000" cy="1655762"/>
          </a:xfrm>
        </p:spPr>
        <p:txBody>
          <a:bodyPr>
            <a:normAutofit lnSpcReduction="10000"/>
          </a:bodyPr>
          <a:lstStyle/>
          <a:p>
            <a:endParaRPr lang="en-US" dirty="0"/>
          </a:p>
          <a:p>
            <a:r>
              <a:rPr lang="en-US" dirty="0"/>
              <a:t>https://</a:t>
            </a:r>
            <a:r>
              <a:rPr lang="en-US" dirty="0" err="1"/>
              <a:t>github.com</a:t>
            </a:r>
            <a:r>
              <a:rPr lang="en-US" dirty="0"/>
              <a:t>/zhteg4pvt/</a:t>
            </a:r>
            <a:r>
              <a:rPr lang="en-US" dirty="0" err="1"/>
              <a:t>nemd</a:t>
            </a:r>
            <a:r>
              <a:rPr lang="en-US" dirty="0"/>
              <a:t>/</a:t>
            </a:r>
          </a:p>
          <a:p>
            <a:r>
              <a:rPr lang="en-US" dirty="0"/>
              <a:t>Main Contributor: Teng Zhang</a:t>
            </a:r>
          </a:p>
          <a:p>
            <a:r>
              <a:rPr lang="en-US" dirty="0"/>
              <a:t>Email: zhteg4@gmail.com</a:t>
            </a:r>
          </a:p>
        </p:txBody>
      </p:sp>
    </p:spTree>
    <p:extLst>
      <p:ext uri="{BB962C8B-B14F-4D97-AF65-F5344CB8AC3E}">
        <p14:creationId xmlns:p14="http://schemas.microsoft.com/office/powerpoint/2010/main" val="11910494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B1BF32-5317-534C-8BE4-58EF899985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BSD 3-Clause License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A98CB3-347C-6A40-A202-223224B934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sz="3000" dirty="0"/>
              <a:t>Allow redistribution in any forms, with or without modification.</a:t>
            </a:r>
          </a:p>
          <a:p>
            <a:pPr marL="0" indent="0">
              <a:buNone/>
            </a:pPr>
            <a:endParaRPr lang="en-US" sz="3000" dirty="0"/>
          </a:p>
          <a:p>
            <a:pPr marL="0" indent="0">
              <a:buNone/>
            </a:pPr>
            <a:r>
              <a:rPr lang="en-US" dirty="0"/>
              <a:t>In short:</a:t>
            </a:r>
          </a:p>
          <a:p>
            <a:pPr marL="514350" indent="-514350">
              <a:buAutoNum type="arabicParenR"/>
            </a:pPr>
            <a:r>
              <a:rPr lang="en-US" dirty="0"/>
              <a:t>The general BSD 3-Clause copyright allows </a:t>
            </a:r>
            <a:r>
              <a:rPr lang="en-US" b="1" dirty="0"/>
              <a:t>similar redistribution</a:t>
            </a:r>
            <a:r>
              <a:rPr lang="en-US" dirty="0"/>
              <a:t>.</a:t>
            </a:r>
          </a:p>
          <a:p>
            <a:pPr marL="514350" indent="-514350">
              <a:lnSpc>
                <a:spcPct val="100000"/>
              </a:lnSpc>
              <a:buFont typeface="Arial" panose="020B0604020202020204" pitchFamily="34" charset="0"/>
              <a:buAutoNum type="arabicParenR"/>
            </a:pPr>
            <a:r>
              <a:rPr lang="en-US" dirty="0"/>
              <a:t>The software is provided as is and in </a:t>
            </a:r>
            <a:r>
              <a:rPr lang="en-US" b="1" dirty="0"/>
              <a:t>no event </a:t>
            </a:r>
            <a:r>
              <a:rPr lang="en-US" dirty="0"/>
              <a:t>shall the copyright holder or contributors </a:t>
            </a:r>
            <a:r>
              <a:rPr lang="en-US" b="1" dirty="0"/>
              <a:t>be liable for any damages</a:t>
            </a:r>
            <a:r>
              <a:rPr lang="en-US" dirty="0"/>
              <a:t>.</a:t>
            </a:r>
          </a:p>
          <a:p>
            <a:pPr marL="514350" indent="-514350">
              <a:lnSpc>
                <a:spcPct val="100000"/>
              </a:lnSpc>
              <a:buFont typeface="Arial" panose="020B0604020202020204" pitchFamily="34" charset="0"/>
              <a:buAutoNum type="arabicParenR"/>
            </a:pPr>
            <a:r>
              <a:rPr lang="en-US" b="1" dirty="0"/>
              <a:t>Neither </a:t>
            </a:r>
            <a:r>
              <a:rPr lang="en-US" dirty="0"/>
              <a:t>the name of the </a:t>
            </a:r>
            <a:r>
              <a:rPr lang="en-US" b="1" dirty="0"/>
              <a:t>copyright</a:t>
            </a:r>
            <a:r>
              <a:rPr lang="en-US" dirty="0"/>
              <a:t> </a:t>
            </a:r>
            <a:r>
              <a:rPr lang="en-US" b="1" dirty="0"/>
              <a:t>holder</a:t>
            </a:r>
            <a:r>
              <a:rPr lang="en-US" dirty="0"/>
              <a:t> </a:t>
            </a:r>
            <a:r>
              <a:rPr lang="en-US" b="1" dirty="0"/>
              <a:t>nor</a:t>
            </a:r>
            <a:r>
              <a:rPr lang="en-US" dirty="0"/>
              <a:t> the names of its </a:t>
            </a:r>
            <a:r>
              <a:rPr lang="en-US" b="1" dirty="0"/>
              <a:t>contributors</a:t>
            </a:r>
            <a:r>
              <a:rPr lang="en-US" dirty="0"/>
              <a:t> may be used to </a:t>
            </a:r>
            <a:r>
              <a:rPr lang="en-US" b="1" dirty="0"/>
              <a:t>endorse</a:t>
            </a:r>
            <a:r>
              <a:rPr lang="en-US" dirty="0"/>
              <a:t> </a:t>
            </a:r>
            <a:r>
              <a:rPr lang="en-US" b="1" dirty="0"/>
              <a:t>or promote products derived</a:t>
            </a:r>
            <a:r>
              <a:rPr lang="en-US" dirty="0"/>
              <a:t> from this software </a:t>
            </a:r>
            <a:r>
              <a:rPr lang="en-US" b="1" dirty="0"/>
              <a:t>without specific prior written permission</a:t>
            </a:r>
            <a:r>
              <a:rPr lang="en-US" dirty="0"/>
              <a:t>.</a:t>
            </a:r>
          </a:p>
          <a:p>
            <a:pPr marL="514350" indent="-514350">
              <a:lnSpc>
                <a:spcPct val="100000"/>
              </a:lnSpc>
              <a:buFont typeface="Arial" panose="020B0604020202020204" pitchFamily="34" charset="0"/>
              <a:buAutoNum type="arabicParenR"/>
            </a:pPr>
            <a:endParaRPr lang="en-US" dirty="0"/>
          </a:p>
          <a:p>
            <a:pPr marL="0" indent="0">
              <a:buNone/>
            </a:pPr>
            <a:r>
              <a:rPr lang="en-US" sz="2400" dirty="0"/>
              <a:t>Full Information in </a:t>
            </a:r>
            <a:r>
              <a:rPr lang="en-US" sz="2400" i="1" u="sng" dirty="0">
                <a:solidFill>
                  <a:schemeClr val="accent1"/>
                </a:solidFill>
              </a:rPr>
              <a:t>https://</a:t>
            </a:r>
            <a:r>
              <a:rPr lang="en-US" sz="2400" i="1" u="sng" dirty="0" err="1">
                <a:solidFill>
                  <a:schemeClr val="accent1"/>
                </a:solidFill>
              </a:rPr>
              <a:t>github.com</a:t>
            </a:r>
            <a:r>
              <a:rPr lang="en-US" sz="2400" i="1" u="sng" dirty="0">
                <a:solidFill>
                  <a:schemeClr val="accent1"/>
                </a:solidFill>
              </a:rPr>
              <a:t>/zhteg4pvt/</a:t>
            </a:r>
            <a:r>
              <a:rPr lang="en-US" sz="2400" i="1" u="sng" dirty="0" err="1">
                <a:solidFill>
                  <a:schemeClr val="accent1"/>
                </a:solidFill>
              </a:rPr>
              <a:t>nemd</a:t>
            </a:r>
            <a:r>
              <a:rPr lang="en-US" sz="2400" i="1" u="sng" dirty="0">
                <a:solidFill>
                  <a:schemeClr val="accent1"/>
                </a:solidFill>
              </a:rPr>
              <a:t>/blob/main/LICENSE</a:t>
            </a:r>
          </a:p>
        </p:txBody>
      </p:sp>
    </p:spTree>
    <p:extLst>
      <p:ext uri="{BB962C8B-B14F-4D97-AF65-F5344CB8AC3E}">
        <p14:creationId xmlns:p14="http://schemas.microsoft.com/office/powerpoint/2010/main" val="35515282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7F9F4-F60A-9A40-9F29-975C13FE5F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388033" cy="1325563"/>
          </a:xfrm>
        </p:spPr>
        <p:txBody>
          <a:bodyPr/>
          <a:lstStyle/>
          <a:p>
            <a:r>
              <a:rPr lang="en-US" dirty="0"/>
              <a:t>Installation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BE11C1-C54C-4A47-BD1A-F7710C155F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9616" y="1565519"/>
            <a:ext cx="6445133" cy="2903847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US" sz="2600" dirty="0"/>
              <a:t>1) </a:t>
            </a:r>
            <a:r>
              <a:rPr lang="en-US" sz="2600" i="1" dirty="0">
                <a:solidFill>
                  <a:schemeClr val="accent2"/>
                </a:solidFill>
              </a:rPr>
              <a:t>setup</a:t>
            </a:r>
          </a:p>
          <a:p>
            <a:pPr marL="0" indent="0">
              <a:buNone/>
            </a:pPr>
            <a:r>
              <a:rPr lang="en-US" sz="2600" dirty="0"/>
              <a:t>2) </a:t>
            </a:r>
            <a:r>
              <a:rPr lang="en-US" sz="2600" i="1" dirty="0">
                <a:solidFill>
                  <a:schemeClr val="accent1"/>
                </a:solidFill>
              </a:rPr>
              <a:t>cd ~/git/</a:t>
            </a:r>
            <a:r>
              <a:rPr lang="en-US" sz="2600" i="1" dirty="0" err="1">
                <a:solidFill>
                  <a:schemeClr val="accent1"/>
                </a:solidFill>
              </a:rPr>
              <a:t>nemd</a:t>
            </a:r>
            <a:r>
              <a:rPr lang="en-US" sz="2600" i="1" dirty="0">
                <a:solidFill>
                  <a:schemeClr val="accent1"/>
                </a:solidFill>
              </a:rPr>
              <a:t>; pip3 install .[dev] –v</a:t>
            </a:r>
          </a:p>
          <a:p>
            <a:pPr marL="0" indent="0">
              <a:buNone/>
            </a:pPr>
            <a:endParaRPr lang="en-US" sz="2600" dirty="0"/>
          </a:p>
          <a:p>
            <a:pPr marL="0" indent="0">
              <a:buNone/>
            </a:pPr>
            <a:r>
              <a:rPr lang="en-US" sz="2600" dirty="0"/>
              <a:t>Supported and Tested:</a:t>
            </a:r>
          </a:p>
          <a:p>
            <a:r>
              <a:rPr lang="en-US" sz="2600" dirty="0"/>
              <a:t>Python 3.10.12</a:t>
            </a:r>
          </a:p>
          <a:p>
            <a:r>
              <a:rPr lang="en-US" sz="2600" dirty="0"/>
              <a:t>macOS Sequoia (Intel CPU, Intel Iris Plus Graphics)</a:t>
            </a:r>
          </a:p>
          <a:p>
            <a:r>
              <a:rPr lang="en-US" sz="2600" dirty="0"/>
              <a:t>Ubuntu 22.04.4 LTS (Intel CPU, GeForce 1080 GPU)</a:t>
            </a:r>
          </a:p>
          <a:p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736417C-F08D-E647-9D1F-C47814DBC4A6}"/>
              </a:ext>
            </a:extLst>
          </p:cNvPr>
          <p:cNvSpPr/>
          <p:nvPr/>
        </p:nvSpPr>
        <p:spPr>
          <a:xfrm>
            <a:off x="6824749" y="496153"/>
            <a:ext cx="4995950" cy="5386090"/>
          </a:xfrm>
          <a:prstGeom prst="rect">
            <a:avLst/>
          </a:prstGeom>
          <a:ln>
            <a:solidFill>
              <a:schemeClr val="accent2"/>
            </a:solidFill>
            <a:prstDash val="dash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accent2"/>
                </a:solidFill>
              </a:rPr>
              <a:t># </a:t>
            </a:r>
            <a:r>
              <a:rPr lang="en-US" sz="1400" b="1" dirty="0">
                <a:solidFill>
                  <a:schemeClr val="accent2"/>
                </a:solidFill>
              </a:rPr>
              <a:t>Install</a:t>
            </a:r>
            <a:r>
              <a:rPr lang="en-US" sz="1400" dirty="0">
                <a:solidFill>
                  <a:schemeClr val="accent2"/>
                </a:solidFill>
              </a:rPr>
              <a:t> </a:t>
            </a:r>
            <a:r>
              <a:rPr lang="en-US" sz="1400" b="1" dirty="0">
                <a:solidFill>
                  <a:schemeClr val="accent2"/>
                </a:solidFill>
              </a:rPr>
              <a:t>Packages</a:t>
            </a:r>
            <a:r>
              <a:rPr lang="en-US" sz="1400" dirty="0">
                <a:solidFill>
                  <a:schemeClr val="accent2"/>
                </a:solidFill>
              </a:rPr>
              <a:t> and set up environment</a:t>
            </a:r>
            <a:br>
              <a:rPr lang="en-US" sz="1400" dirty="0"/>
            </a:br>
            <a:r>
              <a:rPr lang="en-US" sz="1400" dirty="0"/>
              <a:t>case $OSTYPE in</a:t>
            </a:r>
            <a:br>
              <a:rPr lang="en-US" sz="1400" dirty="0"/>
            </a:br>
            <a:r>
              <a:rPr lang="en-US" sz="1400" dirty="0"/>
              <a:t>  </a:t>
            </a:r>
            <a:r>
              <a:rPr lang="en-US" sz="1400" dirty="0" err="1"/>
              <a:t>darwin</a:t>
            </a:r>
            <a:r>
              <a:rPr lang="en-US" sz="1400" dirty="0"/>
              <a:t>*)</a:t>
            </a:r>
            <a:br>
              <a:rPr lang="en-US" sz="1400" dirty="0"/>
            </a:br>
            <a:r>
              <a:rPr lang="en-US" sz="1400" dirty="0"/>
              <a:t>    brew install ..</a:t>
            </a:r>
          </a:p>
          <a:p>
            <a:r>
              <a:rPr lang="en-US" sz="1400" dirty="0"/>
              <a:t>    ;;</a:t>
            </a:r>
            <a:br>
              <a:rPr lang="en-US" sz="1400" dirty="0"/>
            </a:br>
            <a:r>
              <a:rPr lang="en-US" sz="1400" dirty="0"/>
              <a:t>  </a:t>
            </a:r>
            <a:r>
              <a:rPr lang="en-US" sz="1400" dirty="0" err="1"/>
              <a:t>linux</a:t>
            </a:r>
            <a:r>
              <a:rPr lang="en-US" sz="1400" dirty="0"/>
              <a:t>*)</a:t>
            </a:r>
            <a:br>
              <a:rPr lang="en-US" sz="1400" dirty="0"/>
            </a:br>
            <a:r>
              <a:rPr lang="en-US" sz="1400" dirty="0"/>
              <a:t>    </a:t>
            </a:r>
            <a:r>
              <a:rPr lang="en-US" sz="1400" dirty="0" err="1"/>
              <a:t>sudo</a:t>
            </a:r>
            <a:r>
              <a:rPr lang="en-US" sz="1400" dirty="0"/>
              <a:t> apt-get install -y </a:t>
            </a:r>
            <a:r>
              <a:rPr lang="en-US" sz="1400" dirty="0" err="1"/>
              <a:t>gh</a:t>
            </a:r>
            <a:r>
              <a:rPr lang="en-US" sz="1400" dirty="0"/>
              <a:t> git python3-pip</a:t>
            </a:r>
          </a:p>
          <a:p>
            <a:r>
              <a:rPr lang="en-US" sz="1400" dirty="0"/>
              <a:t>    BIN=$(python3 -m site --user-base)/bin</a:t>
            </a:r>
          </a:p>
          <a:p>
            <a:r>
              <a:rPr lang="en-US" sz="1400" dirty="0"/>
              <a:t>    export PATH="$BIN${PATH:+":$PATH"}”</a:t>
            </a:r>
          </a:p>
          <a:p>
            <a:r>
              <a:rPr lang="en-US" sz="1400" dirty="0"/>
              <a:t>    ;;</a:t>
            </a:r>
            <a:br>
              <a:rPr lang="en-US" sz="1400" dirty="0"/>
            </a:br>
            <a:r>
              <a:rPr lang="en-US" sz="1400" dirty="0" err="1"/>
              <a:t>esac</a:t>
            </a:r>
            <a:br>
              <a:rPr lang="en-US" sz="1400" dirty="0"/>
            </a:br>
            <a:endParaRPr lang="en-US" sz="1400" dirty="0"/>
          </a:p>
          <a:p>
            <a:r>
              <a:rPr lang="en-US" sz="1400" dirty="0">
                <a:solidFill>
                  <a:schemeClr val="accent2"/>
                </a:solidFill>
              </a:rPr>
              <a:t># Login </a:t>
            </a:r>
            <a:r>
              <a:rPr lang="en-US" sz="1400" dirty="0" err="1">
                <a:solidFill>
                  <a:schemeClr val="accent2"/>
                </a:solidFill>
              </a:rPr>
              <a:t>Github</a:t>
            </a:r>
            <a:r>
              <a:rPr lang="en-US" sz="1400" dirty="0">
                <a:solidFill>
                  <a:schemeClr val="accent2"/>
                </a:solidFill>
              </a:rPr>
              <a:t> and </a:t>
            </a:r>
            <a:r>
              <a:rPr lang="en-US" sz="1400" b="1" dirty="0">
                <a:solidFill>
                  <a:schemeClr val="accent2"/>
                </a:solidFill>
              </a:rPr>
              <a:t>clone code</a:t>
            </a:r>
          </a:p>
          <a:p>
            <a:r>
              <a:rPr lang="en-US" sz="1400" dirty="0" err="1"/>
              <a:t>gh</a:t>
            </a:r>
            <a:r>
              <a:rPr lang="en-US" sz="1400" dirty="0"/>
              <a:t> </a:t>
            </a:r>
            <a:r>
              <a:rPr lang="en-US" sz="1400" dirty="0" err="1"/>
              <a:t>auth</a:t>
            </a:r>
            <a:r>
              <a:rPr lang="en-US" sz="1400" dirty="0"/>
              <a:t> login --hostname </a:t>
            </a:r>
            <a:r>
              <a:rPr lang="en-US" sz="1400" dirty="0" err="1"/>
              <a:t>GitHub.com</a:t>
            </a:r>
            <a:r>
              <a:rPr lang="en-US" sz="1400" dirty="0"/>
              <a:t> --web</a:t>
            </a:r>
            <a:br>
              <a:rPr lang="en-US" sz="1400" dirty="0"/>
            </a:br>
            <a:r>
              <a:rPr lang="en-US" sz="1400" dirty="0" err="1"/>
              <a:t>gh</a:t>
            </a:r>
            <a:r>
              <a:rPr lang="en-US" sz="1400" dirty="0"/>
              <a:t> </a:t>
            </a:r>
            <a:r>
              <a:rPr lang="en-US" sz="1400" dirty="0" err="1"/>
              <a:t>auth</a:t>
            </a:r>
            <a:r>
              <a:rPr lang="en-US" sz="1400" dirty="0"/>
              <a:t> setup-git</a:t>
            </a:r>
            <a:br>
              <a:rPr lang="en-US" sz="1400" dirty="0"/>
            </a:br>
            <a:r>
              <a:rPr lang="en-US" sz="1400" dirty="0" err="1"/>
              <a:t>gh</a:t>
            </a:r>
            <a:r>
              <a:rPr lang="en-US" sz="1400" dirty="0"/>
              <a:t> repo clone zhteg4pvt/</a:t>
            </a:r>
            <a:r>
              <a:rPr lang="en-US" sz="1400" dirty="0" err="1"/>
              <a:t>nemd</a:t>
            </a:r>
            <a:r>
              <a:rPr lang="en-US" sz="1400" dirty="0"/>
              <a:t> ~/git/</a:t>
            </a:r>
            <a:r>
              <a:rPr lang="en-US" sz="1400" dirty="0" err="1"/>
              <a:t>nemd</a:t>
            </a:r>
            <a:br>
              <a:rPr lang="en-US" sz="1400" dirty="0"/>
            </a:br>
            <a:br>
              <a:rPr lang="en-US" sz="1400" dirty="0"/>
            </a:br>
            <a:r>
              <a:rPr lang="en-US" sz="1400" dirty="0">
                <a:solidFill>
                  <a:schemeClr val="accent2"/>
                </a:solidFill>
              </a:rPr>
              <a:t># </a:t>
            </a:r>
            <a:r>
              <a:rPr lang="en-US" sz="1400" b="1" dirty="0">
                <a:solidFill>
                  <a:schemeClr val="accent2"/>
                </a:solidFill>
              </a:rPr>
              <a:t>Install drivers </a:t>
            </a:r>
            <a:r>
              <a:rPr lang="en-US" sz="1400" dirty="0">
                <a:solidFill>
                  <a:schemeClr val="accent2"/>
                </a:solidFill>
              </a:rPr>
              <a:t>and ask for reboot</a:t>
            </a:r>
            <a:br>
              <a:rPr lang="en-US" sz="1400" dirty="0"/>
            </a:br>
            <a:r>
              <a:rPr lang="en-US" sz="1400" dirty="0"/>
              <a:t>(</a:t>
            </a:r>
            <a:r>
              <a:rPr lang="en-US" sz="1400" dirty="0" err="1"/>
              <a:t>lspci</a:t>
            </a:r>
            <a:r>
              <a:rPr lang="en-US" sz="1400" dirty="0"/>
              <a:t> | grep VGA | grep -q -v NVIDIA) &amp;&amp; exit 0</a:t>
            </a:r>
            <a:br>
              <a:rPr lang="en-US" sz="1400" dirty="0"/>
            </a:br>
            <a:r>
              <a:rPr lang="en-US" sz="1400" dirty="0" err="1"/>
              <a:t>sudo</a:t>
            </a:r>
            <a:r>
              <a:rPr lang="en-US" sz="1400" dirty="0"/>
              <a:t> ubuntu-drivers --</a:t>
            </a:r>
            <a:r>
              <a:rPr lang="en-US" sz="1400" dirty="0" err="1"/>
              <a:t>gpgpu</a:t>
            </a:r>
            <a:r>
              <a:rPr lang="en-US" sz="1400" dirty="0"/>
              <a:t> install</a:t>
            </a:r>
            <a:br>
              <a:rPr lang="en-US" sz="1400" dirty="0"/>
            </a:br>
            <a:r>
              <a:rPr lang="en-US" sz="1400" dirty="0" err="1"/>
              <a:t>sudo</a:t>
            </a:r>
            <a:r>
              <a:rPr lang="en-US" sz="1400" dirty="0"/>
              <a:t> apt upgrade -y</a:t>
            </a:r>
            <a:br>
              <a:rPr lang="en-US" sz="1400" dirty="0"/>
            </a:br>
            <a:r>
              <a:rPr lang="en-US" sz="1400" dirty="0"/>
              <a:t>read -p "Driver installed. Reboot? [y/n]? " answer</a:t>
            </a:r>
            <a:br>
              <a:rPr lang="en-US" sz="1400" dirty="0"/>
            </a:br>
            <a:r>
              <a:rPr lang="en-US" sz="1400" dirty="0"/>
              <a:t>case "$answer" in </a:t>
            </a:r>
            <a:r>
              <a:rPr lang="en-US" sz="1400" dirty="0" err="1"/>
              <a:t>Y|y</a:t>
            </a:r>
            <a:r>
              <a:rPr lang="en-US" sz="1400" dirty="0"/>
              <a:t>) echo "rebooting..."; reboot ;; *) ;; </a:t>
            </a:r>
            <a:r>
              <a:rPr lang="en-US" sz="1400" dirty="0" err="1"/>
              <a:t>esac</a:t>
            </a:r>
            <a:br>
              <a:rPr lang="en-US" sz="1400" dirty="0"/>
            </a:br>
            <a:r>
              <a:rPr lang="en-US" sz="1400" dirty="0"/>
              <a:t>echo "no reboot. (GPU driver may not be working)"</a:t>
            </a:r>
            <a:endParaRPr lang="en-US" sz="1400" dirty="0">
              <a:solidFill>
                <a:srgbClr val="BCBEC4"/>
              </a:solidFill>
              <a:effectLst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453B322-3889-3F4B-9DE0-DD9058EC2278}"/>
              </a:ext>
            </a:extLst>
          </p:cNvPr>
          <p:cNvSpPr/>
          <p:nvPr/>
        </p:nvSpPr>
        <p:spPr>
          <a:xfrm>
            <a:off x="468285" y="4443807"/>
            <a:ext cx="5849388" cy="1877437"/>
          </a:xfrm>
          <a:prstGeom prst="rect">
            <a:avLst/>
          </a:prstGeom>
          <a:ln>
            <a:prstDash val="dash"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accent1"/>
                </a:solidFill>
              </a:rPr>
              <a:t># Copy python, shell, and data</a:t>
            </a:r>
          </a:p>
          <a:p>
            <a:r>
              <a:rPr lang="en-US" sz="1400" dirty="0"/>
              <a:t>setup(</a:t>
            </a:r>
          </a:p>
          <a:p>
            <a:r>
              <a:rPr lang="en-US" sz="1400" dirty="0"/>
              <a:t>    packages=[</a:t>
            </a:r>
            <a:r>
              <a:rPr lang="en-US" sz="1400" dirty="0" err="1"/>
              <a:t>nemd</a:t>
            </a:r>
            <a:r>
              <a:rPr lang="en-US" sz="1400" dirty="0"/>
              <a:t>, alamode],</a:t>
            </a:r>
            <a:br>
              <a:rPr lang="en-US" sz="1400" dirty="0"/>
            </a:br>
            <a:r>
              <a:rPr lang="en-US" sz="1400" dirty="0"/>
              <a:t>    </a:t>
            </a:r>
            <a:r>
              <a:rPr lang="en-US" sz="1400" dirty="0" err="1"/>
              <a:t>package_dir</a:t>
            </a:r>
            <a:r>
              <a:rPr lang="en-US" sz="1400" dirty="0"/>
              <a:t>=[module/</a:t>
            </a:r>
            <a:r>
              <a:rPr lang="en-US" sz="1400" dirty="0" err="1"/>
              <a:t>nemd</a:t>
            </a:r>
            <a:r>
              <a:rPr lang="en-US" sz="1400" dirty="0"/>
              <a:t>],</a:t>
            </a:r>
            <a:br>
              <a:rPr lang="en-US" sz="1400" dirty="0"/>
            </a:br>
            <a:r>
              <a:rPr lang="en-US" sz="1400" dirty="0"/>
              <a:t>    </a:t>
            </a:r>
            <a:r>
              <a:rPr lang="en-US" sz="1400" dirty="0" err="1"/>
              <a:t>package_data</a:t>
            </a:r>
            <a:r>
              <a:rPr lang="en-US" sz="1400" dirty="0"/>
              <a:t>=</a:t>
            </a:r>
            <a:r>
              <a:rPr lang="en-US" sz="1400" dirty="0">
                <a:solidFill>
                  <a:schemeClr val="tx1"/>
                </a:solidFill>
              </a:rPr>
              <a:t> {</a:t>
            </a:r>
            <a:r>
              <a:rPr lang="en-US" sz="1400" dirty="0" err="1">
                <a:solidFill>
                  <a:schemeClr val="tx1"/>
                </a:solidFill>
              </a:rPr>
              <a:t>nemd</a:t>
            </a:r>
            <a:r>
              <a:rPr lang="en-US" sz="1400" dirty="0">
                <a:solidFill>
                  <a:schemeClr val="tx1"/>
                </a:solidFill>
              </a:rPr>
              <a:t>: [data/</a:t>
            </a:r>
            <a:r>
              <a:rPr lang="en-US" sz="1400" dirty="0" err="1">
                <a:solidFill>
                  <a:schemeClr val="tx1"/>
                </a:solidFill>
              </a:rPr>
              <a:t>ff</a:t>
            </a:r>
            <a:r>
              <a:rPr lang="en-US" sz="1400" dirty="0">
                <a:solidFill>
                  <a:schemeClr val="tx1"/>
                </a:solidFill>
              </a:rPr>
              <a:t>/</a:t>
            </a:r>
            <a:r>
              <a:rPr lang="en-US" sz="1400" dirty="0" err="1">
                <a:solidFill>
                  <a:schemeClr val="tx1"/>
                </a:solidFill>
              </a:rPr>
              <a:t>oplsua</a:t>
            </a:r>
            <a:r>
              <a:rPr lang="en-US" sz="1400" dirty="0">
                <a:solidFill>
                  <a:schemeClr val="tx1"/>
                </a:solidFill>
              </a:rPr>
              <a:t>/*.</a:t>
            </a:r>
            <a:r>
              <a:rPr lang="en-US" sz="1400" dirty="0" err="1">
                <a:solidFill>
                  <a:schemeClr val="tx1"/>
                </a:solidFill>
              </a:rPr>
              <a:t>npy</a:t>
            </a:r>
            <a:r>
              <a:rPr lang="en-US" sz="1400" dirty="0">
                <a:solidFill>
                  <a:schemeClr val="tx1"/>
                </a:solidFill>
              </a:rPr>
              <a:t>]}</a:t>
            </a:r>
            <a:r>
              <a:rPr lang="en-US" sz="1400" dirty="0"/>
              <a:t>,</a:t>
            </a:r>
            <a:br>
              <a:rPr lang="en-US" sz="1400" dirty="0"/>
            </a:br>
            <a:r>
              <a:rPr lang="en-US" sz="1400" dirty="0"/>
              <a:t>    scripts= =[</a:t>
            </a:r>
            <a:r>
              <a:rPr lang="en-US" sz="1400" dirty="0" err="1"/>
              <a:t>sh</a:t>
            </a:r>
            <a:r>
              <a:rPr lang="en-US" sz="1400" dirty="0"/>
              <a:t>/</a:t>
            </a:r>
            <a:r>
              <a:rPr lang="en-US" sz="1400" dirty="0" err="1"/>
              <a:t>run_nemd</a:t>
            </a:r>
            <a:r>
              <a:rPr lang="en-US" sz="1400" dirty="0"/>
              <a:t>, driver/</a:t>
            </a:r>
            <a:r>
              <a:rPr lang="en-US" sz="1400" dirty="0" err="1"/>
              <a:t>amorp_bldr_driver.py</a:t>
            </a:r>
            <a:r>
              <a:rPr lang="en-US" sz="1400" dirty="0"/>
              <a:t>],</a:t>
            </a:r>
          </a:p>
          <a:p>
            <a:r>
              <a:rPr lang="en-US" sz="1400" dirty="0">
                <a:solidFill>
                  <a:schemeClr val="accent1"/>
                </a:solidFill>
              </a:rPr>
              <a:t># </a:t>
            </a:r>
            <a:r>
              <a:rPr lang="en-US" sz="1400" b="1" dirty="0">
                <a:solidFill>
                  <a:schemeClr val="accent1"/>
                </a:solidFill>
              </a:rPr>
              <a:t>Binary Compilation</a:t>
            </a:r>
            <a:endParaRPr lang="en-US" sz="1400" b="1" dirty="0"/>
          </a:p>
          <a:p>
            <a:r>
              <a:rPr lang="en-US" sz="1400" dirty="0"/>
              <a:t>    </a:t>
            </a:r>
            <a:r>
              <a:rPr lang="en-US" sz="1400" dirty="0" err="1"/>
              <a:t>cmdclass</a:t>
            </a:r>
            <a:r>
              <a:rPr lang="en-US" sz="1400" dirty="0"/>
              <a:t>={'install': Install})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EA8A657-B335-F14F-80CB-EF10C0256C14}"/>
              </a:ext>
            </a:extLst>
          </p:cNvPr>
          <p:cNvSpPr/>
          <p:nvPr/>
        </p:nvSpPr>
        <p:spPr>
          <a:xfrm>
            <a:off x="10800184" y="496153"/>
            <a:ext cx="102220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err="1">
                <a:solidFill>
                  <a:schemeClr val="accent2"/>
                </a:solidFill>
              </a:rPr>
              <a:t>sh</a:t>
            </a:r>
            <a:r>
              <a:rPr lang="en-US" dirty="0">
                <a:solidFill>
                  <a:schemeClr val="accent2"/>
                </a:solidFill>
              </a:rPr>
              <a:t>/setup</a:t>
            </a:r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9C220BB-ED5F-EB4B-9A8F-0EFF0F76D462}"/>
              </a:ext>
            </a:extLst>
          </p:cNvPr>
          <p:cNvSpPr/>
          <p:nvPr/>
        </p:nvSpPr>
        <p:spPr>
          <a:xfrm>
            <a:off x="5279739" y="4469366"/>
            <a:ext cx="100784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err="1">
                <a:solidFill>
                  <a:schemeClr val="accent1"/>
                </a:solidFill>
              </a:rPr>
              <a:t>setup.py</a:t>
            </a:r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C0D1E72-4808-E846-A35F-C1AF91A7FCD0}"/>
              </a:ext>
            </a:extLst>
          </p:cNvPr>
          <p:cNvSpPr/>
          <p:nvPr/>
        </p:nvSpPr>
        <p:spPr>
          <a:xfrm>
            <a:off x="7468298" y="6018428"/>
            <a:ext cx="436593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sz="1400" dirty="0">
                <a:solidFill>
                  <a:schemeClr val="accent2"/>
                </a:solidFill>
              </a:rPr>
              <a:t>https://</a:t>
            </a:r>
            <a:r>
              <a:rPr lang="en-US" sz="1400" dirty="0" err="1">
                <a:solidFill>
                  <a:schemeClr val="accent2"/>
                </a:solidFill>
              </a:rPr>
              <a:t>github.com</a:t>
            </a:r>
            <a:r>
              <a:rPr lang="en-US" sz="1400" dirty="0">
                <a:solidFill>
                  <a:schemeClr val="accent2"/>
                </a:solidFill>
              </a:rPr>
              <a:t>/zhteg4pvt/</a:t>
            </a:r>
            <a:r>
              <a:rPr lang="en-US" sz="1400" dirty="0" err="1">
                <a:solidFill>
                  <a:schemeClr val="accent2"/>
                </a:solidFill>
              </a:rPr>
              <a:t>nemd</a:t>
            </a:r>
            <a:r>
              <a:rPr lang="en-US" sz="1400" dirty="0">
                <a:solidFill>
                  <a:schemeClr val="accent2"/>
                </a:solidFill>
              </a:rPr>
              <a:t>/tree/main/</a:t>
            </a:r>
            <a:r>
              <a:rPr lang="en-US" sz="1400" dirty="0" err="1">
                <a:solidFill>
                  <a:schemeClr val="accent2"/>
                </a:solidFill>
              </a:rPr>
              <a:t>sh</a:t>
            </a:r>
            <a:r>
              <a:rPr lang="en-US" sz="1400" dirty="0">
                <a:solidFill>
                  <a:schemeClr val="accent2"/>
                </a:solidFill>
              </a:rPr>
              <a:t>/setup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7027534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2A9310-BB79-2144-B598-D0EB31F3FA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105759" cy="1325563"/>
          </a:xfrm>
        </p:spPr>
        <p:txBody>
          <a:bodyPr/>
          <a:lstStyle/>
          <a:p>
            <a:r>
              <a:rPr lang="en-US" dirty="0" err="1">
                <a:solidFill>
                  <a:schemeClr val="accent1"/>
                </a:solidFill>
              </a:rPr>
              <a:t>setup.py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2BBDED6-40BA-2A45-8F88-5161C9C86FC7}"/>
              </a:ext>
            </a:extLst>
          </p:cNvPr>
          <p:cNvSpPr/>
          <p:nvPr/>
        </p:nvSpPr>
        <p:spPr>
          <a:xfrm>
            <a:off x="441107" y="2023400"/>
            <a:ext cx="388878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>
                <a:solidFill>
                  <a:schemeClr val="accent1"/>
                </a:solidFill>
              </a:rPr>
              <a:t>python </a:t>
            </a:r>
            <a:r>
              <a:rPr lang="en-US" i="1" dirty="0" err="1">
                <a:solidFill>
                  <a:schemeClr val="accent1"/>
                </a:solidFill>
              </a:rPr>
              <a:t>setup.py</a:t>
            </a:r>
            <a:r>
              <a:rPr lang="en-US" i="1" dirty="0">
                <a:solidFill>
                  <a:schemeClr val="accent1"/>
                </a:solidFill>
              </a:rPr>
              <a:t> install --verbose</a:t>
            </a:r>
          </a:p>
        </p:txBody>
      </p: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67995A82-AA87-EB47-9A72-502758C7DE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5632764"/>
              </p:ext>
            </p:extLst>
          </p:nvPr>
        </p:nvGraphicFramePr>
        <p:xfrm>
          <a:off x="497669" y="2681791"/>
          <a:ext cx="6152513" cy="32997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8127">
                  <a:extLst>
                    <a:ext uri="{9D8B030D-6E8A-4147-A177-3AD203B41FA5}">
                      <a16:colId xmlns:a16="http://schemas.microsoft.com/office/drawing/2014/main" val="1700155147"/>
                    </a:ext>
                  </a:extLst>
                </a:gridCol>
                <a:gridCol w="4954386">
                  <a:extLst>
                    <a:ext uri="{9D8B030D-6E8A-4147-A177-3AD203B41FA5}">
                      <a16:colId xmlns:a16="http://schemas.microsoft.com/office/drawing/2014/main" val="4090573760"/>
                    </a:ext>
                  </a:extLst>
                </a:gridCol>
              </a:tblGrid>
              <a:tr h="366635">
                <a:tc>
                  <a:txBody>
                    <a:bodyPr/>
                    <a:lstStyle/>
                    <a:p>
                      <a:r>
                        <a:rPr lang="en-US" sz="1600" b="0" i="1" dirty="0">
                          <a:solidFill>
                            <a:schemeClr val="tx1"/>
                          </a:solidFill>
                        </a:rPr>
                        <a:t>Function</a:t>
                      </a:r>
                      <a:endParaRPr 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kern="1200" dirty="0" err="1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setuptools</a:t>
                      </a:r>
                      <a:r>
                        <a:rPr lang="en-US" sz="1600" dirty="0" err="1"/>
                        <a:t>.setup</a:t>
                      </a:r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3249605"/>
                  </a:ext>
                </a:extLst>
              </a:tr>
              <a:tr h="366635">
                <a:tc>
                  <a:txBody>
                    <a:bodyPr/>
                    <a:lstStyle/>
                    <a:p>
                      <a:r>
                        <a:rPr lang="en-US" sz="1600" i="1" dirty="0">
                          <a:solidFill>
                            <a:schemeClr val="tx1"/>
                          </a:solidFill>
                        </a:rPr>
                        <a:t>Module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packages = [</a:t>
                      </a:r>
                      <a:r>
                        <a:rPr lang="en-US" sz="1600" dirty="0" err="1">
                          <a:solidFill>
                            <a:schemeClr val="tx1"/>
                          </a:solidFill>
                        </a:rPr>
                        <a:t>nemd</a:t>
                      </a: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, alamode]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2708201"/>
                  </a:ext>
                </a:extLst>
              </a:tr>
              <a:tr h="36663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i="1" dirty="0">
                          <a:solidFill>
                            <a:schemeClr val="tx1"/>
                          </a:solidFill>
                        </a:rPr>
                        <a:t>Python files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 err="1">
                          <a:solidFill>
                            <a:schemeClr val="tx1"/>
                          </a:solidFill>
                        </a:rPr>
                        <a:t>package_dir</a:t>
                      </a: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 = {</a:t>
                      </a:r>
                      <a:r>
                        <a:rPr lang="en-US" sz="1600" dirty="0" err="1">
                          <a:solidFill>
                            <a:schemeClr val="tx1"/>
                          </a:solidFill>
                        </a:rPr>
                        <a:t>nemd</a:t>
                      </a: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: module/</a:t>
                      </a:r>
                      <a:r>
                        <a:rPr lang="en-US" sz="1600" dirty="0" err="1">
                          <a:solidFill>
                            <a:schemeClr val="tx1"/>
                          </a:solidFill>
                        </a:rPr>
                        <a:t>nemd</a:t>
                      </a: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}</a:t>
                      </a:r>
                      <a:endParaRPr lang="en-US" sz="16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4436560"/>
                  </a:ext>
                </a:extLst>
              </a:tr>
              <a:tr h="366635">
                <a:tc>
                  <a:txBody>
                    <a:bodyPr/>
                    <a:lstStyle/>
                    <a:p>
                      <a:r>
                        <a:rPr lang="en-US" sz="1600" i="1" dirty="0">
                          <a:solidFill>
                            <a:schemeClr val="tx1"/>
                          </a:solidFill>
                        </a:rPr>
                        <a:t>Non-python</a:t>
                      </a:r>
                      <a:endParaRPr 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>
                          <a:solidFill>
                            <a:schemeClr val="tx1"/>
                          </a:solidFill>
                        </a:rPr>
                        <a:t>package_data</a:t>
                      </a: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= {</a:t>
                      </a:r>
                      <a:r>
                        <a:rPr lang="en-US" sz="1600" dirty="0" err="1">
                          <a:solidFill>
                            <a:schemeClr val="tx1"/>
                          </a:solidFill>
                        </a:rPr>
                        <a:t>nemd</a:t>
                      </a: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: [data/</a:t>
                      </a:r>
                      <a:r>
                        <a:rPr lang="en-US" sz="1600" dirty="0" err="1">
                          <a:solidFill>
                            <a:schemeClr val="tx1"/>
                          </a:solidFill>
                        </a:rPr>
                        <a:t>ff</a:t>
                      </a: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en-US" sz="1600" dirty="0" err="1">
                          <a:solidFill>
                            <a:schemeClr val="tx1"/>
                          </a:solidFill>
                        </a:rPr>
                        <a:t>oplsua</a:t>
                      </a: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/*.</a:t>
                      </a:r>
                      <a:r>
                        <a:rPr lang="en-US" sz="1600" dirty="0" err="1">
                          <a:solidFill>
                            <a:schemeClr val="tx1"/>
                          </a:solidFill>
                        </a:rPr>
                        <a:t>npy</a:t>
                      </a: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]}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3567960"/>
                  </a:ext>
                </a:extLst>
              </a:tr>
              <a:tr h="36663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i="1" dirty="0">
                          <a:solidFill>
                            <a:schemeClr val="tx1"/>
                          </a:solidFill>
                        </a:rPr>
                        <a:t>Scripts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scripts=[</a:t>
                      </a:r>
                      <a:r>
                        <a:rPr lang="en-US" sz="1600" dirty="0" err="1"/>
                        <a:t>sh</a:t>
                      </a:r>
                      <a:r>
                        <a:rPr lang="en-US" sz="1600" dirty="0"/>
                        <a:t>/</a:t>
                      </a:r>
                      <a:r>
                        <a:rPr lang="en-US" sz="1600" dirty="0" err="1"/>
                        <a:t>run_nemd</a:t>
                      </a:r>
                      <a:r>
                        <a:rPr lang="en-US" sz="1600" dirty="0"/>
                        <a:t>, driver/</a:t>
                      </a:r>
                      <a:r>
                        <a:rPr lang="en-US" sz="1600" dirty="0" err="1"/>
                        <a:t>amorp_bldr_driver.py</a:t>
                      </a:r>
                      <a:r>
                        <a:rPr lang="en-US" sz="1600" dirty="0"/>
                        <a:t>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21257283"/>
                  </a:ext>
                </a:extLst>
              </a:tr>
              <a:tr h="36663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i="1" dirty="0">
                          <a:solidFill>
                            <a:schemeClr val="tx1"/>
                          </a:solidFill>
                        </a:rPr>
                        <a:t>packages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install_requires</a:t>
                      </a:r>
                      <a:r>
                        <a:rPr lang="en-US" sz="1600" dirty="0"/>
                        <a:t>=[</a:t>
                      </a:r>
                      <a:r>
                        <a:rPr lang="en-US" sz="1600" dirty="0" err="1"/>
                        <a:t>numpy</a:t>
                      </a:r>
                      <a:r>
                        <a:rPr lang="en-US" sz="1600" dirty="0"/>
                        <a:t>, </a:t>
                      </a:r>
                      <a:r>
                        <a:rPr lang="en-US" sz="1600" dirty="0" err="1"/>
                        <a:t>scipy</a:t>
                      </a:r>
                      <a:r>
                        <a:rPr lang="en-US" sz="1600" dirty="0"/>
                        <a:t>&gt;=1.14.1]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3373995"/>
                  </a:ext>
                </a:extLst>
              </a:tr>
              <a:tr h="36663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i="1" dirty="0">
                          <a:solidFill>
                            <a:schemeClr val="tx1"/>
                          </a:solidFill>
                        </a:rPr>
                        <a:t>on request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extras_require</a:t>
                      </a:r>
                      <a:r>
                        <a:rPr lang="en-US" sz="1600" dirty="0"/>
                        <a:t>={dev: [</a:t>
                      </a:r>
                      <a:r>
                        <a:rPr lang="en-US" sz="1600" dirty="0" err="1"/>
                        <a:t>yapf</a:t>
                      </a:r>
                      <a:r>
                        <a:rPr lang="en-US" sz="1600" dirty="0"/>
                        <a:t>, </a:t>
                      </a:r>
                      <a:r>
                        <a:rPr lang="en-US" sz="1600" dirty="0" err="1"/>
                        <a:t>snakeviz</a:t>
                      </a:r>
                      <a:r>
                        <a:rPr lang="en-US" sz="1600" dirty="0"/>
                        <a:t>]}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6896180"/>
                  </a:ext>
                </a:extLst>
              </a:tr>
              <a:tr h="36663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i="1" dirty="0">
                          <a:solidFill>
                            <a:schemeClr val="tx1"/>
                          </a:solidFill>
                        </a:rPr>
                        <a:t>Metadata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classifiers=[Development Status :: 5 - Production/Stable]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6861193"/>
                  </a:ext>
                </a:extLst>
              </a:tr>
              <a:tr h="36663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7030A0"/>
                          </a:solidFill>
                        </a:rPr>
                        <a:t>Compilation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cmdclass</a:t>
                      </a:r>
                      <a:r>
                        <a:rPr lang="en-US" sz="1600" dirty="0"/>
                        <a:t>={install: </a:t>
                      </a:r>
                      <a:r>
                        <a:rPr lang="en-US" sz="1600" dirty="0">
                          <a:solidFill>
                            <a:srgbClr val="7030A0"/>
                          </a:solidFill>
                        </a:rPr>
                        <a:t>Install</a:t>
                      </a:r>
                      <a:r>
                        <a:rPr lang="en-US" sz="1600" dirty="0"/>
                        <a:t>})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59077"/>
                  </a:ext>
                </a:extLst>
              </a:tr>
            </a:tbl>
          </a:graphicData>
        </a:graphic>
      </p:graphicFrame>
      <p:sp>
        <p:nvSpPr>
          <p:cNvPr id="17" name="Rectangle 16">
            <a:extLst>
              <a:ext uri="{FF2B5EF4-FFF2-40B4-BE49-F238E27FC236}">
                <a16:creationId xmlns:a16="http://schemas.microsoft.com/office/drawing/2014/main" id="{A4340C03-E600-424E-A291-189EF945B9B2}"/>
              </a:ext>
            </a:extLst>
          </p:cNvPr>
          <p:cNvSpPr/>
          <p:nvPr/>
        </p:nvSpPr>
        <p:spPr>
          <a:xfrm>
            <a:off x="5156125" y="3420284"/>
            <a:ext cx="147363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>
                <a:solidFill>
                  <a:schemeClr val="accent2"/>
                </a:solidFill>
              </a:rPr>
              <a:t>site-packages</a:t>
            </a:r>
            <a:endParaRPr lang="en-US" dirty="0">
              <a:solidFill>
                <a:schemeClr val="accent2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4B002D2-2AA0-A944-A6C0-A3FA61E296F7}"/>
              </a:ext>
            </a:extLst>
          </p:cNvPr>
          <p:cNvSpPr/>
          <p:nvPr/>
        </p:nvSpPr>
        <p:spPr>
          <a:xfrm>
            <a:off x="6126481" y="4136866"/>
            <a:ext cx="52370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>
                <a:solidFill>
                  <a:schemeClr val="accent2"/>
                </a:solidFill>
              </a:rPr>
              <a:t>bin</a:t>
            </a:r>
            <a:endParaRPr lang="en-US" dirty="0">
              <a:solidFill>
                <a:schemeClr val="accent2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FF7788B-450F-6146-9633-30E825AC9513}"/>
              </a:ext>
            </a:extLst>
          </p:cNvPr>
          <p:cNvSpPr/>
          <p:nvPr/>
        </p:nvSpPr>
        <p:spPr>
          <a:xfrm>
            <a:off x="6757785" y="295495"/>
            <a:ext cx="3300613" cy="63401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400" dirty="0"/>
              <a:t>class </a:t>
            </a:r>
            <a:r>
              <a:rPr lang="en-US" sz="1400" dirty="0">
                <a:solidFill>
                  <a:srgbClr val="7030A0"/>
                </a:solidFill>
              </a:rPr>
              <a:t>Install</a:t>
            </a:r>
            <a:r>
              <a:rPr lang="en-US" sz="1400" dirty="0"/>
              <a:t>(install):</a:t>
            </a:r>
            <a:br>
              <a:rPr lang="en-US" sz="1400" dirty="0"/>
            </a:br>
            <a:endParaRPr lang="en-US" sz="1400" dirty="0"/>
          </a:p>
          <a:p>
            <a:r>
              <a:rPr lang="en-US" sz="1400" dirty="0"/>
              <a:t>    def run(self):</a:t>
            </a:r>
            <a:br>
              <a:rPr lang="en-US" sz="1400" dirty="0"/>
            </a:br>
            <a:r>
              <a:rPr lang="en-US" sz="1400" dirty="0"/>
              <a:t>        match </a:t>
            </a:r>
            <a:r>
              <a:rPr lang="en-US" sz="1400" dirty="0" err="1"/>
              <a:t>sys.platform</a:t>
            </a:r>
            <a:r>
              <a:rPr lang="en-US" sz="1400" dirty="0"/>
              <a:t>:</a:t>
            </a:r>
            <a:br>
              <a:rPr lang="en-US" sz="1400" dirty="0"/>
            </a:br>
            <a:r>
              <a:rPr lang="en-US" sz="1400" dirty="0"/>
              <a:t>            case '</a:t>
            </a:r>
            <a:r>
              <a:rPr lang="en-US" sz="1400" dirty="0" err="1"/>
              <a:t>darwin</a:t>
            </a:r>
            <a:r>
              <a:rPr lang="en-US" sz="1400" dirty="0"/>
              <a:t>':</a:t>
            </a:r>
            <a:br>
              <a:rPr lang="en-US" sz="1400" dirty="0"/>
            </a:br>
            <a:r>
              <a:rPr lang="en-US" sz="1400" dirty="0"/>
              <a:t>                Darwin().run()</a:t>
            </a:r>
            <a:br>
              <a:rPr lang="en-US" sz="1400" dirty="0"/>
            </a:br>
            <a:r>
              <a:rPr lang="en-US" sz="1400" dirty="0"/>
              <a:t>            case '</a:t>
            </a:r>
            <a:r>
              <a:rPr lang="en-US" sz="1400" dirty="0" err="1"/>
              <a:t>linux</a:t>
            </a:r>
            <a:r>
              <a:rPr lang="en-US" sz="1400" dirty="0"/>
              <a:t>':</a:t>
            </a:r>
            <a:br>
              <a:rPr lang="en-US" sz="1400" dirty="0"/>
            </a:br>
            <a:r>
              <a:rPr lang="en-US" sz="1400" dirty="0"/>
              <a:t>                Linux().run()</a:t>
            </a:r>
            <a:br>
              <a:rPr lang="en-US" sz="1400" dirty="0"/>
            </a:br>
            <a:endParaRPr lang="en-US" sz="1400" dirty="0"/>
          </a:p>
          <a:p>
            <a:r>
              <a:rPr lang="en-US" sz="1400" dirty="0"/>
              <a:t>class Darwin:</a:t>
            </a:r>
          </a:p>
          <a:p>
            <a:endParaRPr lang="en-US" sz="1400" dirty="0"/>
          </a:p>
          <a:p>
            <a:r>
              <a:rPr lang="en-US" sz="1400" dirty="0"/>
              <a:t>    def run(self):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self.check</a:t>
            </a:r>
            <a:r>
              <a:rPr lang="en-US" sz="1400" dirty="0"/>
              <a:t>()</a:t>
            </a:r>
            <a:br>
              <a:rPr lang="en-US" sz="1400" dirty="0"/>
            </a:br>
            <a:r>
              <a:rPr lang="en-US" sz="1400" dirty="0"/>
              <a:t>        self. install()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self.compile</a:t>
            </a:r>
            <a:r>
              <a:rPr lang="en-US" sz="1400" dirty="0"/>
              <a:t>()</a:t>
            </a:r>
          </a:p>
          <a:p>
            <a:endParaRPr lang="en-US" sz="1400" dirty="0"/>
          </a:p>
          <a:p>
            <a:r>
              <a:rPr lang="en-US" sz="1400" dirty="0"/>
              <a:t>class Linux(Darwin):</a:t>
            </a:r>
            <a:br>
              <a:rPr lang="en-US" sz="1400" dirty="0"/>
            </a:br>
            <a:br>
              <a:rPr lang="en-US" sz="1400" dirty="0"/>
            </a:br>
            <a:r>
              <a:rPr lang="en-US" sz="1400" dirty="0"/>
              <a:t>    def install(self, *</a:t>
            </a:r>
            <a:r>
              <a:rPr lang="en-US" sz="1400" dirty="0" err="1"/>
              <a:t>pkgs</a:t>
            </a:r>
            <a:r>
              <a:rPr lang="en-US" sz="1400" dirty="0"/>
              <a:t>):</a:t>
            </a:r>
          </a:p>
          <a:p>
            <a:r>
              <a:rPr lang="en-US" sz="1400" i="1" dirty="0"/>
              <a:t>        </a:t>
            </a:r>
            <a:r>
              <a:rPr lang="en-US" sz="1400" i="1" dirty="0" err="1"/>
              <a:t>cmd</a:t>
            </a:r>
            <a:r>
              <a:rPr lang="en-US" sz="1400" i="1" dirty="0"/>
              <a:t> = </a:t>
            </a:r>
            <a:r>
              <a:rPr lang="en-US" sz="1400" dirty="0"/>
              <a:t>'</a:t>
            </a:r>
            <a:r>
              <a:rPr lang="en-US" sz="1400" dirty="0" err="1"/>
              <a:t>nvidia-smi</a:t>
            </a:r>
            <a:r>
              <a:rPr lang="en-US" sz="1400" dirty="0"/>
              <a:t> | grep NVIDIA-SMI'</a:t>
            </a:r>
            <a:br>
              <a:rPr lang="en-US" sz="1400" i="1" dirty="0"/>
            </a:br>
            <a:r>
              <a:rPr lang="en-US" sz="1400" i="1" dirty="0"/>
              <a:t>        </a:t>
            </a:r>
            <a:r>
              <a:rPr lang="en-US" sz="1400" dirty="0"/>
              <a:t>info = </a:t>
            </a:r>
            <a:r>
              <a:rPr lang="en-US" sz="1400" dirty="0" err="1"/>
              <a:t>subprocess.run</a:t>
            </a:r>
            <a:r>
              <a:rPr lang="en-US" sz="1400" dirty="0"/>
              <a:t>(</a:t>
            </a:r>
            <a:r>
              <a:rPr lang="en-US" sz="1400" dirty="0" err="1"/>
              <a:t>cmd</a:t>
            </a:r>
            <a:r>
              <a:rPr lang="en-US" sz="1400" dirty="0"/>
              <a:t>, shell=True)</a:t>
            </a:r>
            <a:br>
              <a:rPr lang="en-US" sz="1400" dirty="0"/>
            </a:br>
            <a:r>
              <a:rPr lang="en-US" sz="1400" dirty="0"/>
              <a:t>        if not </a:t>
            </a:r>
            <a:r>
              <a:rPr lang="en-US" sz="1400" dirty="0" err="1"/>
              <a:t>info.returncode</a:t>
            </a:r>
            <a:r>
              <a:rPr lang="en-US" sz="1400" dirty="0"/>
              <a:t>:</a:t>
            </a:r>
            <a:br>
              <a:rPr lang="en-US" sz="1400" dirty="0"/>
            </a:br>
            <a:r>
              <a:rPr lang="en-US" sz="1400" dirty="0"/>
              <a:t>            </a:t>
            </a:r>
            <a:r>
              <a:rPr lang="en-US" sz="1400" dirty="0" err="1"/>
              <a:t>pkgs</a:t>
            </a:r>
            <a:r>
              <a:rPr lang="en-US" sz="1400" dirty="0"/>
              <a:t> += ('</a:t>
            </a:r>
            <a:r>
              <a:rPr lang="en-US" sz="1400" dirty="0" err="1"/>
              <a:t>nvidia</a:t>
            </a:r>
            <a:r>
              <a:rPr lang="en-US" sz="1400" dirty="0"/>
              <a:t>-</a:t>
            </a:r>
            <a:r>
              <a:rPr lang="en-US" sz="1400" dirty="0" err="1"/>
              <a:t>cuda</a:t>
            </a:r>
            <a:r>
              <a:rPr lang="en-US" sz="1400" dirty="0"/>
              <a:t>-toolkit', )</a:t>
            </a:r>
            <a:br>
              <a:rPr lang="en-US" sz="1400" dirty="0"/>
            </a:br>
            <a:r>
              <a:rPr lang="en-US" sz="1400" dirty="0"/>
              <a:t>        super().install(*</a:t>
            </a:r>
            <a:r>
              <a:rPr lang="en-US" sz="1400" dirty="0" err="1"/>
              <a:t>pkgs</a:t>
            </a:r>
            <a:r>
              <a:rPr lang="en-US" sz="1400" dirty="0"/>
              <a:t>)</a:t>
            </a:r>
          </a:p>
          <a:p>
            <a:br>
              <a:rPr lang="en-US" sz="1400" dirty="0"/>
            </a:br>
            <a:r>
              <a:rPr lang="en-US" sz="1400" dirty="0"/>
              <a:t>    def run(self):</a:t>
            </a:r>
            <a:br>
              <a:rPr lang="en-US" sz="1400" dirty="0"/>
            </a:br>
            <a:r>
              <a:rPr lang="en-US" sz="1400" dirty="0"/>
              <a:t>        super().run()</a:t>
            </a:r>
            <a:br>
              <a:rPr lang="en-US" sz="1400" dirty="0"/>
            </a:br>
            <a:r>
              <a:rPr lang="en-US" sz="1400" dirty="0"/>
              <a:t>        </a:t>
            </a:r>
            <a:r>
              <a:rPr lang="en-US" sz="1400" dirty="0" err="1"/>
              <a:t>self.installTerm</a:t>
            </a:r>
            <a:r>
              <a:rPr lang="en-US" sz="1400" dirty="0"/>
              <a:t>()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D95B273-8C98-644C-8A99-4E4142236492}"/>
              </a:ext>
            </a:extLst>
          </p:cNvPr>
          <p:cNvSpPr/>
          <p:nvPr/>
        </p:nvSpPr>
        <p:spPr>
          <a:xfrm>
            <a:off x="9274032" y="720336"/>
            <a:ext cx="2696294" cy="59093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accent5"/>
                </a:solidFill>
              </a:rPr>
              <a:t>Install on different platforms:</a:t>
            </a:r>
          </a:p>
          <a:p>
            <a:endParaRPr lang="en-US" sz="1400" dirty="0">
              <a:solidFill>
                <a:schemeClr val="accent5"/>
              </a:solidFill>
            </a:endParaRPr>
          </a:p>
          <a:p>
            <a:r>
              <a:rPr lang="en-US" sz="1400" dirty="0">
                <a:solidFill>
                  <a:schemeClr val="accent5"/>
                </a:solidFill>
              </a:rPr>
              <a:t>    Darwin</a:t>
            </a:r>
          </a:p>
          <a:p>
            <a:endParaRPr lang="en-US" sz="1400" dirty="0">
              <a:solidFill>
                <a:schemeClr val="accent5"/>
              </a:solidFill>
            </a:endParaRPr>
          </a:p>
          <a:p>
            <a:r>
              <a:rPr lang="en-US" sz="1400" dirty="0">
                <a:solidFill>
                  <a:schemeClr val="accent5"/>
                </a:solidFill>
              </a:rPr>
              <a:t>    Linux</a:t>
            </a:r>
            <a:endParaRPr lang="en-US" sz="1400" dirty="0"/>
          </a:p>
          <a:p>
            <a:endParaRPr lang="en-US" sz="1400" dirty="0">
              <a:solidFill>
                <a:schemeClr val="accent5"/>
              </a:solidFill>
            </a:endParaRPr>
          </a:p>
          <a:p>
            <a:endParaRPr lang="en-US" sz="1400" dirty="0">
              <a:solidFill>
                <a:schemeClr val="accent5"/>
              </a:solidFill>
            </a:endParaRPr>
          </a:p>
          <a:p>
            <a:r>
              <a:rPr lang="en-US" sz="1400" dirty="0">
                <a:solidFill>
                  <a:schemeClr val="accent5"/>
                </a:solidFill>
              </a:rPr>
              <a:t>Install on Darwin:</a:t>
            </a:r>
          </a:p>
          <a:p>
            <a:endParaRPr lang="en-US" sz="1400" dirty="0">
              <a:solidFill>
                <a:schemeClr val="accent5"/>
              </a:solidFill>
            </a:endParaRPr>
          </a:p>
          <a:p>
            <a:endParaRPr lang="en-US" sz="1400" dirty="0">
              <a:solidFill>
                <a:schemeClr val="accent5"/>
              </a:solidFill>
            </a:endParaRPr>
          </a:p>
          <a:p>
            <a:r>
              <a:rPr lang="en-US" sz="1400" dirty="0">
                <a:solidFill>
                  <a:schemeClr val="accent5"/>
                </a:solidFill>
              </a:rPr>
              <a:t>    1) check existence</a:t>
            </a:r>
          </a:p>
          <a:p>
            <a:r>
              <a:rPr lang="en-US" sz="1400" dirty="0">
                <a:solidFill>
                  <a:schemeClr val="accent5"/>
                </a:solidFill>
              </a:rPr>
              <a:t>    2) install prerequisites</a:t>
            </a:r>
          </a:p>
          <a:p>
            <a:r>
              <a:rPr lang="en-US" sz="1400" dirty="0">
                <a:solidFill>
                  <a:schemeClr val="accent5"/>
                </a:solidFill>
              </a:rPr>
              <a:t>    3) compile binaries</a:t>
            </a:r>
          </a:p>
          <a:p>
            <a:endParaRPr lang="en-US" sz="1400" dirty="0">
              <a:solidFill>
                <a:schemeClr val="accent5"/>
              </a:solidFill>
            </a:endParaRPr>
          </a:p>
          <a:p>
            <a:r>
              <a:rPr lang="en-US" sz="1400" dirty="0">
                <a:solidFill>
                  <a:schemeClr val="accent5"/>
                </a:solidFill>
              </a:rPr>
              <a:t>Install on Linux:</a:t>
            </a:r>
          </a:p>
          <a:p>
            <a:r>
              <a:rPr lang="en-US" sz="1400" dirty="0">
                <a:solidFill>
                  <a:schemeClr val="accent5"/>
                </a:solidFill>
              </a:rPr>
              <a:t>    overwrite for customization</a:t>
            </a:r>
          </a:p>
          <a:p>
            <a:endParaRPr lang="en-US" sz="1400" dirty="0">
              <a:solidFill>
                <a:schemeClr val="accent5"/>
              </a:solidFill>
            </a:endParaRPr>
          </a:p>
          <a:p>
            <a:endParaRPr lang="en-US" sz="1400" dirty="0">
              <a:solidFill>
                <a:schemeClr val="accent5"/>
              </a:solidFill>
            </a:endParaRPr>
          </a:p>
          <a:p>
            <a:r>
              <a:rPr lang="en-US" sz="1400" dirty="0">
                <a:solidFill>
                  <a:schemeClr val="accent5"/>
                </a:solidFill>
              </a:rPr>
              <a:t> </a:t>
            </a:r>
          </a:p>
          <a:p>
            <a:r>
              <a:rPr lang="en-US" sz="1400" dirty="0">
                <a:solidFill>
                  <a:schemeClr val="accent5"/>
                </a:solidFill>
              </a:rPr>
              <a:t>         1) GPU toolkit</a:t>
            </a:r>
          </a:p>
          <a:p>
            <a:endParaRPr lang="en-US" sz="1400" dirty="0">
              <a:solidFill>
                <a:schemeClr val="accent5"/>
              </a:solidFill>
            </a:endParaRPr>
          </a:p>
          <a:p>
            <a:endParaRPr lang="en-US" sz="1400" dirty="0">
              <a:solidFill>
                <a:schemeClr val="accent5"/>
              </a:solidFill>
            </a:endParaRPr>
          </a:p>
          <a:p>
            <a:endParaRPr lang="en-US" sz="1400" dirty="0">
              <a:solidFill>
                <a:schemeClr val="accent5"/>
              </a:solidFill>
            </a:endParaRPr>
          </a:p>
          <a:p>
            <a:endParaRPr lang="en-US" sz="1400" dirty="0">
              <a:solidFill>
                <a:schemeClr val="accent5"/>
              </a:solidFill>
            </a:endParaRPr>
          </a:p>
          <a:p>
            <a:endParaRPr lang="en-US" sz="1400" dirty="0">
              <a:solidFill>
                <a:schemeClr val="accent5"/>
              </a:solidFill>
            </a:endParaRPr>
          </a:p>
          <a:p>
            <a:r>
              <a:rPr lang="en-US" sz="1400" dirty="0">
                <a:solidFill>
                  <a:schemeClr val="accent5"/>
                </a:solidFill>
              </a:rPr>
              <a:t>         2) </a:t>
            </a:r>
            <a:r>
              <a:rPr lang="en-US" sz="1400" dirty="0" err="1">
                <a:solidFill>
                  <a:schemeClr val="accent5"/>
                </a:solidFill>
              </a:rPr>
              <a:t>splitted</a:t>
            </a:r>
            <a:r>
              <a:rPr lang="en-US" sz="1400" dirty="0">
                <a:solidFill>
                  <a:schemeClr val="accent5"/>
                </a:solidFill>
              </a:rPr>
              <a:t> terminals</a:t>
            </a:r>
          </a:p>
        </p:txBody>
      </p:sp>
    </p:spTree>
    <p:extLst>
      <p:ext uri="{BB962C8B-B14F-4D97-AF65-F5344CB8AC3E}">
        <p14:creationId xmlns:p14="http://schemas.microsoft.com/office/powerpoint/2010/main" val="19068054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37BD5A-BA12-DA4C-BA74-14CF0715B0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Structure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E2C1888-8148-534E-A074-A5D082788F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2840913"/>
              </p:ext>
            </p:extLst>
          </p:nvPr>
        </p:nvGraphicFramePr>
        <p:xfrm>
          <a:off x="1416857" y="1634026"/>
          <a:ext cx="9248371" cy="4526280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1755089">
                  <a:extLst>
                    <a:ext uri="{9D8B030D-6E8A-4147-A177-3AD203B41FA5}">
                      <a16:colId xmlns:a16="http://schemas.microsoft.com/office/drawing/2014/main" val="3202141244"/>
                    </a:ext>
                  </a:extLst>
                </a:gridCol>
                <a:gridCol w="7493282">
                  <a:extLst>
                    <a:ext uri="{9D8B030D-6E8A-4147-A177-3AD203B41FA5}">
                      <a16:colId xmlns:a16="http://schemas.microsoft.com/office/drawing/2014/main" val="2146602134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Name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Description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3433158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solidFill>
                            <a:schemeClr val="accent2"/>
                          </a:solidFill>
                        </a:rPr>
                        <a:t>sh</a:t>
                      </a:r>
                      <a:endParaRPr lang="en-US" dirty="0">
                        <a:solidFill>
                          <a:schemeClr val="accent2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kern="1200" dirty="0">
                          <a:solidFill>
                            <a:schemeClr val="accent2"/>
                          </a:solidFill>
                          <a:effectLst/>
                        </a:rPr>
                        <a:t>POSIX shell scripts</a:t>
                      </a:r>
                      <a:endParaRPr lang="en-US" dirty="0">
                        <a:solidFill>
                          <a:schemeClr val="accent2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4329531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solidFill>
                            <a:schemeClr val="accent1"/>
                          </a:solidFill>
                        </a:rPr>
                        <a:t>setup.py</a:t>
                      </a:r>
                      <a:endParaRPr lang="en-US" dirty="0">
                        <a:solidFill>
                          <a:schemeClr val="accent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err="1">
                          <a:solidFill>
                            <a:schemeClr val="accent1"/>
                          </a:solidFill>
                        </a:rPr>
                        <a:t>PyPI</a:t>
                      </a:r>
                      <a:r>
                        <a:rPr lang="en-US" sz="1800" dirty="0">
                          <a:solidFill>
                            <a:schemeClr val="accent1"/>
                          </a:solidFill>
                        </a:rPr>
                        <a:t> installation on Darwin and Linux</a:t>
                      </a:r>
                      <a:endParaRPr lang="en-US" dirty="0">
                        <a:solidFill>
                          <a:schemeClr val="accent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851302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module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Shared classes and functions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5867601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driver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Command line execution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368254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workflow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Executions and aggregation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603777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premake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Shell environmental configuration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2635044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test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Unit, integration, scientific, and performance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88681689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practice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Trial and error learning curve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3642351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docs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Roadmap, summary, and documentation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285875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283635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C173D-D3DC-9F4C-A8C5-BF302DEB97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618"/>
            <a:ext cx="2985306" cy="817436"/>
          </a:xfrm>
        </p:spPr>
        <p:txBody>
          <a:bodyPr/>
          <a:lstStyle/>
          <a:p>
            <a:r>
              <a:rPr lang="en-US" dirty="0"/>
              <a:t>Architecture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0D8E5B-970B-B649-A53E-984F2A70C6FD}"/>
              </a:ext>
            </a:extLst>
          </p:cNvPr>
          <p:cNvSpPr txBox="1"/>
          <p:nvPr/>
        </p:nvSpPr>
        <p:spPr>
          <a:xfrm>
            <a:off x="203912" y="924848"/>
            <a:ext cx="24237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 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4588F70-816D-6E4F-AE61-E6BE3EF59325}"/>
              </a:ext>
            </a:extLst>
          </p:cNvPr>
          <p:cNvSpPr/>
          <p:nvPr/>
        </p:nvSpPr>
        <p:spPr>
          <a:xfrm>
            <a:off x="6631600" y="4177595"/>
            <a:ext cx="3681649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rgbClr val="7030A0"/>
                </a:solidFill>
              </a:rPr>
              <a:t>Molecular Dynamics Log Analysis</a:t>
            </a:r>
            <a:r>
              <a:rPr lang="en-US" sz="2000" dirty="0"/>
              <a:t> 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BC8CC3B-ABFF-B646-B73E-E44C9CB809B2}"/>
              </a:ext>
            </a:extLst>
          </p:cNvPr>
          <p:cNvSpPr/>
          <p:nvPr/>
        </p:nvSpPr>
        <p:spPr>
          <a:xfrm>
            <a:off x="1447031" y="3333244"/>
            <a:ext cx="4359783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rgbClr val="7030A0"/>
                </a:solidFill>
              </a:rPr>
              <a:t>Molecular Dynamics Trajectory Analysis</a:t>
            </a:r>
            <a:r>
              <a:rPr lang="en-US" sz="2000" dirty="0"/>
              <a:t> 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261EEB76-F92B-2347-AD56-40101983DE73}"/>
              </a:ext>
            </a:extLst>
          </p:cNvPr>
          <p:cNvSpPr/>
          <p:nvPr/>
        </p:nvSpPr>
        <p:spPr>
          <a:xfrm>
            <a:off x="2416784" y="924848"/>
            <a:ext cx="7382212" cy="73866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accent6"/>
                </a:solidFill>
              </a:rPr>
              <a:t>System, Constant, Wrapper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D337A186-DA32-CD4F-8337-DE2434F40C97}"/>
              </a:ext>
            </a:extLst>
          </p:cNvPr>
          <p:cNvSpPr/>
          <p:nvPr/>
        </p:nvSpPr>
        <p:spPr>
          <a:xfrm>
            <a:off x="9980580" y="933881"/>
            <a:ext cx="2057400" cy="73866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chemeClr val="accent6"/>
                </a:solidFill>
              </a:rPr>
              <a:t>Constant On Disk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6748ECE-270E-7741-9D72-3BB8A63736B0}"/>
              </a:ext>
            </a:extLst>
          </p:cNvPr>
          <p:cNvSpPr txBox="1"/>
          <p:nvPr/>
        </p:nvSpPr>
        <p:spPr>
          <a:xfrm>
            <a:off x="172892" y="4265303"/>
            <a:ext cx="320318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000" dirty="0"/>
              <a:t>Driver Wrapper</a:t>
            </a:r>
            <a:r>
              <a:rPr lang="en-US" sz="2000" dirty="0">
                <a:solidFill>
                  <a:srgbClr val="7030A0"/>
                </a:solidFill>
              </a:rPr>
              <a:t> </a:t>
            </a:r>
          </a:p>
          <a:p>
            <a:r>
              <a:rPr lang="en-US" sz="2000" dirty="0"/>
              <a:t>Parallelization &amp; Serialization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8AB71A3-57CF-1D45-9CCA-EFB994C70E67}"/>
              </a:ext>
            </a:extLst>
          </p:cNvPr>
          <p:cNvCxnSpPr/>
          <p:nvPr/>
        </p:nvCxnSpPr>
        <p:spPr>
          <a:xfrm>
            <a:off x="5990966" y="751226"/>
            <a:ext cx="0" cy="14864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01D9F721-0B72-3E46-8EED-118711A485B9}"/>
              </a:ext>
            </a:extLst>
          </p:cNvPr>
          <p:cNvCxnSpPr>
            <a:cxnSpLocks/>
          </p:cNvCxnSpPr>
          <p:nvPr/>
        </p:nvCxnSpPr>
        <p:spPr>
          <a:xfrm>
            <a:off x="9798996" y="1297276"/>
            <a:ext cx="104837" cy="3095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35973F5C-FC1D-AB4B-A98C-044B6F93D8C5}"/>
              </a:ext>
            </a:extLst>
          </p:cNvPr>
          <p:cNvSpPr txBox="1"/>
          <p:nvPr/>
        </p:nvSpPr>
        <p:spPr>
          <a:xfrm>
            <a:off x="5469851" y="282909"/>
            <a:ext cx="11200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chemeClr val="accent6"/>
                </a:solidFill>
              </a:rPr>
              <a:t>initiation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833CBEE-E24F-F24B-9C4D-37CAD0D6CF9A}"/>
              </a:ext>
            </a:extLst>
          </p:cNvPr>
          <p:cNvCxnSpPr>
            <a:cxnSpLocks/>
          </p:cNvCxnSpPr>
          <p:nvPr/>
        </p:nvCxnSpPr>
        <p:spPr>
          <a:xfrm flipH="1" flipV="1">
            <a:off x="2308784" y="1290632"/>
            <a:ext cx="94880" cy="6644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8C851904-F9E6-2748-92C8-13BDDE8DB243}"/>
              </a:ext>
            </a:extLst>
          </p:cNvPr>
          <p:cNvSpPr/>
          <p:nvPr/>
        </p:nvSpPr>
        <p:spPr>
          <a:xfrm>
            <a:off x="9192708" y="3749636"/>
            <a:ext cx="1941942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rgbClr val="7030A0"/>
                </a:solidFill>
              </a:rPr>
              <a:t>Lattice Dynamics</a:t>
            </a:r>
            <a:endParaRPr lang="en-US" sz="2000" dirty="0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42645386-F15B-D048-9470-409A45A55201}"/>
              </a:ext>
            </a:extLst>
          </p:cNvPr>
          <p:cNvSpPr/>
          <p:nvPr/>
        </p:nvSpPr>
        <p:spPr>
          <a:xfrm>
            <a:off x="4984718" y="4177595"/>
            <a:ext cx="104515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rgbClr val="7030A0"/>
                </a:solidFill>
              </a:rPr>
              <a:t>Polymer</a:t>
            </a:r>
            <a:endParaRPr lang="en-US" sz="2000" dirty="0"/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CB03CAF2-CFF0-894B-B873-A4A31A10159F}"/>
              </a:ext>
            </a:extLst>
          </p:cNvPr>
          <p:cNvSpPr/>
          <p:nvPr/>
        </p:nvSpPr>
        <p:spPr>
          <a:xfrm>
            <a:off x="6044118" y="3041515"/>
            <a:ext cx="4422843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7030A0"/>
                </a:solidFill>
              </a:rPr>
              <a:t>Structure, Coordinate, and Force Field</a:t>
            </a:r>
            <a:endParaRPr lang="en-US" sz="2000" dirty="0"/>
          </a:p>
        </p:txBody>
      </p:sp>
      <p:sp>
        <p:nvSpPr>
          <p:cNvPr id="195" name="Rounded Rectangle 194">
            <a:extLst>
              <a:ext uri="{FF2B5EF4-FFF2-40B4-BE49-F238E27FC236}">
                <a16:creationId xmlns:a16="http://schemas.microsoft.com/office/drawing/2014/main" id="{A7587610-3CA1-C347-80B6-9027455CC19A}"/>
              </a:ext>
            </a:extLst>
          </p:cNvPr>
          <p:cNvSpPr/>
          <p:nvPr/>
        </p:nvSpPr>
        <p:spPr>
          <a:xfrm>
            <a:off x="177582" y="1968802"/>
            <a:ext cx="11860396" cy="3014481"/>
          </a:xfrm>
          <a:prstGeom prst="roundRect">
            <a:avLst>
              <a:gd name="adj" fmla="val 6997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97" name="Rounded Rectangle 196">
            <a:extLst>
              <a:ext uri="{FF2B5EF4-FFF2-40B4-BE49-F238E27FC236}">
                <a16:creationId xmlns:a16="http://schemas.microsoft.com/office/drawing/2014/main" id="{01377981-1A99-AE48-A8D5-36EBF9D0EF53}"/>
              </a:ext>
            </a:extLst>
          </p:cNvPr>
          <p:cNvSpPr/>
          <p:nvPr/>
        </p:nvSpPr>
        <p:spPr>
          <a:xfrm>
            <a:off x="203911" y="926711"/>
            <a:ext cx="2080931" cy="738664"/>
          </a:xfrm>
          <a:prstGeom prst="roundRect">
            <a:avLst>
              <a:gd name="adj" fmla="val 21036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accent6"/>
                </a:solidFill>
              </a:rPr>
              <a:t>Job &amp; Log</a:t>
            </a:r>
          </a:p>
        </p:txBody>
      </p:sp>
      <p:sp>
        <p:nvSpPr>
          <p:cNvPr id="201" name="Rounded Rectangle 200">
            <a:extLst>
              <a:ext uri="{FF2B5EF4-FFF2-40B4-BE49-F238E27FC236}">
                <a16:creationId xmlns:a16="http://schemas.microsoft.com/office/drawing/2014/main" id="{2E175DBF-3269-A648-A105-27E7E818773B}"/>
              </a:ext>
            </a:extLst>
          </p:cNvPr>
          <p:cNvSpPr/>
          <p:nvPr/>
        </p:nvSpPr>
        <p:spPr>
          <a:xfrm>
            <a:off x="168928" y="5276271"/>
            <a:ext cx="11860396" cy="544456"/>
          </a:xfrm>
          <a:prstGeom prst="roundRect">
            <a:avLst>
              <a:gd name="adj" fmla="val 36169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FFC000"/>
                </a:solidFill>
              </a:rPr>
              <a:t> Builder, Molecular Dynamics Simulation, MD Post Analysis, and Solid Physics</a:t>
            </a:r>
            <a:endParaRPr lang="en-US" sz="2000" dirty="0"/>
          </a:p>
        </p:txBody>
      </p:sp>
      <p:sp>
        <p:nvSpPr>
          <p:cNvPr id="202" name="Rounded Rectangle 201">
            <a:extLst>
              <a:ext uri="{FF2B5EF4-FFF2-40B4-BE49-F238E27FC236}">
                <a16:creationId xmlns:a16="http://schemas.microsoft.com/office/drawing/2014/main" id="{2CE968C9-6FC5-1E4B-9762-7625B1E7D3F7}"/>
              </a:ext>
            </a:extLst>
          </p:cNvPr>
          <p:cNvSpPr/>
          <p:nvPr/>
        </p:nvSpPr>
        <p:spPr>
          <a:xfrm>
            <a:off x="168928" y="6120566"/>
            <a:ext cx="11860396" cy="521208"/>
          </a:xfrm>
          <a:prstGeom prst="roundRect">
            <a:avLst>
              <a:gd name="adj" fmla="val 37616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accent2"/>
                </a:solidFill>
              </a:rPr>
              <a:t>Decentralized Automation </a:t>
            </a:r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509083AD-01D3-6C4F-BB35-B0596080E109}"/>
              </a:ext>
            </a:extLst>
          </p:cNvPr>
          <p:cNvSpPr txBox="1"/>
          <p:nvPr/>
        </p:nvSpPr>
        <p:spPr>
          <a:xfrm>
            <a:off x="4896255" y="2157746"/>
            <a:ext cx="23022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accent6"/>
                </a:solidFill>
              </a:rPr>
              <a:t>Application Focused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0072D44-E63E-3A40-A103-85C34FE92124}"/>
              </a:ext>
            </a:extLst>
          </p:cNvPr>
          <p:cNvSpPr/>
          <p:nvPr/>
        </p:nvSpPr>
        <p:spPr>
          <a:xfrm>
            <a:off x="11071670" y="5285623"/>
            <a:ext cx="817083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b="1" dirty="0"/>
              <a:t>driver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B69B750B-F538-A346-9E74-66BA3FF4CE22}"/>
              </a:ext>
            </a:extLst>
          </p:cNvPr>
          <p:cNvSpPr/>
          <p:nvPr/>
        </p:nvSpPr>
        <p:spPr>
          <a:xfrm>
            <a:off x="10794276" y="6149558"/>
            <a:ext cx="1198341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b="1" dirty="0"/>
              <a:t>workflow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158E483-2560-6248-A99C-4FA39AA2FFC0}"/>
              </a:ext>
            </a:extLst>
          </p:cNvPr>
          <p:cNvSpPr/>
          <p:nvPr/>
        </p:nvSpPr>
        <p:spPr>
          <a:xfrm>
            <a:off x="10303016" y="507974"/>
            <a:ext cx="1723549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b="1" dirty="0"/>
              <a:t>module/</a:t>
            </a:r>
            <a:r>
              <a:rPr lang="en-US" sz="2000" b="1" dirty="0" err="1"/>
              <a:t>nemd</a:t>
            </a:r>
            <a:endParaRPr 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25431915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C173D-D3DC-9F4C-A8C5-BF302DEB97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618"/>
            <a:ext cx="2985306" cy="817436"/>
          </a:xfrm>
        </p:spPr>
        <p:txBody>
          <a:bodyPr/>
          <a:lstStyle/>
          <a:p>
            <a:r>
              <a:rPr lang="en-US" dirty="0"/>
              <a:t>Architecture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1F29ED-2B46-9341-9908-BE64EADFCFBA}"/>
              </a:ext>
            </a:extLst>
          </p:cNvPr>
          <p:cNvSpPr txBox="1"/>
          <p:nvPr/>
        </p:nvSpPr>
        <p:spPr>
          <a:xfrm>
            <a:off x="210327" y="3744577"/>
            <a:ext cx="156991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parser (</a:t>
            </a:r>
            <a:r>
              <a:rPr lang="en-US" sz="1400" dirty="0" err="1"/>
              <a:t>parserutils</a:t>
            </a:r>
            <a:r>
              <a:rPr lang="en-US" sz="1400" dirty="0"/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0463E7A-6842-0D49-8F4E-D347FD468A04}"/>
              </a:ext>
            </a:extLst>
          </p:cNvPr>
          <p:cNvSpPr txBox="1"/>
          <p:nvPr/>
        </p:nvSpPr>
        <p:spPr>
          <a:xfrm>
            <a:off x="167366" y="4196446"/>
            <a:ext cx="248818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 job, aggregator, task (</a:t>
            </a:r>
            <a:r>
              <a:rPr lang="en-US" sz="1400" dirty="0" err="1"/>
              <a:t>taskbase</a:t>
            </a:r>
            <a:r>
              <a:rPr lang="en-US" sz="1400" dirty="0"/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EB588E4-F10A-644C-9466-0925CE93F76D}"/>
              </a:ext>
            </a:extLst>
          </p:cNvPr>
          <p:cNvSpPr txBox="1"/>
          <p:nvPr/>
        </p:nvSpPr>
        <p:spPr>
          <a:xfrm>
            <a:off x="5094886" y="468431"/>
            <a:ext cx="23827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debug, </a:t>
            </a:r>
            <a:r>
              <a:rPr lang="en-US" sz="1400" dirty="0" err="1"/>
              <a:t>lazy_import</a:t>
            </a:r>
            <a:r>
              <a:rPr lang="en-US" sz="1400" dirty="0"/>
              <a:t> (__</a:t>
            </a:r>
            <a:r>
              <a:rPr lang="en-US" sz="1400" dirty="0" err="1"/>
              <a:t>init</a:t>
            </a:r>
            <a:r>
              <a:rPr lang="en-US" sz="1400" dirty="0"/>
              <a:t>__ 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0D8E5B-970B-B649-A53E-984F2A70C6FD}"/>
              </a:ext>
            </a:extLst>
          </p:cNvPr>
          <p:cNvSpPr txBox="1"/>
          <p:nvPr/>
        </p:nvSpPr>
        <p:spPr>
          <a:xfrm>
            <a:off x="203912" y="924848"/>
            <a:ext cx="22474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319A201-7BF9-684E-BEFE-9D7833C6BDC2}"/>
              </a:ext>
            </a:extLst>
          </p:cNvPr>
          <p:cNvSpPr txBox="1"/>
          <p:nvPr/>
        </p:nvSpPr>
        <p:spPr>
          <a:xfrm>
            <a:off x="1740522" y="4643132"/>
            <a:ext cx="198919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 </a:t>
            </a:r>
            <a:r>
              <a:rPr lang="en-US" sz="1400" dirty="0">
                <a:solidFill>
                  <a:srgbClr val="7030A0"/>
                </a:solidFill>
              </a:rPr>
              <a:t>driver &amp; test tasks </a:t>
            </a:r>
            <a:r>
              <a:rPr lang="en-US" sz="1400" dirty="0"/>
              <a:t>(task)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EDE92BA-D6DA-8B41-8918-22EA38868DDE}"/>
              </a:ext>
            </a:extLst>
          </p:cNvPr>
          <p:cNvSpPr txBox="1"/>
          <p:nvPr/>
        </p:nvSpPr>
        <p:spPr>
          <a:xfrm>
            <a:off x="6253832" y="2276800"/>
            <a:ext cx="16513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assignment (</a:t>
            </a:r>
            <a:r>
              <a:rPr lang="en-US" sz="1400" dirty="0" err="1"/>
              <a:t>oplsua</a:t>
            </a:r>
            <a:r>
              <a:rPr lang="en-US" sz="1400" dirty="0"/>
              <a:t>)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158FE01-D2F4-774B-9905-1506AE7279C1}"/>
              </a:ext>
            </a:extLst>
          </p:cNvPr>
          <p:cNvSpPr/>
          <p:nvPr/>
        </p:nvSpPr>
        <p:spPr>
          <a:xfrm>
            <a:off x="7191485" y="3746582"/>
            <a:ext cx="1668983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in script </a:t>
            </a:r>
            <a:r>
              <a:rPr lang="en-US" sz="1400" dirty="0"/>
              <a:t>(</a:t>
            </a:r>
            <a:r>
              <a:rPr lang="en-US" sz="1400" dirty="0" err="1"/>
              <a:t>lammpsin</a:t>
            </a:r>
            <a:r>
              <a:rPr lang="en-US" sz="1400" dirty="0"/>
              <a:t>) 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EDAFE5F-5580-F949-B920-81C0C801CF81}"/>
              </a:ext>
            </a:extLst>
          </p:cNvPr>
          <p:cNvSpPr/>
          <p:nvPr/>
        </p:nvSpPr>
        <p:spPr>
          <a:xfrm>
            <a:off x="11005813" y="2272848"/>
            <a:ext cx="1108609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400" dirty="0">
                <a:solidFill>
                  <a:srgbClr val="00B0F0"/>
                </a:solidFill>
              </a:rPr>
              <a:t>conformer</a:t>
            </a:r>
          </a:p>
          <a:p>
            <a:pPr algn="ctr"/>
            <a:r>
              <a:rPr lang="en-US" sz="1400" dirty="0">
                <a:solidFill>
                  <a:srgbClr val="00B0F0"/>
                </a:solidFill>
              </a:rPr>
              <a:t>molecule</a:t>
            </a:r>
          </a:p>
          <a:p>
            <a:pPr algn="ctr"/>
            <a:r>
              <a:rPr lang="en-US" sz="1400" dirty="0">
                <a:solidFill>
                  <a:srgbClr val="00B0F0"/>
                </a:solidFill>
              </a:rPr>
              <a:t>structure</a:t>
            </a:r>
          </a:p>
          <a:p>
            <a:pPr algn="ctr"/>
            <a:r>
              <a:rPr lang="en-US" sz="1400" dirty="0"/>
              <a:t>(structure)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F43FE12-869C-4D43-8176-544EB6A436DE}"/>
              </a:ext>
            </a:extLst>
          </p:cNvPr>
          <p:cNvSpPr txBox="1"/>
          <p:nvPr/>
        </p:nvSpPr>
        <p:spPr>
          <a:xfrm>
            <a:off x="6161977" y="2938690"/>
            <a:ext cx="19741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atomic data (</a:t>
            </a:r>
            <a:r>
              <a:rPr lang="en-US" sz="1400" dirty="0" err="1"/>
              <a:t>lmpatomic</a:t>
            </a:r>
            <a:r>
              <a:rPr lang="en-US" sz="1400" dirty="0"/>
              <a:t>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5176A97-5D93-CA49-9066-128FE3AFC137}"/>
              </a:ext>
            </a:extLst>
          </p:cNvPr>
          <p:cNvSpPr txBox="1"/>
          <p:nvPr/>
        </p:nvSpPr>
        <p:spPr>
          <a:xfrm>
            <a:off x="4919455" y="3333245"/>
            <a:ext cx="150983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opls</a:t>
            </a:r>
            <a:r>
              <a:rPr lang="en-US" sz="1400" dirty="0"/>
              <a:t> data (</a:t>
            </a:r>
            <a:r>
              <a:rPr lang="en-US" sz="1400" dirty="0" err="1"/>
              <a:t>lmpfull</a:t>
            </a:r>
            <a:r>
              <a:rPr lang="en-US" sz="1400" dirty="0"/>
              <a:t>)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19A8994-EB34-D74C-9825-49AAF18A7B4E}"/>
              </a:ext>
            </a:extLst>
          </p:cNvPr>
          <p:cNvSpPr/>
          <p:nvPr/>
        </p:nvSpPr>
        <p:spPr>
          <a:xfrm>
            <a:off x="4954329" y="3742854"/>
            <a:ext cx="234743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conformer search (</a:t>
            </a:r>
            <a:r>
              <a:rPr lang="en-US" sz="1400" dirty="0" err="1"/>
              <a:t>structutils</a:t>
            </a:r>
            <a:r>
              <a:rPr lang="en-US" sz="1400" dirty="0"/>
              <a:t>)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AC948FC-462B-754D-9753-C9DD615D9B10}"/>
              </a:ext>
            </a:extLst>
          </p:cNvPr>
          <p:cNvSpPr txBox="1"/>
          <p:nvPr/>
        </p:nvSpPr>
        <p:spPr>
          <a:xfrm>
            <a:off x="7946546" y="3336492"/>
            <a:ext cx="15630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 </a:t>
            </a:r>
            <a:r>
              <a:rPr lang="en-US" sz="1400" dirty="0" err="1"/>
              <a:t>sw</a:t>
            </a:r>
            <a:r>
              <a:rPr lang="en-US" sz="1400" dirty="0"/>
              <a:t> data (</a:t>
            </a:r>
            <a:r>
              <a:rPr lang="en-US" sz="1400" dirty="0" err="1"/>
              <a:t>stillinger</a:t>
            </a:r>
            <a:r>
              <a:rPr lang="en-US" sz="1400" dirty="0"/>
              <a:t>)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4588F70-816D-6E4F-AE61-E6BE3EF59325}"/>
              </a:ext>
            </a:extLst>
          </p:cNvPr>
          <p:cNvSpPr/>
          <p:nvPr/>
        </p:nvSpPr>
        <p:spPr>
          <a:xfrm>
            <a:off x="7169864" y="4183643"/>
            <a:ext cx="1713033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 err="1">
                <a:solidFill>
                  <a:srgbClr val="7030A0"/>
                </a:solidFill>
              </a:rPr>
              <a:t>lammps</a:t>
            </a:r>
            <a:r>
              <a:rPr lang="en-US" sz="1400" dirty="0">
                <a:solidFill>
                  <a:srgbClr val="7030A0"/>
                </a:solidFill>
              </a:rPr>
              <a:t> log </a:t>
            </a:r>
            <a:r>
              <a:rPr lang="en-US" sz="1400" dirty="0"/>
              <a:t>(</a:t>
            </a:r>
            <a:r>
              <a:rPr lang="en-US" sz="1400" dirty="0" err="1"/>
              <a:t>lmplog</a:t>
            </a:r>
            <a:r>
              <a:rPr lang="en-US" sz="1400" dirty="0"/>
              <a:t>)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1B25AEC-0773-9546-9CFC-5B0D6060E669}"/>
              </a:ext>
            </a:extLst>
          </p:cNvPr>
          <p:cNvSpPr/>
          <p:nvPr/>
        </p:nvSpPr>
        <p:spPr>
          <a:xfrm>
            <a:off x="2659577" y="4188434"/>
            <a:ext cx="161499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log &amp; </a:t>
            </a:r>
            <a:r>
              <a:rPr lang="en-US" sz="1400" dirty="0" err="1"/>
              <a:t>traj</a:t>
            </a:r>
            <a:r>
              <a:rPr lang="en-US" sz="1400" dirty="0"/>
              <a:t> (analyzer)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E782A8D-1BA6-C14E-B6E8-57794599F1C0}"/>
              </a:ext>
            </a:extLst>
          </p:cNvPr>
          <p:cNvSpPr/>
          <p:nvPr/>
        </p:nvSpPr>
        <p:spPr>
          <a:xfrm>
            <a:off x="3851660" y="4648543"/>
            <a:ext cx="111139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testing (test)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EBC53DC-51E5-6940-A03F-B00657BA81E2}"/>
              </a:ext>
            </a:extLst>
          </p:cNvPr>
          <p:cNvSpPr/>
          <p:nvPr/>
        </p:nvSpPr>
        <p:spPr>
          <a:xfrm>
            <a:off x="3456996" y="3747543"/>
            <a:ext cx="1497782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distance cell (</a:t>
            </a:r>
            <a:r>
              <a:rPr lang="en-US" sz="1400" dirty="0" err="1"/>
              <a:t>dist</a:t>
            </a:r>
            <a:r>
              <a:rPr lang="en-US" sz="1400" dirty="0"/>
              <a:t>)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64C8826-18D4-6F4B-95F0-08FE4B8A0ED6}"/>
              </a:ext>
            </a:extLst>
          </p:cNvPr>
          <p:cNvSpPr/>
          <p:nvPr/>
        </p:nvSpPr>
        <p:spPr>
          <a:xfrm>
            <a:off x="1708327" y="3746057"/>
            <a:ext cx="191680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visualization</a:t>
            </a:r>
            <a:r>
              <a:rPr lang="en-US" sz="1400" dirty="0"/>
              <a:t> (</a:t>
            </a:r>
            <a:r>
              <a:rPr lang="en-US" sz="1400" dirty="0" err="1"/>
              <a:t>molview</a:t>
            </a:r>
            <a:r>
              <a:rPr lang="en-US" sz="1400" dirty="0"/>
              <a:t>)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AB23D3D-DDF3-1448-8F24-07CB2975A247}"/>
              </a:ext>
            </a:extLst>
          </p:cNvPr>
          <p:cNvSpPr/>
          <p:nvPr/>
        </p:nvSpPr>
        <p:spPr>
          <a:xfrm>
            <a:off x="2791170" y="3325769"/>
            <a:ext cx="195220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trajectory frame (frame)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BC8CC3B-ABFF-B646-B73E-E44C9CB809B2}"/>
              </a:ext>
            </a:extLst>
          </p:cNvPr>
          <p:cNvSpPr/>
          <p:nvPr/>
        </p:nvSpPr>
        <p:spPr>
          <a:xfrm>
            <a:off x="1447031" y="3333244"/>
            <a:ext cx="133709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7030A0"/>
                </a:solidFill>
              </a:rPr>
              <a:t>trajectory</a:t>
            </a:r>
            <a:r>
              <a:rPr lang="en-US" sz="1400" dirty="0"/>
              <a:t> (</a:t>
            </a:r>
            <a:r>
              <a:rPr lang="en-US" sz="1400" dirty="0" err="1"/>
              <a:t>traj</a:t>
            </a:r>
            <a:r>
              <a:rPr lang="en-US" sz="1400" dirty="0"/>
              <a:t>) 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E968D6B-323C-314E-B6DF-80413BCDFF2F}"/>
              </a:ext>
            </a:extLst>
          </p:cNvPr>
          <p:cNvSpPr/>
          <p:nvPr/>
        </p:nvSpPr>
        <p:spPr>
          <a:xfrm>
            <a:off x="6198556" y="2598713"/>
            <a:ext cx="182774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force fields (forcefield)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261EEB76-F92B-2347-AD56-40101983DE73}"/>
              </a:ext>
            </a:extLst>
          </p:cNvPr>
          <p:cNvSpPr/>
          <p:nvPr/>
        </p:nvSpPr>
        <p:spPr>
          <a:xfrm>
            <a:off x="2416784" y="924848"/>
            <a:ext cx="7576798" cy="73866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system (</a:t>
            </a:r>
            <a:r>
              <a:rPr lang="en-US" sz="1400" dirty="0" err="1">
                <a:solidFill>
                  <a:schemeClr val="tx1"/>
                </a:solidFill>
              </a:rPr>
              <a:t>osutils</a:t>
            </a:r>
            <a:r>
              <a:rPr lang="en-US" sz="1400" dirty="0">
                <a:solidFill>
                  <a:schemeClr val="tx1"/>
                </a:solidFill>
              </a:rPr>
              <a:t>)     environmental variables (</a:t>
            </a:r>
            <a:r>
              <a:rPr lang="en-US" sz="1400" dirty="0" err="1">
                <a:solidFill>
                  <a:schemeClr val="tx1"/>
                </a:solidFill>
              </a:rPr>
              <a:t>envutils</a:t>
            </a:r>
            <a:r>
              <a:rPr lang="en-US" sz="1400" dirty="0">
                <a:solidFill>
                  <a:schemeClr val="tx1"/>
                </a:solidFill>
              </a:rPr>
              <a:t>)    commands (</a:t>
            </a:r>
            <a:r>
              <a:rPr lang="en-US" sz="1400" dirty="0" err="1">
                <a:solidFill>
                  <a:schemeClr val="tx1"/>
                </a:solidFill>
              </a:rPr>
              <a:t>lammpsfix</a:t>
            </a:r>
            <a:r>
              <a:rPr lang="en-US" sz="1400" dirty="0">
                <a:solidFill>
                  <a:schemeClr val="tx1"/>
                </a:solidFill>
              </a:rPr>
              <a:t>)     matplotlib (</a:t>
            </a:r>
            <a:r>
              <a:rPr lang="en-US" sz="1400" dirty="0" err="1">
                <a:solidFill>
                  <a:schemeClr val="tx1"/>
                </a:solidFill>
              </a:rPr>
              <a:t>plotutils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pPr algn="just"/>
            <a:r>
              <a:rPr lang="en-US" sz="1400" dirty="0">
                <a:solidFill>
                  <a:schemeClr val="tx1"/>
                </a:solidFill>
              </a:rPr>
              <a:t>process (</a:t>
            </a:r>
            <a:r>
              <a:rPr lang="en-US" sz="1400" dirty="0" err="1">
                <a:solidFill>
                  <a:schemeClr val="tx1"/>
                </a:solidFill>
              </a:rPr>
              <a:t>psutils</a:t>
            </a:r>
            <a:r>
              <a:rPr lang="en-US" sz="1400" dirty="0">
                <a:solidFill>
                  <a:schemeClr val="tx1"/>
                </a:solidFill>
              </a:rPr>
              <a:t>)    hardcoded constants (symbols)          </a:t>
            </a:r>
            <a:r>
              <a:rPr lang="en-US" sz="1400" dirty="0" err="1">
                <a:solidFill>
                  <a:schemeClr val="tx1"/>
                </a:solidFill>
              </a:rPr>
              <a:t>numpy</a:t>
            </a:r>
            <a:r>
              <a:rPr lang="en-US" sz="1400" dirty="0">
                <a:solidFill>
                  <a:schemeClr val="tx1"/>
                </a:solidFill>
              </a:rPr>
              <a:t> (</a:t>
            </a:r>
            <a:r>
              <a:rPr lang="en-US" sz="1400" dirty="0" err="1">
                <a:solidFill>
                  <a:schemeClr val="tx1"/>
                </a:solidFill>
              </a:rPr>
              <a:t>numpyutils</a:t>
            </a:r>
            <a:r>
              <a:rPr lang="en-US" sz="1400" dirty="0">
                <a:solidFill>
                  <a:schemeClr val="tx1"/>
                </a:solidFill>
              </a:rPr>
              <a:t>)           </a:t>
            </a:r>
            <a:r>
              <a:rPr lang="en-US" sz="1400" dirty="0" err="1">
                <a:solidFill>
                  <a:schemeClr val="tx1"/>
                </a:solidFill>
              </a:rPr>
              <a:t>rdkit</a:t>
            </a:r>
            <a:r>
              <a:rPr lang="en-US" sz="1400" dirty="0">
                <a:solidFill>
                  <a:schemeClr val="tx1"/>
                </a:solidFill>
              </a:rPr>
              <a:t> (</a:t>
            </a:r>
            <a:r>
              <a:rPr lang="en-US" sz="1400" dirty="0" err="1">
                <a:solidFill>
                  <a:schemeClr val="tx1"/>
                </a:solidFill>
              </a:rPr>
              <a:t>rdkitutils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pPr algn="just"/>
            <a:r>
              <a:rPr lang="en-US" sz="1400" dirty="0">
                <a:solidFill>
                  <a:schemeClr val="tx1"/>
                </a:solidFill>
              </a:rPr>
              <a:t>time (</a:t>
            </a:r>
            <a:r>
              <a:rPr lang="en-US" sz="1400" dirty="0" err="1">
                <a:solidFill>
                  <a:schemeClr val="tx1"/>
                </a:solidFill>
              </a:rPr>
              <a:t>timeutils</a:t>
            </a:r>
            <a:r>
              <a:rPr lang="en-US" sz="1400" dirty="0">
                <a:solidFill>
                  <a:schemeClr val="tx1"/>
                </a:solidFill>
              </a:rPr>
              <a:t>)     constants(constants)                             </a:t>
            </a:r>
            <a:r>
              <a:rPr lang="en-US" sz="1400" dirty="0" err="1">
                <a:solidFill>
                  <a:schemeClr val="tx1"/>
                </a:solidFill>
              </a:rPr>
              <a:t>numba</a:t>
            </a:r>
            <a:r>
              <a:rPr lang="en-US" sz="1400" dirty="0">
                <a:solidFill>
                  <a:schemeClr val="tx1"/>
                </a:solidFill>
              </a:rPr>
              <a:t> (</a:t>
            </a:r>
            <a:r>
              <a:rPr lang="en-US" sz="1400" dirty="0" err="1">
                <a:solidFill>
                  <a:schemeClr val="tx1"/>
                </a:solidFill>
              </a:rPr>
              <a:t>numbautils</a:t>
            </a:r>
            <a:r>
              <a:rPr lang="en-US" sz="1400" dirty="0">
                <a:solidFill>
                  <a:schemeClr val="tx1"/>
                </a:solidFill>
              </a:rPr>
              <a:t>)          points (geometry)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D337A186-DA32-CD4F-8337-DE2434F40C97}"/>
              </a:ext>
            </a:extLst>
          </p:cNvPr>
          <p:cNvSpPr/>
          <p:nvPr/>
        </p:nvSpPr>
        <p:spPr>
          <a:xfrm>
            <a:off x="10112510" y="933881"/>
            <a:ext cx="1925469" cy="73866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ysClr val="windowText" lastClr="000000"/>
                </a:solidFill>
              </a:rPr>
              <a:t>periodic table (table)</a:t>
            </a:r>
          </a:p>
          <a:p>
            <a:r>
              <a:rPr lang="en-US" sz="1400" dirty="0" err="1">
                <a:solidFill>
                  <a:sysClr val="windowText" lastClr="000000"/>
                </a:solidFill>
              </a:rPr>
              <a:t>Stillinger</a:t>
            </a:r>
            <a:r>
              <a:rPr lang="en-US" sz="1400" dirty="0">
                <a:solidFill>
                  <a:sysClr val="windowText" lastClr="000000"/>
                </a:solidFill>
              </a:rPr>
              <a:t>-Weber (</a:t>
            </a:r>
            <a:r>
              <a:rPr lang="en-US" sz="1400" dirty="0" err="1">
                <a:solidFill>
                  <a:sysClr val="windowText" lastClr="000000"/>
                </a:solidFill>
              </a:rPr>
              <a:t>sw</a:t>
            </a:r>
            <a:r>
              <a:rPr lang="en-US" sz="1400" dirty="0">
                <a:solidFill>
                  <a:sysClr val="windowText" lastClr="000000"/>
                </a:solidFill>
              </a:rPr>
              <a:t>)</a:t>
            </a:r>
          </a:p>
          <a:p>
            <a:r>
              <a:rPr lang="en-US" sz="1400" dirty="0" err="1">
                <a:solidFill>
                  <a:sysClr val="windowText" lastClr="000000"/>
                </a:solidFill>
              </a:rPr>
              <a:t>lammps</a:t>
            </a:r>
            <a:r>
              <a:rPr lang="en-US" sz="1400" dirty="0">
                <a:solidFill>
                  <a:sysClr val="windowText" lastClr="000000"/>
                </a:solidFill>
              </a:rPr>
              <a:t> </a:t>
            </a:r>
            <a:r>
              <a:rPr lang="en-US" sz="1400" dirty="0" err="1">
                <a:solidFill>
                  <a:sysClr val="windowText" lastClr="000000"/>
                </a:solidFill>
              </a:rPr>
              <a:t>func</a:t>
            </a:r>
            <a:r>
              <a:rPr lang="en-US" sz="1400" dirty="0">
                <a:solidFill>
                  <a:sysClr val="windowText" lastClr="000000"/>
                </a:solidFill>
              </a:rPr>
              <a:t> (</a:t>
            </a:r>
            <a:r>
              <a:rPr lang="en-US" sz="1400" dirty="0" err="1">
                <a:solidFill>
                  <a:sysClr val="windowText" lastClr="000000"/>
                </a:solidFill>
              </a:rPr>
              <a:t>lmpfunc</a:t>
            </a:r>
            <a:r>
              <a:rPr lang="en-US" sz="1400" dirty="0">
                <a:solidFill>
                  <a:sysClr val="windowText" lastClr="000000"/>
                </a:solidFill>
              </a:rPr>
              <a:t>)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F7D7D12-8447-BB49-BBCE-2FCE6E78AB51}"/>
              </a:ext>
            </a:extLst>
          </p:cNvPr>
          <p:cNvSpPr txBox="1"/>
          <p:nvPr/>
        </p:nvSpPr>
        <p:spPr>
          <a:xfrm>
            <a:off x="6306581" y="1952802"/>
            <a:ext cx="147168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type atom </a:t>
            </a:r>
            <a:r>
              <a:rPr lang="en-US" sz="1400" dirty="0"/>
              <a:t>(</a:t>
            </a:r>
            <a:r>
              <a:rPr lang="en-US" sz="1400" dirty="0" err="1"/>
              <a:t>typer</a:t>
            </a:r>
            <a:r>
              <a:rPr lang="en-US" sz="1400" dirty="0"/>
              <a:t>)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6748ECE-270E-7741-9D72-3BB8A63736B0}"/>
              </a:ext>
            </a:extLst>
          </p:cNvPr>
          <p:cNvSpPr txBox="1"/>
          <p:nvPr/>
        </p:nvSpPr>
        <p:spPr>
          <a:xfrm>
            <a:off x="153437" y="4634949"/>
            <a:ext cx="162845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 </a:t>
            </a:r>
            <a:r>
              <a:rPr lang="en-US" sz="1400" dirty="0">
                <a:solidFill>
                  <a:srgbClr val="7030A0"/>
                </a:solidFill>
              </a:rPr>
              <a:t>runner</a:t>
            </a:r>
            <a:r>
              <a:rPr lang="en-US" sz="1400" dirty="0"/>
              <a:t> (</a:t>
            </a:r>
            <a:r>
              <a:rPr lang="en-US" sz="1400" dirty="0" err="1"/>
              <a:t>jobcontrol</a:t>
            </a:r>
            <a:r>
              <a:rPr lang="en-US" sz="1400" dirty="0"/>
              <a:t>)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8AB71A3-57CF-1D45-9CCA-EFB994C70E67}"/>
              </a:ext>
            </a:extLst>
          </p:cNvPr>
          <p:cNvCxnSpPr/>
          <p:nvPr/>
        </p:nvCxnSpPr>
        <p:spPr>
          <a:xfrm>
            <a:off x="5841811" y="751226"/>
            <a:ext cx="0" cy="14864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01D9F721-0B72-3E46-8EED-118711A485B9}"/>
              </a:ext>
            </a:extLst>
          </p:cNvPr>
          <p:cNvCxnSpPr>
            <a:cxnSpLocks/>
          </p:cNvCxnSpPr>
          <p:nvPr/>
        </p:nvCxnSpPr>
        <p:spPr>
          <a:xfrm>
            <a:off x="9993582" y="1294180"/>
            <a:ext cx="104837" cy="3095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1D36B4F0-0183-3B4D-B70D-73088FDE5A70}"/>
              </a:ext>
            </a:extLst>
          </p:cNvPr>
          <p:cNvCxnSpPr/>
          <p:nvPr/>
        </p:nvCxnSpPr>
        <p:spPr>
          <a:xfrm>
            <a:off x="1045805" y="1222955"/>
            <a:ext cx="0" cy="14864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DAB4137E-1DD7-EA4E-B7AD-02D006C316DF}"/>
              </a:ext>
            </a:extLst>
          </p:cNvPr>
          <p:cNvSpPr txBox="1"/>
          <p:nvPr/>
        </p:nvSpPr>
        <p:spPr>
          <a:xfrm>
            <a:off x="2440587" y="657207"/>
            <a:ext cx="21076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system, constant, wrapper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ED0CD23-4707-FA4E-995E-AF0991EFB85F}"/>
              </a:ext>
            </a:extLst>
          </p:cNvPr>
          <p:cNvSpPr txBox="1"/>
          <p:nvPr/>
        </p:nvSpPr>
        <p:spPr>
          <a:xfrm>
            <a:off x="10099532" y="671655"/>
            <a:ext cx="13731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constant on disk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5973F5C-FC1D-AB4B-A98C-044B6F93D8C5}"/>
              </a:ext>
            </a:extLst>
          </p:cNvPr>
          <p:cNvSpPr txBox="1"/>
          <p:nvPr/>
        </p:nvSpPr>
        <p:spPr>
          <a:xfrm>
            <a:off x="5127350" y="282269"/>
            <a:ext cx="8418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initiation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833CBEE-E24F-F24B-9C4D-37CAD0D6CF9A}"/>
              </a:ext>
            </a:extLst>
          </p:cNvPr>
          <p:cNvCxnSpPr>
            <a:cxnSpLocks/>
          </p:cNvCxnSpPr>
          <p:nvPr/>
        </p:nvCxnSpPr>
        <p:spPr>
          <a:xfrm flipH="1" flipV="1">
            <a:off x="2308784" y="1290632"/>
            <a:ext cx="94880" cy="6644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DD0C13F0-D3A4-CD47-A654-E0155133A905}"/>
              </a:ext>
            </a:extLst>
          </p:cNvPr>
          <p:cNvSpPr txBox="1"/>
          <p:nvPr/>
        </p:nvSpPr>
        <p:spPr>
          <a:xfrm>
            <a:off x="209615" y="663300"/>
            <a:ext cx="8402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job &amp; log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F0D54CCC-5181-EC42-8EC6-5D07F2DD613D}"/>
              </a:ext>
            </a:extLst>
          </p:cNvPr>
          <p:cNvCxnSpPr>
            <a:cxnSpLocks/>
          </p:cNvCxnSpPr>
          <p:nvPr/>
        </p:nvCxnSpPr>
        <p:spPr>
          <a:xfrm>
            <a:off x="6845521" y="2217389"/>
            <a:ext cx="0" cy="10998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4697AD97-2476-1342-B225-591341AC3CBD}"/>
              </a:ext>
            </a:extLst>
          </p:cNvPr>
          <p:cNvCxnSpPr>
            <a:cxnSpLocks/>
          </p:cNvCxnSpPr>
          <p:nvPr/>
        </p:nvCxnSpPr>
        <p:spPr>
          <a:xfrm>
            <a:off x="6844124" y="2534359"/>
            <a:ext cx="0" cy="10998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CCD60C5C-C24A-9844-9DC8-B5CFADFFE361}"/>
              </a:ext>
            </a:extLst>
          </p:cNvPr>
          <p:cNvCxnSpPr>
            <a:cxnSpLocks/>
          </p:cNvCxnSpPr>
          <p:nvPr/>
        </p:nvCxnSpPr>
        <p:spPr>
          <a:xfrm>
            <a:off x="3703324" y="3209066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8C851904-F9E6-2748-92C8-13BDDE8DB243}"/>
              </a:ext>
            </a:extLst>
          </p:cNvPr>
          <p:cNvSpPr/>
          <p:nvPr/>
        </p:nvSpPr>
        <p:spPr>
          <a:xfrm>
            <a:off x="9192708" y="3749636"/>
            <a:ext cx="2150525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7030A0"/>
                </a:solidFill>
              </a:rPr>
              <a:t>lattice dynamics </a:t>
            </a:r>
            <a:r>
              <a:rPr lang="en-US" sz="1400" dirty="0"/>
              <a:t>(alamode)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671D8D36-EB67-8F42-AECC-6B662760226E}"/>
              </a:ext>
            </a:extLst>
          </p:cNvPr>
          <p:cNvSpPr/>
          <p:nvPr/>
        </p:nvSpPr>
        <p:spPr>
          <a:xfrm>
            <a:off x="10729712" y="4191867"/>
            <a:ext cx="137807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repeat unit (cru)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42645386-F15B-D048-9470-409A45A55201}"/>
              </a:ext>
            </a:extLst>
          </p:cNvPr>
          <p:cNvSpPr/>
          <p:nvPr/>
        </p:nvSpPr>
        <p:spPr>
          <a:xfrm>
            <a:off x="4989508" y="4191752"/>
            <a:ext cx="170591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7030A0"/>
                </a:solidFill>
              </a:rPr>
              <a:t>polymer</a:t>
            </a:r>
            <a:r>
              <a:rPr lang="en-US" sz="1400" dirty="0"/>
              <a:t> (</a:t>
            </a:r>
            <a:r>
              <a:rPr lang="en-US" sz="1400" dirty="0" err="1"/>
              <a:t>polymutils</a:t>
            </a:r>
            <a:r>
              <a:rPr lang="en-US" sz="1400" dirty="0"/>
              <a:t>)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0C5A555D-CC5E-A94E-8DED-F96EE7908FCC}"/>
              </a:ext>
            </a:extLst>
          </p:cNvPr>
          <p:cNvSpPr/>
          <p:nvPr/>
        </p:nvSpPr>
        <p:spPr>
          <a:xfrm>
            <a:off x="10960224" y="3337431"/>
            <a:ext cx="109498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crystal (</a:t>
            </a:r>
            <a:r>
              <a:rPr lang="en-US" sz="1400" dirty="0" err="1"/>
              <a:t>xtal</a:t>
            </a:r>
            <a:r>
              <a:rPr lang="en-US" sz="1400" dirty="0"/>
              <a:t>)</a:t>
            </a:r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146CFAA4-0C05-6F4F-A216-DBF506C1174B}"/>
              </a:ext>
            </a:extLst>
          </p:cNvPr>
          <p:cNvCxnSpPr>
            <a:cxnSpLocks/>
          </p:cNvCxnSpPr>
          <p:nvPr/>
        </p:nvCxnSpPr>
        <p:spPr>
          <a:xfrm>
            <a:off x="11968524" y="3262874"/>
            <a:ext cx="0" cy="920769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6AA9D042-11A0-BF4D-955B-55123523712F}"/>
              </a:ext>
            </a:extLst>
          </p:cNvPr>
          <p:cNvCxnSpPr>
            <a:cxnSpLocks/>
          </p:cNvCxnSpPr>
          <p:nvPr/>
        </p:nvCxnSpPr>
        <p:spPr>
          <a:xfrm rot="16200000" flipH="1" flipV="1">
            <a:off x="11279928" y="3334974"/>
            <a:ext cx="155044" cy="805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36E22CDD-7F14-F240-8AEC-5A0F6FCE377A}"/>
              </a:ext>
            </a:extLst>
          </p:cNvPr>
          <p:cNvCxnSpPr>
            <a:cxnSpLocks/>
          </p:cNvCxnSpPr>
          <p:nvPr/>
        </p:nvCxnSpPr>
        <p:spPr>
          <a:xfrm>
            <a:off x="8182834" y="3113590"/>
            <a:ext cx="2865726" cy="0"/>
          </a:xfrm>
          <a:prstGeom prst="line">
            <a:avLst/>
          </a:prstGeom>
          <a:ln>
            <a:head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A2AA3572-565C-6C40-9D3B-DE1C4177CA76}"/>
              </a:ext>
            </a:extLst>
          </p:cNvPr>
          <p:cNvCxnSpPr>
            <a:cxnSpLocks/>
          </p:cNvCxnSpPr>
          <p:nvPr/>
        </p:nvCxnSpPr>
        <p:spPr>
          <a:xfrm>
            <a:off x="5388921" y="3268525"/>
            <a:ext cx="321401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5A05D77E-A355-3146-98AA-EB39F973CF88}"/>
              </a:ext>
            </a:extLst>
          </p:cNvPr>
          <p:cNvCxnSpPr>
            <a:cxnSpLocks/>
          </p:cNvCxnSpPr>
          <p:nvPr/>
        </p:nvCxnSpPr>
        <p:spPr>
          <a:xfrm flipH="1">
            <a:off x="8605348" y="3270701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5D43FA48-BB25-224D-9B8D-633661FA25A1}"/>
              </a:ext>
            </a:extLst>
          </p:cNvPr>
          <p:cNvCxnSpPr>
            <a:cxnSpLocks/>
          </p:cNvCxnSpPr>
          <p:nvPr/>
        </p:nvCxnSpPr>
        <p:spPr>
          <a:xfrm flipH="1">
            <a:off x="5388922" y="3269279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C16593C9-BD3F-D54A-A77A-8F4F3F4611D1}"/>
              </a:ext>
            </a:extLst>
          </p:cNvPr>
          <p:cNvCxnSpPr>
            <a:cxnSpLocks/>
          </p:cNvCxnSpPr>
          <p:nvPr/>
        </p:nvCxnSpPr>
        <p:spPr>
          <a:xfrm>
            <a:off x="6841361" y="3205065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2EC41504-5090-4C48-9AF4-B7B0D8593D95}"/>
              </a:ext>
            </a:extLst>
          </p:cNvPr>
          <p:cNvCxnSpPr>
            <a:cxnSpLocks/>
          </p:cNvCxnSpPr>
          <p:nvPr/>
        </p:nvCxnSpPr>
        <p:spPr>
          <a:xfrm>
            <a:off x="5379276" y="3643371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FFA627E8-B105-754C-B3B5-F71A0BC79912}"/>
              </a:ext>
            </a:extLst>
          </p:cNvPr>
          <p:cNvCxnSpPr>
            <a:cxnSpLocks/>
          </p:cNvCxnSpPr>
          <p:nvPr/>
        </p:nvCxnSpPr>
        <p:spPr>
          <a:xfrm>
            <a:off x="8685274" y="3701116"/>
            <a:ext cx="266852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967589FD-AD7D-794F-A692-026751B959B4}"/>
              </a:ext>
            </a:extLst>
          </p:cNvPr>
          <p:cNvCxnSpPr>
            <a:cxnSpLocks/>
          </p:cNvCxnSpPr>
          <p:nvPr/>
        </p:nvCxnSpPr>
        <p:spPr>
          <a:xfrm>
            <a:off x="8685274" y="3636316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Arrow Connector 111">
            <a:extLst>
              <a:ext uri="{FF2B5EF4-FFF2-40B4-BE49-F238E27FC236}">
                <a16:creationId xmlns:a16="http://schemas.microsoft.com/office/drawing/2014/main" id="{8E3DE2A6-655F-CB4B-B973-CA4473783585}"/>
              </a:ext>
            </a:extLst>
          </p:cNvPr>
          <p:cNvCxnSpPr>
            <a:cxnSpLocks/>
          </p:cNvCxnSpPr>
          <p:nvPr/>
        </p:nvCxnSpPr>
        <p:spPr>
          <a:xfrm>
            <a:off x="10018828" y="3637913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id="{9352CAF5-651F-5048-87BA-5A5066600BC1}"/>
              </a:ext>
            </a:extLst>
          </p:cNvPr>
          <p:cNvCxnSpPr>
            <a:cxnSpLocks/>
          </p:cNvCxnSpPr>
          <p:nvPr/>
        </p:nvCxnSpPr>
        <p:spPr>
          <a:xfrm flipH="1">
            <a:off x="10018499" y="3704963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F2407830-64F4-3845-AD18-1B548529DFF6}"/>
              </a:ext>
            </a:extLst>
          </p:cNvPr>
          <p:cNvCxnSpPr>
            <a:cxnSpLocks/>
          </p:cNvCxnSpPr>
          <p:nvPr/>
        </p:nvCxnSpPr>
        <p:spPr>
          <a:xfrm>
            <a:off x="5379276" y="4051463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9787EF4C-32B1-B643-AE34-843F0F40DB1F}"/>
              </a:ext>
            </a:extLst>
          </p:cNvPr>
          <p:cNvCxnSpPr>
            <a:cxnSpLocks/>
          </p:cNvCxnSpPr>
          <p:nvPr/>
        </p:nvCxnSpPr>
        <p:spPr>
          <a:xfrm flipH="1">
            <a:off x="11353800" y="3262874"/>
            <a:ext cx="614724" cy="313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A99C8DB4-7E47-744F-8660-932C99156543}"/>
              </a:ext>
            </a:extLst>
          </p:cNvPr>
          <p:cNvCxnSpPr>
            <a:cxnSpLocks/>
          </p:cNvCxnSpPr>
          <p:nvPr/>
        </p:nvCxnSpPr>
        <p:spPr>
          <a:xfrm rot="10800000">
            <a:off x="11667097" y="3204611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Connector 127">
            <a:extLst>
              <a:ext uri="{FF2B5EF4-FFF2-40B4-BE49-F238E27FC236}">
                <a16:creationId xmlns:a16="http://schemas.microsoft.com/office/drawing/2014/main" id="{4D483C18-1F8F-9244-9BBB-2BBCC614B764}"/>
              </a:ext>
            </a:extLst>
          </p:cNvPr>
          <p:cNvCxnSpPr>
            <a:cxnSpLocks/>
          </p:cNvCxnSpPr>
          <p:nvPr/>
        </p:nvCxnSpPr>
        <p:spPr>
          <a:xfrm flipH="1">
            <a:off x="4800044" y="3111201"/>
            <a:ext cx="1205632" cy="0"/>
          </a:xfrm>
          <a:prstGeom prst="line">
            <a:avLst/>
          </a:prstGeom>
          <a:ln>
            <a:head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Rectangle 131">
            <a:extLst>
              <a:ext uri="{FF2B5EF4-FFF2-40B4-BE49-F238E27FC236}">
                <a16:creationId xmlns:a16="http://schemas.microsoft.com/office/drawing/2014/main" id="{487BFE3C-9842-D04B-ACB0-1F25B1741F54}"/>
              </a:ext>
            </a:extLst>
          </p:cNvPr>
          <p:cNvSpPr/>
          <p:nvPr/>
        </p:nvSpPr>
        <p:spPr>
          <a:xfrm>
            <a:off x="2794176" y="2960748"/>
            <a:ext cx="1937325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periodic boundary </a:t>
            </a:r>
            <a:r>
              <a:rPr lang="en-US" sz="1400" dirty="0"/>
              <a:t>(box)</a:t>
            </a:r>
          </a:p>
        </p:txBody>
      </p: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21D6DE39-900F-A642-8879-3312DC9805EE}"/>
              </a:ext>
            </a:extLst>
          </p:cNvPr>
          <p:cNvCxnSpPr>
            <a:cxnSpLocks/>
          </p:cNvCxnSpPr>
          <p:nvPr/>
        </p:nvCxnSpPr>
        <p:spPr>
          <a:xfrm rot="5400000" flipH="1">
            <a:off x="7956101" y="3433923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Arrow Connector 138">
            <a:extLst>
              <a:ext uri="{FF2B5EF4-FFF2-40B4-BE49-F238E27FC236}">
                <a16:creationId xmlns:a16="http://schemas.microsoft.com/office/drawing/2014/main" id="{416C88BD-64D6-A846-B55B-00C80378E874}"/>
              </a:ext>
            </a:extLst>
          </p:cNvPr>
          <p:cNvCxnSpPr>
            <a:cxnSpLocks/>
          </p:cNvCxnSpPr>
          <p:nvPr/>
        </p:nvCxnSpPr>
        <p:spPr>
          <a:xfrm rot="16200000" flipH="1">
            <a:off x="6432430" y="3435815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Straight Arrow Connector 139">
            <a:extLst>
              <a:ext uri="{FF2B5EF4-FFF2-40B4-BE49-F238E27FC236}">
                <a16:creationId xmlns:a16="http://schemas.microsoft.com/office/drawing/2014/main" id="{0B588961-8B60-BB4C-AC94-F82CAB6C540E}"/>
              </a:ext>
            </a:extLst>
          </p:cNvPr>
          <p:cNvCxnSpPr>
            <a:cxnSpLocks/>
          </p:cNvCxnSpPr>
          <p:nvPr/>
        </p:nvCxnSpPr>
        <p:spPr>
          <a:xfrm>
            <a:off x="7575233" y="4075054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Rectangle 147">
            <a:extLst>
              <a:ext uri="{FF2B5EF4-FFF2-40B4-BE49-F238E27FC236}">
                <a16:creationId xmlns:a16="http://schemas.microsoft.com/office/drawing/2014/main" id="{CB03CAF2-CFF0-894B-B873-A4A31A10159F}"/>
              </a:ext>
            </a:extLst>
          </p:cNvPr>
          <p:cNvSpPr/>
          <p:nvPr/>
        </p:nvSpPr>
        <p:spPr>
          <a:xfrm>
            <a:off x="6467858" y="3343065"/>
            <a:ext cx="1497562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7030A0"/>
                </a:solidFill>
              </a:rPr>
              <a:t>datafile</a:t>
            </a:r>
            <a:r>
              <a:rPr lang="en-US" sz="1400" dirty="0"/>
              <a:t> (</a:t>
            </a:r>
            <a:r>
              <a:rPr lang="en-US" sz="1400" dirty="0" err="1"/>
              <a:t>lmpdata</a:t>
            </a:r>
            <a:r>
              <a:rPr lang="en-US" sz="1400" dirty="0"/>
              <a:t>)</a:t>
            </a:r>
          </a:p>
        </p:txBody>
      </p:sp>
      <p:cxnSp>
        <p:nvCxnSpPr>
          <p:cNvPr id="149" name="Straight Connector 148">
            <a:extLst>
              <a:ext uri="{FF2B5EF4-FFF2-40B4-BE49-F238E27FC236}">
                <a16:creationId xmlns:a16="http://schemas.microsoft.com/office/drawing/2014/main" id="{316E2E05-1723-254B-A5C5-0A1EFB1AFB8E}"/>
              </a:ext>
            </a:extLst>
          </p:cNvPr>
          <p:cNvCxnSpPr>
            <a:cxnSpLocks/>
          </p:cNvCxnSpPr>
          <p:nvPr/>
        </p:nvCxnSpPr>
        <p:spPr>
          <a:xfrm flipH="1" flipV="1">
            <a:off x="4818581" y="3302702"/>
            <a:ext cx="227042" cy="441816"/>
          </a:xfrm>
          <a:prstGeom prst="line">
            <a:avLst/>
          </a:prstGeom>
          <a:ln>
            <a:head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Straight Arrow Connector 150">
            <a:extLst>
              <a:ext uri="{FF2B5EF4-FFF2-40B4-BE49-F238E27FC236}">
                <a16:creationId xmlns:a16="http://schemas.microsoft.com/office/drawing/2014/main" id="{E4465616-3C0B-F84F-BD06-6726580183A5}"/>
              </a:ext>
            </a:extLst>
          </p:cNvPr>
          <p:cNvCxnSpPr>
            <a:cxnSpLocks/>
          </p:cNvCxnSpPr>
          <p:nvPr/>
        </p:nvCxnSpPr>
        <p:spPr>
          <a:xfrm>
            <a:off x="4864641" y="3901861"/>
            <a:ext cx="168999" cy="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Straight Connector 161">
            <a:extLst>
              <a:ext uri="{FF2B5EF4-FFF2-40B4-BE49-F238E27FC236}">
                <a16:creationId xmlns:a16="http://schemas.microsoft.com/office/drawing/2014/main" id="{28F3566E-4891-CD40-A5DF-2B4AAF4101E4}"/>
              </a:ext>
            </a:extLst>
          </p:cNvPr>
          <p:cNvCxnSpPr>
            <a:cxnSpLocks/>
          </p:cNvCxnSpPr>
          <p:nvPr/>
        </p:nvCxnSpPr>
        <p:spPr>
          <a:xfrm flipV="1">
            <a:off x="5529469" y="3742854"/>
            <a:ext cx="2994576" cy="32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Straight Arrow Connector 162">
            <a:extLst>
              <a:ext uri="{FF2B5EF4-FFF2-40B4-BE49-F238E27FC236}">
                <a16:creationId xmlns:a16="http://schemas.microsoft.com/office/drawing/2014/main" id="{B5EE8B01-B3B5-D047-8C7E-BD87FA6084EE}"/>
              </a:ext>
            </a:extLst>
          </p:cNvPr>
          <p:cNvCxnSpPr>
            <a:cxnSpLocks/>
          </p:cNvCxnSpPr>
          <p:nvPr/>
        </p:nvCxnSpPr>
        <p:spPr>
          <a:xfrm rot="10800000" flipH="1">
            <a:off x="5529469" y="3628759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94A83404-54BB-5945-A56E-C7164E27DC79}"/>
              </a:ext>
            </a:extLst>
          </p:cNvPr>
          <p:cNvCxnSpPr>
            <a:cxnSpLocks/>
          </p:cNvCxnSpPr>
          <p:nvPr/>
        </p:nvCxnSpPr>
        <p:spPr>
          <a:xfrm rot="10800000" flipH="1">
            <a:off x="8528478" y="3628883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Straight Arrow Connector 165">
            <a:extLst>
              <a:ext uri="{FF2B5EF4-FFF2-40B4-BE49-F238E27FC236}">
                <a16:creationId xmlns:a16="http://schemas.microsoft.com/office/drawing/2014/main" id="{FE017328-8507-6344-918D-CB3EA1E05C72}"/>
              </a:ext>
            </a:extLst>
          </p:cNvPr>
          <p:cNvCxnSpPr>
            <a:cxnSpLocks/>
          </p:cNvCxnSpPr>
          <p:nvPr/>
        </p:nvCxnSpPr>
        <p:spPr>
          <a:xfrm>
            <a:off x="7575233" y="3739867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Straight Arrow Connector 167">
            <a:extLst>
              <a:ext uri="{FF2B5EF4-FFF2-40B4-BE49-F238E27FC236}">
                <a16:creationId xmlns:a16="http://schemas.microsoft.com/office/drawing/2014/main" id="{CD8B204B-0E5C-1345-AA7F-09FA32E45388}"/>
              </a:ext>
            </a:extLst>
          </p:cNvPr>
          <p:cNvCxnSpPr>
            <a:cxnSpLocks/>
          </p:cNvCxnSpPr>
          <p:nvPr/>
        </p:nvCxnSpPr>
        <p:spPr>
          <a:xfrm rot="5400000" flipH="1">
            <a:off x="2749419" y="3433531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Straight Arrow Connector 168">
            <a:extLst>
              <a:ext uri="{FF2B5EF4-FFF2-40B4-BE49-F238E27FC236}">
                <a16:creationId xmlns:a16="http://schemas.microsoft.com/office/drawing/2014/main" id="{BF5B6C6B-77BF-2D46-AF11-DD5A98A1BEE8}"/>
              </a:ext>
            </a:extLst>
          </p:cNvPr>
          <p:cNvCxnSpPr>
            <a:cxnSpLocks/>
          </p:cNvCxnSpPr>
          <p:nvPr/>
        </p:nvCxnSpPr>
        <p:spPr>
          <a:xfrm>
            <a:off x="3701244" y="3610636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Straight Connector 169">
            <a:extLst>
              <a:ext uri="{FF2B5EF4-FFF2-40B4-BE49-F238E27FC236}">
                <a16:creationId xmlns:a16="http://schemas.microsoft.com/office/drawing/2014/main" id="{863D30EC-75AE-DB48-A789-645529041543}"/>
              </a:ext>
            </a:extLst>
          </p:cNvPr>
          <p:cNvCxnSpPr>
            <a:cxnSpLocks/>
          </p:cNvCxnSpPr>
          <p:nvPr/>
        </p:nvCxnSpPr>
        <p:spPr>
          <a:xfrm flipV="1">
            <a:off x="2300222" y="4079043"/>
            <a:ext cx="1401022" cy="9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Straight Arrow Connector 170">
            <a:extLst>
              <a:ext uri="{FF2B5EF4-FFF2-40B4-BE49-F238E27FC236}">
                <a16:creationId xmlns:a16="http://schemas.microsoft.com/office/drawing/2014/main" id="{26D2F8B0-4622-0A4F-9A4B-F4E10C812CBE}"/>
              </a:ext>
            </a:extLst>
          </p:cNvPr>
          <p:cNvCxnSpPr>
            <a:cxnSpLocks/>
          </p:cNvCxnSpPr>
          <p:nvPr/>
        </p:nvCxnSpPr>
        <p:spPr>
          <a:xfrm>
            <a:off x="2297963" y="4015149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Straight Arrow Connector 171">
            <a:extLst>
              <a:ext uri="{FF2B5EF4-FFF2-40B4-BE49-F238E27FC236}">
                <a16:creationId xmlns:a16="http://schemas.microsoft.com/office/drawing/2014/main" id="{192103E0-538F-8740-ACCE-50AE8E86A307}"/>
              </a:ext>
            </a:extLst>
          </p:cNvPr>
          <p:cNvCxnSpPr>
            <a:cxnSpLocks/>
          </p:cNvCxnSpPr>
          <p:nvPr/>
        </p:nvCxnSpPr>
        <p:spPr>
          <a:xfrm>
            <a:off x="3694717" y="4016746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Straight Arrow Connector 172">
            <a:extLst>
              <a:ext uri="{FF2B5EF4-FFF2-40B4-BE49-F238E27FC236}">
                <a16:creationId xmlns:a16="http://schemas.microsoft.com/office/drawing/2014/main" id="{2389CDCD-2A0F-7446-A057-6D7CD85E96D3}"/>
              </a:ext>
            </a:extLst>
          </p:cNvPr>
          <p:cNvCxnSpPr>
            <a:cxnSpLocks/>
          </p:cNvCxnSpPr>
          <p:nvPr/>
        </p:nvCxnSpPr>
        <p:spPr>
          <a:xfrm flipH="1">
            <a:off x="3033988" y="4087382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Straight Connector 173">
            <a:extLst>
              <a:ext uri="{FF2B5EF4-FFF2-40B4-BE49-F238E27FC236}">
                <a16:creationId xmlns:a16="http://schemas.microsoft.com/office/drawing/2014/main" id="{BBC04413-B122-424A-98CB-2738BDCD98A5}"/>
              </a:ext>
            </a:extLst>
          </p:cNvPr>
          <p:cNvCxnSpPr>
            <a:cxnSpLocks/>
          </p:cNvCxnSpPr>
          <p:nvPr/>
        </p:nvCxnSpPr>
        <p:spPr>
          <a:xfrm>
            <a:off x="5362825" y="4597056"/>
            <a:ext cx="659886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Arrow Connector 175">
            <a:extLst>
              <a:ext uri="{FF2B5EF4-FFF2-40B4-BE49-F238E27FC236}">
                <a16:creationId xmlns:a16="http://schemas.microsoft.com/office/drawing/2014/main" id="{8CEC2352-7ADD-084E-9201-68F2683BF456}"/>
              </a:ext>
            </a:extLst>
          </p:cNvPr>
          <p:cNvCxnSpPr>
            <a:cxnSpLocks/>
          </p:cNvCxnSpPr>
          <p:nvPr/>
        </p:nvCxnSpPr>
        <p:spPr>
          <a:xfrm rot="10800000" flipH="1">
            <a:off x="5362826" y="4492624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Straight Arrow Connector 176">
            <a:extLst>
              <a:ext uri="{FF2B5EF4-FFF2-40B4-BE49-F238E27FC236}">
                <a16:creationId xmlns:a16="http://schemas.microsoft.com/office/drawing/2014/main" id="{804B306D-3C6C-E14D-ADC9-87222D1FE697}"/>
              </a:ext>
            </a:extLst>
          </p:cNvPr>
          <p:cNvCxnSpPr>
            <a:cxnSpLocks/>
          </p:cNvCxnSpPr>
          <p:nvPr/>
        </p:nvCxnSpPr>
        <p:spPr>
          <a:xfrm>
            <a:off x="11961689" y="4532798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0" name="Straight Arrow Connector 179">
            <a:extLst>
              <a:ext uri="{FF2B5EF4-FFF2-40B4-BE49-F238E27FC236}">
                <a16:creationId xmlns:a16="http://schemas.microsoft.com/office/drawing/2014/main" id="{76EDBEAF-BFA8-5E4F-ADCF-30ABEFD041B1}"/>
              </a:ext>
            </a:extLst>
          </p:cNvPr>
          <p:cNvCxnSpPr>
            <a:cxnSpLocks/>
          </p:cNvCxnSpPr>
          <p:nvPr/>
        </p:nvCxnSpPr>
        <p:spPr>
          <a:xfrm>
            <a:off x="6846772" y="2875233"/>
            <a:ext cx="0" cy="10998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Straight Arrow Connector 180">
            <a:extLst>
              <a:ext uri="{FF2B5EF4-FFF2-40B4-BE49-F238E27FC236}">
                <a16:creationId xmlns:a16="http://schemas.microsoft.com/office/drawing/2014/main" id="{FAF853E5-5DFC-924C-8AB5-A14F1AA0285D}"/>
              </a:ext>
            </a:extLst>
          </p:cNvPr>
          <p:cNvCxnSpPr>
            <a:cxnSpLocks/>
          </p:cNvCxnSpPr>
          <p:nvPr/>
        </p:nvCxnSpPr>
        <p:spPr>
          <a:xfrm>
            <a:off x="517759" y="4051463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DCFFB3B7-1DB0-A747-A172-6D7B9432BDEB}"/>
              </a:ext>
            </a:extLst>
          </p:cNvPr>
          <p:cNvCxnSpPr>
            <a:cxnSpLocks/>
          </p:cNvCxnSpPr>
          <p:nvPr/>
        </p:nvCxnSpPr>
        <p:spPr>
          <a:xfrm flipV="1">
            <a:off x="844068" y="4556931"/>
            <a:ext cx="218992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Straight Arrow Connector 182">
            <a:extLst>
              <a:ext uri="{FF2B5EF4-FFF2-40B4-BE49-F238E27FC236}">
                <a16:creationId xmlns:a16="http://schemas.microsoft.com/office/drawing/2014/main" id="{A6B2D0D5-9DBB-B44B-8060-FE0E318C9654}"/>
              </a:ext>
            </a:extLst>
          </p:cNvPr>
          <p:cNvCxnSpPr>
            <a:cxnSpLocks/>
          </p:cNvCxnSpPr>
          <p:nvPr/>
        </p:nvCxnSpPr>
        <p:spPr>
          <a:xfrm>
            <a:off x="846160" y="4493037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Straight Arrow Connector 183">
            <a:extLst>
              <a:ext uri="{FF2B5EF4-FFF2-40B4-BE49-F238E27FC236}">
                <a16:creationId xmlns:a16="http://schemas.microsoft.com/office/drawing/2014/main" id="{821CFDB8-D8BC-2746-97BD-5F5182703EA9}"/>
              </a:ext>
            </a:extLst>
          </p:cNvPr>
          <p:cNvCxnSpPr>
            <a:cxnSpLocks/>
          </p:cNvCxnSpPr>
          <p:nvPr/>
        </p:nvCxnSpPr>
        <p:spPr>
          <a:xfrm>
            <a:off x="3027461" y="4494634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Straight Arrow Connector 184">
            <a:extLst>
              <a:ext uri="{FF2B5EF4-FFF2-40B4-BE49-F238E27FC236}">
                <a16:creationId xmlns:a16="http://schemas.microsoft.com/office/drawing/2014/main" id="{FBC568E4-D3FE-944D-AADA-3D6387EE32E1}"/>
              </a:ext>
            </a:extLst>
          </p:cNvPr>
          <p:cNvCxnSpPr>
            <a:cxnSpLocks/>
          </p:cNvCxnSpPr>
          <p:nvPr/>
        </p:nvCxnSpPr>
        <p:spPr>
          <a:xfrm flipH="1">
            <a:off x="2366732" y="4565270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39776715-11C0-E04B-AE15-C76F468277A0}"/>
              </a:ext>
            </a:extLst>
          </p:cNvPr>
          <p:cNvCxnSpPr>
            <a:cxnSpLocks/>
          </p:cNvCxnSpPr>
          <p:nvPr/>
        </p:nvCxnSpPr>
        <p:spPr>
          <a:xfrm>
            <a:off x="517759" y="4495145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Right Brace 187">
            <a:extLst>
              <a:ext uri="{FF2B5EF4-FFF2-40B4-BE49-F238E27FC236}">
                <a16:creationId xmlns:a16="http://schemas.microsoft.com/office/drawing/2014/main" id="{2AD21062-89EE-8445-9785-95F254917562}"/>
              </a:ext>
            </a:extLst>
          </p:cNvPr>
          <p:cNvSpPr/>
          <p:nvPr/>
        </p:nvSpPr>
        <p:spPr>
          <a:xfrm rot="5400000">
            <a:off x="462597" y="3543105"/>
            <a:ext cx="109728" cy="384048"/>
          </a:xfrm>
          <a:prstGeom prst="rightBrac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9" name="Right Brace 188">
            <a:extLst>
              <a:ext uri="{FF2B5EF4-FFF2-40B4-BE49-F238E27FC236}">
                <a16:creationId xmlns:a16="http://schemas.microsoft.com/office/drawing/2014/main" id="{CA91F78D-6678-F342-BEC9-CBC5BAC2852B}"/>
              </a:ext>
            </a:extLst>
          </p:cNvPr>
          <p:cNvSpPr/>
          <p:nvPr/>
        </p:nvSpPr>
        <p:spPr>
          <a:xfrm rot="10800000">
            <a:off x="4908190" y="4712047"/>
            <a:ext cx="109728" cy="212591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0" name="Straight Arrow Connector 189">
            <a:extLst>
              <a:ext uri="{FF2B5EF4-FFF2-40B4-BE49-F238E27FC236}">
                <a16:creationId xmlns:a16="http://schemas.microsoft.com/office/drawing/2014/main" id="{94BA0BCE-13B0-3B49-9236-2762330307DA}"/>
              </a:ext>
            </a:extLst>
          </p:cNvPr>
          <p:cNvCxnSpPr>
            <a:cxnSpLocks/>
          </p:cNvCxnSpPr>
          <p:nvPr/>
        </p:nvCxnSpPr>
        <p:spPr>
          <a:xfrm rot="5400000" flipH="1">
            <a:off x="3768343" y="4751980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5" name="Rounded Rectangle 194">
            <a:extLst>
              <a:ext uri="{FF2B5EF4-FFF2-40B4-BE49-F238E27FC236}">
                <a16:creationId xmlns:a16="http://schemas.microsoft.com/office/drawing/2014/main" id="{A7587610-3CA1-C347-80B6-9027455CC19A}"/>
              </a:ext>
            </a:extLst>
          </p:cNvPr>
          <p:cNvSpPr/>
          <p:nvPr/>
        </p:nvSpPr>
        <p:spPr>
          <a:xfrm>
            <a:off x="177582" y="1968802"/>
            <a:ext cx="11860396" cy="3014481"/>
          </a:xfrm>
          <a:prstGeom prst="roundRect">
            <a:avLst>
              <a:gd name="adj" fmla="val 6997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7" name="Rounded Rectangle 196">
            <a:extLst>
              <a:ext uri="{FF2B5EF4-FFF2-40B4-BE49-F238E27FC236}">
                <a16:creationId xmlns:a16="http://schemas.microsoft.com/office/drawing/2014/main" id="{01377981-1A99-AE48-A8D5-36EBF9D0EF53}"/>
              </a:ext>
            </a:extLst>
          </p:cNvPr>
          <p:cNvSpPr/>
          <p:nvPr/>
        </p:nvSpPr>
        <p:spPr>
          <a:xfrm>
            <a:off x="203911" y="926711"/>
            <a:ext cx="2080931" cy="738664"/>
          </a:xfrm>
          <a:prstGeom prst="roundRect">
            <a:avLst>
              <a:gd name="adj" fmla="val 21036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job registration (</a:t>
            </a:r>
            <a:r>
              <a:rPr lang="en-US" sz="1400" dirty="0" err="1">
                <a:solidFill>
                  <a:schemeClr val="tx1"/>
                </a:solidFill>
              </a:rPr>
              <a:t>jobutils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pPr algn="ctr"/>
            <a:endParaRPr lang="en-US" sz="1400" dirty="0">
              <a:solidFill>
                <a:schemeClr val="tx1"/>
              </a:solidFill>
            </a:endParaRPr>
          </a:p>
          <a:p>
            <a:pPr algn="ctr"/>
            <a:r>
              <a:rPr lang="en-US" sz="1400" dirty="0">
                <a:solidFill>
                  <a:schemeClr val="tx1"/>
                </a:solidFill>
              </a:rPr>
              <a:t>file logger  (</a:t>
            </a:r>
            <a:r>
              <a:rPr lang="en-US" sz="1400" dirty="0" err="1">
                <a:solidFill>
                  <a:schemeClr val="tx1"/>
                </a:solidFill>
              </a:rPr>
              <a:t>logutils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</p:txBody>
      </p:sp>
      <p:sp>
        <p:nvSpPr>
          <p:cNvPr id="201" name="Rounded Rectangle 200">
            <a:extLst>
              <a:ext uri="{FF2B5EF4-FFF2-40B4-BE49-F238E27FC236}">
                <a16:creationId xmlns:a16="http://schemas.microsoft.com/office/drawing/2014/main" id="{2E175DBF-3269-A648-A105-27E7E818773B}"/>
              </a:ext>
            </a:extLst>
          </p:cNvPr>
          <p:cNvSpPr/>
          <p:nvPr/>
        </p:nvSpPr>
        <p:spPr>
          <a:xfrm>
            <a:off x="168928" y="5276271"/>
            <a:ext cx="11860396" cy="544456"/>
          </a:xfrm>
          <a:prstGeom prst="roundRect">
            <a:avLst>
              <a:gd name="adj" fmla="val 36169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2" name="Rounded Rectangle 201">
            <a:extLst>
              <a:ext uri="{FF2B5EF4-FFF2-40B4-BE49-F238E27FC236}">
                <a16:creationId xmlns:a16="http://schemas.microsoft.com/office/drawing/2014/main" id="{2CE968C9-6FC5-1E4B-9762-7625B1E7D3F7}"/>
              </a:ext>
            </a:extLst>
          </p:cNvPr>
          <p:cNvSpPr/>
          <p:nvPr/>
        </p:nvSpPr>
        <p:spPr>
          <a:xfrm>
            <a:off x="168928" y="6120566"/>
            <a:ext cx="11860396" cy="521208"/>
          </a:xfrm>
          <a:prstGeom prst="roundRect">
            <a:avLst>
              <a:gd name="adj" fmla="val 37616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</a:rPr>
              <a:t>  amorphous builder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chemeClr val="tx1"/>
                </a:solidFill>
              </a:rPr>
              <a:t>molecular dynamics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chemeClr val="tx1"/>
                </a:solidFill>
              </a:rPr>
              <a:t>trajectory analysis (</a:t>
            </a:r>
            <a:r>
              <a:rPr lang="en-US" sz="1400" dirty="0" err="1">
                <a:solidFill>
                  <a:schemeClr val="tx1"/>
                </a:solidFill>
              </a:rPr>
              <a:t>ab_lmp_traj</a:t>
            </a:r>
            <a:r>
              <a:rPr lang="en-US" sz="1400" dirty="0">
                <a:solidFill>
                  <a:schemeClr val="tx1"/>
                </a:solidFill>
              </a:rPr>
              <a:t>)                        crystal builder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 </a:t>
            </a:r>
            <a:r>
              <a:rPr lang="en-US" sz="1400" dirty="0">
                <a:solidFill>
                  <a:schemeClr val="tx1"/>
                </a:solidFill>
              </a:rPr>
              <a:t>molecular dynamics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 </a:t>
            </a:r>
            <a:r>
              <a:rPr lang="en-US" sz="1400" dirty="0">
                <a:solidFill>
                  <a:schemeClr val="tx1"/>
                </a:solidFill>
              </a:rPr>
              <a:t>log analysis (</a:t>
            </a:r>
            <a:r>
              <a:rPr lang="en-US" sz="1400" dirty="0" err="1">
                <a:solidFill>
                  <a:schemeClr val="tx1"/>
                </a:solidFill>
              </a:rPr>
              <a:t>cb_lmp_log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r>
              <a:rPr lang="en-US" sz="1400" dirty="0">
                <a:solidFill>
                  <a:schemeClr val="tx1"/>
                </a:solidFill>
              </a:rPr>
              <a:t>  molecule </a:t>
            </a:r>
            <a:r>
              <a:rPr lang="en-US" sz="1400" dirty="0" err="1">
                <a:solidFill>
                  <a:schemeClr val="tx1"/>
                </a:solidFill>
              </a:rPr>
              <a:t>builer</a:t>
            </a:r>
            <a:r>
              <a:rPr lang="en-US" sz="1400" dirty="0">
                <a:solidFill>
                  <a:schemeClr val="tx1"/>
                </a:solidFill>
              </a:rPr>
              <a:t>      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</a:t>
            </a:r>
            <a:r>
              <a:rPr lang="en-US" sz="1400" dirty="0">
                <a:solidFill>
                  <a:schemeClr val="tx1"/>
                </a:solidFill>
                <a:sym typeface="Wingdings" pitchFamily="2" charset="2"/>
              </a:rPr>
              <a:t> </a:t>
            </a:r>
            <a:r>
              <a:rPr lang="en-US" sz="1400" dirty="0">
                <a:solidFill>
                  <a:schemeClr val="tx1"/>
                </a:solidFill>
              </a:rPr>
              <a:t>molecular dynamics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chemeClr val="tx1"/>
                </a:solidFill>
              </a:rPr>
              <a:t>log analysis (</a:t>
            </a:r>
            <a:r>
              <a:rPr lang="en-US" sz="1400" dirty="0" err="1">
                <a:solidFill>
                  <a:schemeClr val="tx1"/>
                </a:solidFill>
              </a:rPr>
              <a:t>mb_lmp_log</a:t>
            </a:r>
            <a:r>
              <a:rPr lang="en-US" sz="1400" dirty="0">
                <a:solidFill>
                  <a:schemeClr val="tx1"/>
                </a:solidFill>
              </a:rPr>
              <a:t>)                                    run command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 </a:t>
            </a:r>
            <a:r>
              <a:rPr lang="en-US" sz="1400" dirty="0">
                <a:solidFill>
                  <a:schemeClr val="tx1"/>
                </a:solidFill>
                <a:sym typeface="Wingdings" pitchFamily="2" charset="2"/>
              </a:rPr>
              <a:t>check results             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 </a:t>
            </a:r>
            <a:r>
              <a:rPr lang="en-US" sz="1400" dirty="0">
                <a:solidFill>
                  <a:schemeClr val="tx1"/>
                </a:solidFill>
                <a:sym typeface="Wingdings" pitchFamily="2" charset="2"/>
              </a:rPr>
              <a:t>update labels (</a:t>
            </a:r>
            <a:r>
              <a:rPr lang="en-US" sz="1400" dirty="0">
                <a:solidFill>
                  <a:schemeClr val="tx1"/>
                </a:solidFill>
              </a:rPr>
              <a:t>test)</a:t>
            </a:r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509083AD-01D3-6C4F-BB35-B0596080E109}"/>
              </a:ext>
            </a:extLst>
          </p:cNvPr>
          <p:cNvSpPr txBox="1"/>
          <p:nvPr/>
        </p:nvSpPr>
        <p:spPr>
          <a:xfrm>
            <a:off x="208705" y="1708921"/>
            <a:ext cx="227286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application focused modules</a:t>
            </a:r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9454E4D4-B96B-EC4C-866B-39A872CA4C49}"/>
              </a:ext>
            </a:extLst>
          </p:cNvPr>
          <p:cNvSpPr txBox="1"/>
          <p:nvPr/>
        </p:nvSpPr>
        <p:spPr>
          <a:xfrm>
            <a:off x="177582" y="5285623"/>
            <a:ext cx="118441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FFC000"/>
                </a:solidFill>
              </a:rPr>
              <a:t>    Builder          </a:t>
            </a:r>
            <a:r>
              <a:rPr lang="en-US" sz="1400" dirty="0"/>
              <a:t>:</a:t>
            </a:r>
            <a:r>
              <a:rPr lang="en-US" sz="1400" dirty="0">
                <a:solidFill>
                  <a:srgbClr val="FFC000"/>
                </a:solidFill>
              </a:rPr>
              <a:t>  </a:t>
            </a:r>
            <a:r>
              <a:rPr lang="en-US" sz="1400" dirty="0"/>
              <a:t>molecule (</a:t>
            </a:r>
            <a:r>
              <a:rPr lang="en-US" sz="1400" dirty="0" err="1"/>
              <a:t>mol_bldr</a:t>
            </a:r>
            <a:r>
              <a:rPr lang="en-US" sz="1400" dirty="0"/>
              <a:t>), amorphous (</a:t>
            </a:r>
            <a:r>
              <a:rPr lang="en-US" sz="1400" dirty="0" err="1"/>
              <a:t>amorp_bldr</a:t>
            </a:r>
            <a:r>
              <a:rPr lang="en-US" sz="1400" dirty="0"/>
              <a:t>), and crystal (</a:t>
            </a:r>
            <a:r>
              <a:rPr lang="en-US" sz="1400" dirty="0" err="1"/>
              <a:t>xtal_bldr</a:t>
            </a:r>
            <a:r>
              <a:rPr lang="en-US" sz="1400" dirty="0"/>
              <a:t>)                    </a:t>
            </a:r>
            <a:r>
              <a:rPr lang="en-US" sz="1400" dirty="0">
                <a:solidFill>
                  <a:srgbClr val="FFC000"/>
                </a:solidFill>
              </a:rPr>
              <a:t>Molecular Dynamics</a:t>
            </a:r>
            <a:r>
              <a:rPr lang="en-US" sz="1400" dirty="0"/>
              <a:t>: LAMMPS runner (</a:t>
            </a:r>
            <a:r>
              <a:rPr lang="en-US" sz="1400" dirty="0" err="1"/>
              <a:t>lammps</a:t>
            </a:r>
            <a:r>
              <a:rPr lang="en-US" sz="1400" dirty="0"/>
              <a:t>) </a:t>
            </a:r>
          </a:p>
          <a:p>
            <a:r>
              <a:rPr lang="en-US" sz="1400" dirty="0">
                <a:solidFill>
                  <a:srgbClr val="FFC000"/>
                </a:solidFill>
              </a:rPr>
              <a:t>    Solid Physics</a:t>
            </a:r>
            <a:r>
              <a:rPr lang="en-US" sz="1400" dirty="0"/>
              <a:t>:  reciprocal space (</a:t>
            </a:r>
            <a:r>
              <a:rPr lang="en-US" sz="1400" dirty="0" err="1"/>
              <a:t>recip_sp</a:t>
            </a:r>
            <a:r>
              <a:rPr lang="en-US" sz="1400" dirty="0"/>
              <a:t>), phonon dispersion (dispersion)                                        </a:t>
            </a:r>
            <a:r>
              <a:rPr lang="en-US" sz="1400" dirty="0">
                <a:solidFill>
                  <a:srgbClr val="FFC000"/>
                </a:solidFill>
              </a:rPr>
              <a:t>MD Post Analysis      </a:t>
            </a:r>
            <a:r>
              <a:rPr lang="en-US" sz="1400" dirty="0"/>
              <a:t>: log (</a:t>
            </a:r>
            <a:r>
              <a:rPr lang="en-US" sz="1400" dirty="0" err="1"/>
              <a:t>lmp_log</a:t>
            </a:r>
            <a:r>
              <a:rPr lang="en-US" sz="1400" dirty="0"/>
              <a:t>), trajectory (</a:t>
            </a:r>
            <a:r>
              <a:rPr lang="en-US" sz="1400" dirty="0" err="1"/>
              <a:t>lmp_traj</a:t>
            </a:r>
            <a:r>
              <a:rPr lang="en-US" sz="1400" dirty="0"/>
              <a:t>) </a:t>
            </a:r>
          </a:p>
        </p:txBody>
      </p:sp>
      <p:cxnSp>
        <p:nvCxnSpPr>
          <p:cNvPr id="214" name="Straight Connector 213">
            <a:extLst>
              <a:ext uri="{FF2B5EF4-FFF2-40B4-BE49-F238E27FC236}">
                <a16:creationId xmlns:a16="http://schemas.microsoft.com/office/drawing/2014/main" id="{188493AA-597F-2245-87B7-66A8DF2F8141}"/>
              </a:ext>
            </a:extLst>
          </p:cNvPr>
          <p:cNvCxnSpPr>
            <a:cxnSpLocks/>
          </p:cNvCxnSpPr>
          <p:nvPr/>
        </p:nvCxnSpPr>
        <p:spPr>
          <a:xfrm flipH="1">
            <a:off x="388458" y="2260954"/>
            <a:ext cx="320270" cy="0"/>
          </a:xfrm>
          <a:prstGeom prst="line">
            <a:avLst/>
          </a:prstGeom>
          <a:ln>
            <a:head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1" name="Rounded Rectangle 220">
            <a:extLst>
              <a:ext uri="{FF2B5EF4-FFF2-40B4-BE49-F238E27FC236}">
                <a16:creationId xmlns:a16="http://schemas.microsoft.com/office/drawing/2014/main" id="{AC065B8D-6EE4-7242-B8A1-7CF52619B1D4}"/>
              </a:ext>
            </a:extLst>
          </p:cNvPr>
          <p:cNvSpPr/>
          <p:nvPr/>
        </p:nvSpPr>
        <p:spPr>
          <a:xfrm>
            <a:off x="177582" y="1969615"/>
            <a:ext cx="2438485" cy="939670"/>
          </a:xfrm>
          <a:prstGeom prst="roundRect">
            <a:avLst>
              <a:gd name="adj" fmla="val 21938"/>
            </a:avLst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</a:rPr>
              <a:t>seeds in </a:t>
            </a:r>
            <a:r>
              <a:rPr lang="en-US" sz="1200" dirty="0">
                <a:solidFill>
                  <a:schemeClr val="accent5"/>
                </a:solidFill>
              </a:rPr>
              <a:t>light blue</a:t>
            </a:r>
          </a:p>
          <a:p>
            <a:r>
              <a:rPr lang="en-US" sz="1200" dirty="0">
                <a:solidFill>
                  <a:schemeClr val="tx1"/>
                </a:solidFill>
              </a:rPr>
              <a:t>              indicates dependence</a:t>
            </a:r>
          </a:p>
          <a:p>
            <a:r>
              <a:rPr lang="en-US" sz="1200" dirty="0">
                <a:solidFill>
                  <a:schemeClr val="tx1"/>
                </a:solidFill>
              </a:rPr>
              <a:t>(linear, branching, and merging)</a:t>
            </a:r>
          </a:p>
          <a:p>
            <a:r>
              <a:rPr lang="en-US" sz="1200" dirty="0">
                <a:solidFill>
                  <a:schemeClr val="tx1"/>
                </a:solidFill>
              </a:rPr>
              <a:t>centers and terminators in </a:t>
            </a:r>
            <a:r>
              <a:rPr lang="en-US" sz="1200" dirty="0">
                <a:solidFill>
                  <a:srgbClr val="7030A0"/>
                </a:solidFill>
              </a:rPr>
              <a:t>purple</a:t>
            </a:r>
          </a:p>
          <a:p>
            <a:r>
              <a:rPr lang="en-US" sz="1200" dirty="0">
                <a:solidFill>
                  <a:srgbClr val="7030A0"/>
                </a:solidFill>
              </a:rPr>
              <a:t>             </a:t>
            </a:r>
            <a:r>
              <a:rPr lang="en-US" sz="1200" dirty="0">
                <a:solidFill>
                  <a:schemeClr val="tx1"/>
                </a:solidFill>
              </a:rPr>
              <a:t>depends on any modules</a:t>
            </a:r>
          </a:p>
        </p:txBody>
      </p:sp>
      <p:sp>
        <p:nvSpPr>
          <p:cNvPr id="223" name="Right Brace 222">
            <a:extLst>
              <a:ext uri="{FF2B5EF4-FFF2-40B4-BE49-F238E27FC236}">
                <a16:creationId xmlns:a16="http://schemas.microsoft.com/office/drawing/2014/main" id="{97D93D61-7C9E-AB4A-AEDC-3B2C928F245D}"/>
              </a:ext>
            </a:extLst>
          </p:cNvPr>
          <p:cNvSpPr/>
          <p:nvPr/>
        </p:nvSpPr>
        <p:spPr>
          <a:xfrm rot="5400000">
            <a:off x="482346" y="2647057"/>
            <a:ext cx="109728" cy="350466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8645B989-0AE6-8747-BC26-178C31EAAFD3}"/>
              </a:ext>
            </a:extLst>
          </p:cNvPr>
          <p:cNvSpPr/>
          <p:nvPr/>
        </p:nvSpPr>
        <p:spPr>
          <a:xfrm>
            <a:off x="9401153" y="3336715"/>
            <a:ext cx="168058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executable</a:t>
            </a:r>
            <a:r>
              <a:rPr lang="en-US" sz="1400" dirty="0"/>
              <a:t> (process)</a:t>
            </a:r>
          </a:p>
        </p:txBody>
      </p: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2F612E1D-12F9-5344-8796-24225E09D6EA}"/>
              </a:ext>
            </a:extLst>
          </p:cNvPr>
          <p:cNvCxnSpPr>
            <a:cxnSpLocks/>
          </p:cNvCxnSpPr>
          <p:nvPr/>
        </p:nvCxnSpPr>
        <p:spPr>
          <a:xfrm>
            <a:off x="11353800" y="3629558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80072D44-E63E-3A40-A103-85C34FE92124}"/>
              </a:ext>
            </a:extLst>
          </p:cNvPr>
          <p:cNvSpPr/>
          <p:nvPr/>
        </p:nvSpPr>
        <p:spPr>
          <a:xfrm>
            <a:off x="11343233" y="4982560"/>
            <a:ext cx="62703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b="1" dirty="0">
                <a:solidFill>
                  <a:srgbClr val="7030A0"/>
                </a:solidFill>
              </a:rPr>
              <a:t>driver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B69B750B-F538-A346-9E74-66BA3FF4CE22}"/>
              </a:ext>
            </a:extLst>
          </p:cNvPr>
          <p:cNvSpPr/>
          <p:nvPr/>
        </p:nvSpPr>
        <p:spPr>
          <a:xfrm>
            <a:off x="11169599" y="5846495"/>
            <a:ext cx="89300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b="1" dirty="0">
                <a:solidFill>
                  <a:srgbClr val="7030A0"/>
                </a:solidFill>
              </a:rPr>
              <a:t>workflow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158E483-2560-6248-A99C-4FA39AA2FFC0}"/>
              </a:ext>
            </a:extLst>
          </p:cNvPr>
          <p:cNvSpPr/>
          <p:nvPr/>
        </p:nvSpPr>
        <p:spPr>
          <a:xfrm>
            <a:off x="10561609" y="204911"/>
            <a:ext cx="156324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solidFill>
                  <a:srgbClr val="7030A0"/>
                </a:solidFill>
              </a:rPr>
              <a:t>module/</a:t>
            </a:r>
            <a:r>
              <a:rPr lang="en-US" b="1" dirty="0" err="1">
                <a:solidFill>
                  <a:srgbClr val="7030A0"/>
                </a:solidFill>
              </a:rPr>
              <a:t>nemd</a:t>
            </a:r>
            <a:endParaRPr lang="en-US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942603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9449F4-3DDE-4B4C-842B-03C52EF723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54025"/>
          </a:xfrm>
        </p:spPr>
        <p:txBody>
          <a:bodyPr numCol="1"/>
          <a:lstStyle/>
          <a:p>
            <a:r>
              <a:rPr lang="en-US" dirty="0"/>
              <a:t>Environmental Configuration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A4C6832-51B5-864C-A5B6-0C3040F3C4AC}"/>
              </a:ext>
            </a:extLst>
          </p:cNvPr>
          <p:cNvSpPr/>
          <p:nvPr/>
        </p:nvSpPr>
        <p:spPr>
          <a:xfrm>
            <a:off x="207523" y="1945524"/>
            <a:ext cx="11815864" cy="4939814"/>
          </a:xfrm>
          <a:prstGeom prst="rect">
            <a:avLst/>
          </a:prstGeom>
        </p:spPr>
        <p:txBody>
          <a:bodyPr wrap="square" numCol="2">
            <a:spAutoFit/>
          </a:bodyPr>
          <a:lstStyle/>
          <a:p>
            <a:r>
              <a:rPr lang="en-US" sz="1050" dirty="0"/>
              <a:t># /bin/</a:t>
            </a:r>
            <a:r>
              <a:rPr lang="en-US" sz="1050" dirty="0" err="1"/>
              <a:t>sh</a:t>
            </a:r>
            <a:br>
              <a:rPr lang="en-US" sz="1050" dirty="0"/>
            </a:br>
            <a:r>
              <a:rPr lang="en-US" sz="1050" dirty="0"/>
              <a:t>: '</a:t>
            </a:r>
            <a:br>
              <a:rPr lang="en-US" sz="1050" dirty="0"/>
            </a:br>
            <a:r>
              <a:rPr lang="en-US" sz="1050" dirty="0"/>
              <a:t>Set up the environment for the </a:t>
            </a:r>
            <a:r>
              <a:rPr lang="en-US" sz="1050" dirty="0" err="1"/>
              <a:t>sh</a:t>
            </a:r>
            <a:r>
              <a:rPr lang="en-US" sz="1050" dirty="0"/>
              <a:t>, workflow, driver module, and submodule directories.</a:t>
            </a:r>
            <a:br>
              <a:rPr lang="en-US" sz="1050" dirty="0"/>
            </a:br>
            <a:br>
              <a:rPr lang="en-US" sz="1050" dirty="0"/>
            </a:br>
            <a:r>
              <a:rPr lang="en-US" sz="1050" dirty="0"/>
              <a:t>Usage:</a:t>
            </a:r>
            <a:br>
              <a:rPr lang="en-US" sz="1050" dirty="0"/>
            </a:br>
            <a:r>
              <a:rPr lang="en-US" sz="1050" dirty="0"/>
              <a:t>  . </a:t>
            </a:r>
            <a:r>
              <a:rPr lang="en-US" sz="1050" dirty="0" err="1"/>
              <a:t>premake</a:t>
            </a:r>
            <a:br>
              <a:rPr lang="en-US" sz="1050" dirty="0"/>
            </a:br>
            <a:r>
              <a:rPr lang="en-US" sz="1050" dirty="0"/>
              <a:t>  source </a:t>
            </a:r>
            <a:r>
              <a:rPr lang="en-US" sz="1050" dirty="0" err="1"/>
              <a:t>premake</a:t>
            </a:r>
            <a:br>
              <a:rPr lang="en-US" sz="1050" dirty="0"/>
            </a:br>
            <a:r>
              <a:rPr lang="en-US" sz="1050" dirty="0"/>
              <a:t>'</a:t>
            </a:r>
            <a:br>
              <a:rPr lang="en-US" sz="1050" dirty="0"/>
            </a:br>
            <a:br>
              <a:rPr lang="en-US" sz="1050" dirty="0"/>
            </a:br>
            <a:r>
              <a:rPr lang="en-US" sz="105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# File Path Identification</a:t>
            </a:r>
            <a:br>
              <a:rPr lang="en-US" sz="1050" dirty="0"/>
            </a:br>
            <a:r>
              <a:rPr lang="en-US" sz="1050" dirty="0"/>
              <a:t>if [ $(</a:t>
            </a:r>
            <a:r>
              <a:rPr lang="en-US" sz="1050" dirty="0" err="1"/>
              <a:t>basename</a:t>
            </a:r>
            <a:r>
              <a:rPr lang="en-US" sz="1050" dirty="0"/>
              <a:t> $0) = '</a:t>
            </a:r>
            <a:r>
              <a:rPr lang="en-US" sz="1050" dirty="0" err="1"/>
              <a:t>premake</a:t>
            </a:r>
            <a:r>
              <a:rPr lang="en-US" sz="1050" dirty="0"/>
              <a:t>' ]</a:t>
            </a:r>
            <a:br>
              <a:rPr lang="en-US" sz="1050" dirty="0"/>
            </a:br>
            <a:r>
              <a:rPr lang="en-US" sz="1050" dirty="0"/>
              <a:t>then</a:t>
            </a:r>
            <a:br>
              <a:rPr lang="en-US" sz="1050" dirty="0"/>
            </a:br>
            <a:r>
              <a:rPr lang="en-US" sz="1050" dirty="0"/>
              <a:t>  PREMAKE="$0" &amp;&amp; echo "Shell Type: </a:t>
            </a:r>
            <a:r>
              <a:rPr lang="en-US" sz="1050" dirty="0" err="1"/>
              <a:t>zsh</a:t>
            </a:r>
            <a:r>
              <a:rPr lang="en-US" sz="1050" dirty="0"/>
              <a:t>"</a:t>
            </a:r>
            <a:br>
              <a:rPr lang="en-US" sz="1050" dirty="0"/>
            </a:br>
            <a:r>
              <a:rPr lang="en-US" sz="1050" dirty="0" err="1"/>
              <a:t>elif</a:t>
            </a:r>
            <a:r>
              <a:rPr lang="en-US" sz="1050" dirty="0"/>
              <a:t> [ $BASH_SOURCE ]</a:t>
            </a:r>
            <a:br>
              <a:rPr lang="en-US" sz="1050" dirty="0"/>
            </a:br>
            <a:r>
              <a:rPr lang="en-US" sz="1050" dirty="0"/>
              <a:t>  then</a:t>
            </a:r>
            <a:br>
              <a:rPr lang="en-US" sz="1050" dirty="0"/>
            </a:br>
            <a:r>
              <a:rPr lang="en-US" sz="1050" dirty="0"/>
              <a:t>  PREMAKE=${BASH_SOURCE[0]} &amp;&amp; echo "Shell Type: POSIX"</a:t>
            </a:r>
            <a:br>
              <a:rPr lang="en-US" sz="1050" dirty="0"/>
            </a:br>
            <a:r>
              <a:rPr lang="en-US" sz="1050" dirty="0"/>
              <a:t>else</a:t>
            </a:r>
            <a:br>
              <a:rPr lang="en-US" sz="1050" dirty="0"/>
            </a:br>
            <a:r>
              <a:rPr lang="en-US" sz="1050" dirty="0"/>
              <a:t>  x="$(</a:t>
            </a:r>
            <a:r>
              <a:rPr lang="en-US" sz="1050" dirty="0" err="1"/>
              <a:t>lsof</a:t>
            </a:r>
            <a:r>
              <a:rPr lang="en-US" sz="1050" dirty="0"/>
              <a:t> -p $$ -Fn0 | tail -1 | </a:t>
            </a:r>
            <a:r>
              <a:rPr lang="en-US" sz="1050" dirty="0" err="1"/>
              <a:t>tr</a:t>
            </a:r>
            <a:r>
              <a:rPr lang="en-US" sz="1050" dirty="0"/>
              <a:t> -d "\0")" &amp;&amp; PREMAKE=${x#*n} &amp;&amp; echo "Shell Type: dash"</a:t>
            </a:r>
            <a:br>
              <a:rPr lang="en-US" sz="1050" dirty="0"/>
            </a:br>
            <a:r>
              <a:rPr lang="en-US" sz="1050" dirty="0"/>
              <a:t>fi</a:t>
            </a:r>
            <a:br>
              <a:rPr lang="en-US" sz="1050" dirty="0"/>
            </a:br>
            <a:r>
              <a:rPr lang="en-US" sz="1050" dirty="0"/>
              <a:t>[ ! -f $PREMAKE ] &amp;&amp; echo "Cannot locate this </a:t>
            </a:r>
            <a:r>
              <a:rPr lang="en-US" sz="1050" dirty="0" err="1"/>
              <a:t>premake</a:t>
            </a:r>
            <a:r>
              <a:rPr lang="en-US" sz="1050" dirty="0"/>
              <a:t> script" &amp;&amp; return</a:t>
            </a:r>
            <a:br>
              <a:rPr lang="en-US" sz="1050" dirty="0"/>
            </a:br>
            <a:endParaRPr lang="en-US" sz="1050" dirty="0"/>
          </a:p>
          <a:p>
            <a:r>
              <a:rPr lang="en-US" sz="105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# Binaries and Scripts Searchable</a:t>
            </a:r>
            <a:br>
              <a:rPr lang="en-US" sz="1050" dirty="0"/>
            </a:br>
            <a:r>
              <a:rPr lang="en-US" sz="1050" dirty="0"/>
              <a:t>path() {echo $PATH | grep -q "$1" || export PATH="$1${PATH:+":$PATH"}"}</a:t>
            </a:r>
            <a:br>
              <a:rPr lang="en-US" sz="1050" dirty="0"/>
            </a:br>
            <a:endParaRPr lang="en-US" sz="1050" dirty="0"/>
          </a:p>
          <a:p>
            <a:r>
              <a:rPr lang="en-US" sz="105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# Python Modules Searchable</a:t>
            </a:r>
            <a:br>
              <a:rPr lang="en-US" sz="1050" dirty="0"/>
            </a:br>
            <a:r>
              <a:rPr lang="en-US" sz="1050" dirty="0" err="1"/>
              <a:t>pypath</a:t>
            </a:r>
            <a:r>
              <a:rPr lang="en-US" sz="1050" dirty="0"/>
              <a:t>() {</a:t>
            </a:r>
          </a:p>
          <a:p>
            <a:r>
              <a:rPr lang="en-US" sz="1050" dirty="0"/>
              <a:t>  echo $PYTHONPATH | grep -q "$1" || export PYTHONPATH="$1${PYTHONPATH:+":$PYTHONPATH"}”</a:t>
            </a:r>
          </a:p>
          <a:p>
            <a:r>
              <a:rPr lang="en-US" sz="1050" dirty="0"/>
              <a:t>}</a:t>
            </a:r>
            <a:br>
              <a:rPr lang="en-US" sz="1050" dirty="0"/>
            </a:br>
            <a:endParaRPr lang="en-US" sz="1050" dirty="0"/>
          </a:p>
          <a:p>
            <a:br>
              <a:rPr lang="en-US" sz="1050" dirty="0"/>
            </a:br>
            <a:endParaRPr lang="en-US" sz="1050" dirty="0"/>
          </a:p>
          <a:p>
            <a:endParaRPr lang="en-US" sz="105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r>
              <a:rPr lang="en-US" sz="105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# NEMD_SRC</a:t>
            </a:r>
            <a:br>
              <a:rPr lang="en-US" sz="1050" dirty="0"/>
            </a:br>
            <a:r>
              <a:rPr lang="en-US" sz="1050" dirty="0"/>
              <a:t>export NEMD_SRC="$(</a:t>
            </a:r>
            <a:r>
              <a:rPr lang="en-US" sz="1050" dirty="0" err="1"/>
              <a:t>readlink</a:t>
            </a:r>
            <a:r>
              <a:rPr lang="en-US" sz="1050" dirty="0"/>
              <a:t> -f ${PREMAKE} | </a:t>
            </a:r>
            <a:r>
              <a:rPr lang="en-US" sz="1050" dirty="0" err="1"/>
              <a:t>xargs</a:t>
            </a:r>
            <a:r>
              <a:rPr lang="en-US" sz="1050" dirty="0"/>
              <a:t> </a:t>
            </a:r>
            <a:r>
              <a:rPr lang="en-US" sz="1050" dirty="0" err="1"/>
              <a:t>dirname</a:t>
            </a:r>
            <a:r>
              <a:rPr lang="en-US" sz="1050" dirty="0"/>
              <a:t>)"</a:t>
            </a:r>
            <a:br>
              <a:rPr lang="en-US" sz="1050" dirty="0"/>
            </a:br>
            <a:r>
              <a:rPr lang="en-US" sz="1050" dirty="0"/>
              <a:t>[ -d $NEMD_SRC ] &amp;&amp; echo \$NEMD_SRC=$NEMD_SRC</a:t>
            </a:r>
            <a:br>
              <a:rPr lang="en-US" sz="1050" dirty="0"/>
            </a:br>
            <a:endParaRPr lang="en-US" sz="1050" dirty="0"/>
          </a:p>
          <a:p>
            <a:r>
              <a:rPr lang="en-US" sz="105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# Shell Script</a:t>
            </a:r>
            <a:br>
              <a:rPr lang="en-US" sz="1050" dirty="0"/>
            </a:br>
            <a:r>
              <a:rPr lang="en-US" sz="1050" dirty="0"/>
              <a:t>export NEMD_SH=$NEMD_SRC/</a:t>
            </a:r>
            <a:r>
              <a:rPr lang="en-US" sz="1050" dirty="0" err="1"/>
              <a:t>sh</a:t>
            </a:r>
            <a:br>
              <a:rPr lang="en-US" sz="1050" dirty="0"/>
            </a:br>
            <a:r>
              <a:rPr lang="en-US" sz="1050" dirty="0"/>
              <a:t>[ -d $NEMD_SH ] &amp;&amp; echo \$NEMD_SH=$NEMD_SH &amp;&amp; </a:t>
            </a:r>
            <a:r>
              <a:rPr lang="en-US" sz="1050" dirty="0" err="1"/>
              <a:t>add_path</a:t>
            </a:r>
            <a:r>
              <a:rPr lang="en-US" sz="1050" dirty="0"/>
              <a:t> $NEMD_SH</a:t>
            </a:r>
            <a:br>
              <a:rPr lang="en-US" sz="1050" dirty="0"/>
            </a:br>
            <a:br>
              <a:rPr lang="en-US" sz="1050" dirty="0"/>
            </a:br>
            <a:r>
              <a:rPr lang="en-US" sz="105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# Workflow</a:t>
            </a:r>
            <a:br>
              <a:rPr lang="en-US" sz="1050" dirty="0"/>
            </a:br>
            <a:r>
              <a:rPr lang="en-US" sz="1050" dirty="0"/>
              <a:t>export NEMD_WORKFLOW=$NEMD_SRC/workflow</a:t>
            </a:r>
            <a:br>
              <a:rPr lang="en-US" sz="1050" dirty="0"/>
            </a:br>
            <a:r>
              <a:rPr lang="en-US" sz="1050" dirty="0"/>
              <a:t>[ -d $NEMD_WORKFLOW ] &amp;&amp; echo \$NEMD_WORKFLOW=$NEMD_WORKFLOW &amp;&amp; </a:t>
            </a:r>
            <a:r>
              <a:rPr lang="en-US" sz="1050" dirty="0" err="1"/>
              <a:t>add_pypath</a:t>
            </a:r>
            <a:r>
              <a:rPr lang="en-US" sz="1050" dirty="0"/>
              <a:t> $NEMD_WORKFLOW</a:t>
            </a:r>
            <a:br>
              <a:rPr lang="en-US" sz="1050" dirty="0"/>
            </a:br>
            <a:br>
              <a:rPr lang="en-US" sz="1050" dirty="0"/>
            </a:br>
            <a:r>
              <a:rPr lang="en-US" sz="105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# Driver</a:t>
            </a:r>
            <a:br>
              <a:rPr lang="en-US" sz="1050" dirty="0"/>
            </a:br>
            <a:r>
              <a:rPr lang="en-US" sz="1050" dirty="0"/>
              <a:t>export NEMD_DRIVER=$NEMD_SRC/driver</a:t>
            </a:r>
            <a:br>
              <a:rPr lang="en-US" sz="1050" dirty="0"/>
            </a:br>
            <a:r>
              <a:rPr lang="en-US" sz="1050" dirty="0"/>
              <a:t>[ -d $NEMD_DRIVER ] &amp;&amp; echo \$NEMD_DRIVER=$NEMD_DRIVER &amp;&amp; </a:t>
            </a:r>
            <a:r>
              <a:rPr lang="en-US" sz="1050" dirty="0" err="1"/>
              <a:t>add_pypath</a:t>
            </a:r>
            <a:r>
              <a:rPr lang="en-US" sz="1050" dirty="0"/>
              <a:t> $NEMD_DRIVER</a:t>
            </a:r>
            <a:br>
              <a:rPr lang="en-US" sz="1050" dirty="0"/>
            </a:br>
            <a:br>
              <a:rPr lang="en-US" sz="1050" dirty="0"/>
            </a:br>
            <a:r>
              <a:rPr lang="en-US" sz="105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# Module: NEMD</a:t>
            </a:r>
            <a:br>
              <a:rPr lang="en-US" sz="1050" dirty="0"/>
            </a:br>
            <a:r>
              <a:rPr lang="en-US" sz="1050" dirty="0"/>
              <a:t>NEMD_MODULE=$NEMD_SRC/module</a:t>
            </a:r>
            <a:br>
              <a:rPr lang="en-US" sz="1050" dirty="0"/>
            </a:br>
            <a:r>
              <a:rPr lang="en-US" sz="1050" dirty="0"/>
              <a:t>[ -d $NEMD_MODULE ] &amp;&amp; echo \$NEMD_MODULE=$NEMD_MODULE &amp;&amp; </a:t>
            </a:r>
            <a:r>
              <a:rPr lang="en-US" sz="1050" dirty="0" err="1"/>
              <a:t>add_pypath</a:t>
            </a:r>
            <a:r>
              <a:rPr lang="en-US" sz="1050" dirty="0"/>
              <a:t> $NEMD_MODULE</a:t>
            </a:r>
            <a:br>
              <a:rPr lang="en-US" sz="1050" dirty="0"/>
            </a:br>
            <a:br>
              <a:rPr lang="en-US" sz="1050" dirty="0"/>
            </a:br>
            <a:r>
              <a:rPr lang="en-US" sz="105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# Submodule: Alamode, </a:t>
            </a:r>
            <a:r>
              <a:rPr lang="en-US" sz="1050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Lammps</a:t>
            </a:r>
            <a:br>
              <a:rPr lang="en-US" sz="1050" dirty="0"/>
            </a:br>
            <a:r>
              <a:rPr lang="en-US" sz="1050" dirty="0"/>
              <a:t>ALAMODE=$NEMD_SRC/module/alamode</a:t>
            </a:r>
            <a:br>
              <a:rPr lang="en-US" sz="1050" dirty="0"/>
            </a:br>
            <a:r>
              <a:rPr lang="en-US" sz="1050" dirty="0"/>
              <a:t>export ALAMODE_TOOLS=$ALAMODE/alamode/tools</a:t>
            </a:r>
            <a:br>
              <a:rPr lang="en-US" sz="1050" dirty="0"/>
            </a:br>
            <a:r>
              <a:rPr lang="en-US" sz="1050" dirty="0"/>
              <a:t>LAMMPS_BUILD=$NEMD_SRC/module/</a:t>
            </a:r>
            <a:r>
              <a:rPr lang="en-US" sz="1050" dirty="0" err="1"/>
              <a:t>lammps</a:t>
            </a:r>
            <a:r>
              <a:rPr lang="en-US" sz="1050" dirty="0"/>
              <a:t>/build</a:t>
            </a:r>
            <a:br>
              <a:rPr lang="en-US" sz="1050" dirty="0"/>
            </a:br>
            <a:r>
              <a:rPr lang="en-US" sz="1050" dirty="0"/>
              <a:t>[ -d $LAMMPS_BUILD ] &amp;&amp;  echo \$LAMMPS_BUILD=$LAMMPS_BUILD &amp;&amp; </a:t>
            </a:r>
            <a:r>
              <a:rPr lang="en-US" sz="1050" dirty="0" err="1"/>
              <a:t>add_path</a:t>
            </a:r>
            <a:r>
              <a:rPr lang="en-US" sz="1050" dirty="0"/>
              <a:t> $LAMMPS_BUILD</a:t>
            </a:r>
            <a:br>
              <a:rPr lang="en-US" sz="1050" dirty="0"/>
            </a:br>
            <a:endParaRPr lang="en-US" sz="1050" dirty="0">
              <a:effectLst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0A906C4-08E1-5E4D-8799-D5E0343C01EC}"/>
              </a:ext>
            </a:extLst>
          </p:cNvPr>
          <p:cNvSpPr/>
          <p:nvPr/>
        </p:nvSpPr>
        <p:spPr>
          <a:xfrm>
            <a:off x="207524" y="1260124"/>
            <a:ext cx="10784731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/>
              <a:t>source </a:t>
            </a:r>
            <a:r>
              <a:rPr lang="en-US" i="1" dirty="0" err="1"/>
              <a:t>premake</a:t>
            </a:r>
            <a:r>
              <a:rPr lang="en-US" dirty="0"/>
              <a:t> sets the environment in which modules, scripts, and data in the source code repository are used.</a:t>
            </a:r>
          </a:p>
        </p:txBody>
      </p:sp>
    </p:spTree>
    <p:extLst>
      <p:ext uri="{BB962C8B-B14F-4D97-AF65-F5344CB8AC3E}">
        <p14:creationId xmlns:p14="http://schemas.microsoft.com/office/powerpoint/2010/main" val="34926719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C7CC5E-1BED-C24D-BC13-D096C522B6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126673" cy="1325563"/>
          </a:xfrm>
        </p:spPr>
        <p:txBody>
          <a:bodyPr/>
          <a:lstStyle/>
          <a:p>
            <a:r>
              <a:rPr lang="en-US" dirty="0"/>
              <a:t>Testing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74C8347-FFFA-AD4D-840F-167C914D09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0075546"/>
              </p:ext>
            </p:extLst>
          </p:nvPr>
        </p:nvGraphicFramePr>
        <p:xfrm>
          <a:off x="714893" y="1601192"/>
          <a:ext cx="10753965" cy="496398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54136">
                  <a:extLst>
                    <a:ext uri="{9D8B030D-6E8A-4147-A177-3AD203B41FA5}">
                      <a16:colId xmlns:a16="http://schemas.microsoft.com/office/drawing/2014/main" val="140681280"/>
                    </a:ext>
                  </a:extLst>
                </a:gridCol>
                <a:gridCol w="2111828">
                  <a:extLst>
                    <a:ext uri="{9D8B030D-6E8A-4147-A177-3AD203B41FA5}">
                      <a16:colId xmlns:a16="http://schemas.microsoft.com/office/drawing/2014/main" val="819792391"/>
                    </a:ext>
                  </a:extLst>
                </a:gridCol>
                <a:gridCol w="6788001">
                  <a:extLst>
                    <a:ext uri="{9D8B030D-6E8A-4147-A177-3AD203B41FA5}">
                      <a16:colId xmlns:a16="http://schemas.microsoft.com/office/drawing/2014/main" val="3388334755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Command</a:t>
                      </a:r>
                    </a:p>
                  </a:txBody>
                  <a:tcPr marL="137160" marR="137160" marT="137160" marB="13716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Location</a:t>
                      </a:r>
                    </a:p>
                  </a:txBody>
                  <a:tcPr marL="137160" marR="137160" marT="137160" marB="13716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Description</a:t>
                      </a:r>
                    </a:p>
                  </a:txBody>
                  <a:tcPr marL="137160" marR="137160" marT="137160" marB="13716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61390173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source </a:t>
                      </a:r>
                      <a:r>
                        <a:rPr lang="en-US" dirty="0" err="1"/>
                        <a:t>premake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 err="1"/>
                        <a:t>premake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Environmental configuration allows additional utilities, strongly recommended when opening a new shell.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25471136"/>
                  </a:ext>
                </a:extLst>
              </a:tr>
              <a:tr h="898096">
                <a:tc>
                  <a:txBody>
                    <a:bodyPr/>
                    <a:lstStyle/>
                    <a:p>
                      <a:pPr algn="just"/>
                      <a:r>
                        <a:rPr lang="en-US" sz="1800" dirty="0" err="1"/>
                        <a:t>run_test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dirty="0"/>
                        <a:t>test/unit/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dirty="0">
                          <a:solidFill>
                            <a:schemeClr val="accent4">
                              <a:lumMod val="75000"/>
                            </a:schemeClr>
                          </a:solidFill>
                        </a:rPr>
                        <a:t>Unit testing </a:t>
                      </a:r>
                      <a:r>
                        <a:rPr lang="en-US" sz="1800" dirty="0"/>
                        <a:t>makes sure that functions and methods are operating as expected.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70259124"/>
                  </a:ext>
                </a:extLst>
              </a:tr>
              <a:tr h="898096">
                <a:tc>
                  <a:txBody>
                    <a:bodyPr/>
                    <a:lstStyle/>
                    <a:p>
                      <a:pPr algn="just"/>
                      <a:r>
                        <a:rPr lang="en-US" dirty="0" err="1"/>
                        <a:t>run_itest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test/integration/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kern="1200" dirty="0">
                          <a:solidFill>
                            <a:schemeClr val="accent6"/>
                          </a:solidFill>
                          <a:effectLst/>
                        </a:rPr>
                        <a:t>Integration testing</a:t>
                      </a:r>
                      <a:r>
                        <a:rPr lang="en-US" sz="1800" kern="1200" dirty="0">
                          <a:effectLst/>
                        </a:rPr>
                        <a:t> </a:t>
                      </a:r>
                      <a:r>
                        <a:rPr lang="en-US" sz="1800" dirty="0"/>
                        <a:t>makes sure that scripts run without tracebacks and yield reproducible results.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18220872"/>
                  </a:ext>
                </a:extLst>
              </a:tr>
              <a:tr h="898096">
                <a:tc>
                  <a:txBody>
                    <a:bodyPr/>
                    <a:lstStyle/>
                    <a:p>
                      <a:pPr algn="just"/>
                      <a:r>
                        <a:rPr lang="en-US" dirty="0" err="1"/>
                        <a:t>run_stest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test/scientific/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kern="1200" dirty="0">
                          <a:solidFill>
                            <a:schemeClr val="accent2"/>
                          </a:solidFill>
                          <a:latin typeface="+mn-lt"/>
                          <a:ea typeface="+mn-ea"/>
                          <a:cs typeface="+mn-cs"/>
                        </a:rPr>
                        <a:t>Scientific testing </a:t>
                      </a:r>
                      <a:r>
                        <a:rPr lang="en-US" sz="1800" dirty="0"/>
                        <a:t>ensures the repeatability, correctness and </a:t>
                      </a:r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accuracy of the </a:t>
                      </a:r>
                      <a:r>
                        <a:rPr lang="en-US" sz="1800" dirty="0"/>
                        <a:t>scientific outputs.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0715119"/>
                  </a:ext>
                </a:extLst>
              </a:tr>
              <a:tr h="898096">
                <a:tc>
                  <a:txBody>
                    <a:bodyPr/>
                    <a:lstStyle/>
                    <a:p>
                      <a:pPr algn="just"/>
                      <a:r>
                        <a:rPr lang="en-US" dirty="0" err="1"/>
                        <a:t>run_ptest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test/performance/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dirty="0">
                          <a:solidFill>
                            <a:schemeClr val="accent1"/>
                          </a:solidFill>
                        </a:rPr>
                        <a:t>Performance testing </a:t>
                      </a:r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evaluates the speed, responsiveness and stability for bottleneck identification and nullification.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72328772"/>
                  </a:ext>
                </a:extLst>
              </a:tr>
            </a:tbl>
          </a:graphicData>
        </a:graphic>
      </p:graphicFrame>
      <p:graphicFrame>
        <p:nvGraphicFramePr>
          <p:cNvPr id="15" name="Diagram 14">
            <a:extLst>
              <a:ext uri="{FF2B5EF4-FFF2-40B4-BE49-F238E27FC236}">
                <a16:creationId xmlns:a16="http://schemas.microsoft.com/office/drawing/2014/main" id="{0015E66D-2C0C-9840-AA50-A15CDE3BAFB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86976504"/>
              </p:ext>
            </p:extLst>
          </p:nvPr>
        </p:nvGraphicFramePr>
        <p:xfrm>
          <a:off x="8977745" y="183788"/>
          <a:ext cx="2438928" cy="182050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19" name="Rectangle 18">
            <a:extLst>
              <a:ext uri="{FF2B5EF4-FFF2-40B4-BE49-F238E27FC236}">
                <a16:creationId xmlns:a16="http://schemas.microsoft.com/office/drawing/2014/main" id="{9CDA6099-73EB-5144-AB28-D91820C35B89}"/>
              </a:ext>
            </a:extLst>
          </p:cNvPr>
          <p:cNvSpPr/>
          <p:nvPr/>
        </p:nvSpPr>
        <p:spPr>
          <a:xfrm>
            <a:off x="9724536" y="1084119"/>
            <a:ext cx="982289" cy="4893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200" dirty="0"/>
              <a:t>Bug-free</a:t>
            </a:r>
          </a:p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200" dirty="0">
                <a:solidFill>
                  <a:schemeClr val="accent4"/>
                </a:solidFill>
              </a:rPr>
              <a:t>unit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47BE624-C351-E947-A83D-174C1415950F}"/>
              </a:ext>
            </a:extLst>
          </p:cNvPr>
          <p:cNvSpPr/>
          <p:nvPr/>
        </p:nvSpPr>
        <p:spPr>
          <a:xfrm>
            <a:off x="2881745" y="569325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/>
            <a:r>
              <a:rPr lang="en-US" i="1" dirty="0"/>
              <a:t>pip install .</a:t>
            </a:r>
            <a:r>
              <a:rPr lang="en-US" b="1" i="1" dirty="0"/>
              <a:t>[dev] </a:t>
            </a:r>
            <a:r>
              <a:rPr lang="en-US" i="1" dirty="0"/>
              <a:t>-v </a:t>
            </a:r>
            <a:r>
              <a:rPr lang="en-US" dirty="0"/>
              <a:t>on installation</a:t>
            </a:r>
          </a:p>
          <a:p>
            <a:pPr algn="ctr"/>
            <a:r>
              <a:rPr lang="en-US" i="1" dirty="0"/>
              <a:t>source </a:t>
            </a:r>
            <a:r>
              <a:rPr lang="en-US" i="1" dirty="0" err="1"/>
              <a:t>premake</a:t>
            </a:r>
            <a:r>
              <a:rPr lang="en-US" dirty="0"/>
              <a:t> before running tests</a:t>
            </a:r>
          </a:p>
        </p:txBody>
      </p:sp>
    </p:spTree>
    <p:extLst>
      <p:ext uri="{BB962C8B-B14F-4D97-AF65-F5344CB8AC3E}">
        <p14:creationId xmlns:p14="http://schemas.microsoft.com/office/powerpoint/2010/main" val="27438588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174E11-7BE3-0048-94D8-35CDD799A5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298004" cy="1325563"/>
          </a:xfrm>
        </p:spPr>
        <p:txBody>
          <a:bodyPr/>
          <a:lstStyle/>
          <a:p>
            <a:r>
              <a:rPr lang="en-US" dirty="0"/>
              <a:t>Integration Test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6D2B87E6-6F62-754F-B76D-621DDC49B4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0104915"/>
              </p:ext>
            </p:extLst>
          </p:nvPr>
        </p:nvGraphicFramePr>
        <p:xfrm>
          <a:off x="7038321" y="1541496"/>
          <a:ext cx="4167941" cy="1404705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614103">
                  <a:extLst>
                    <a:ext uri="{9D8B030D-6E8A-4147-A177-3AD203B41FA5}">
                      <a16:colId xmlns:a16="http://schemas.microsoft.com/office/drawing/2014/main" val="1700155147"/>
                    </a:ext>
                  </a:extLst>
                </a:gridCol>
                <a:gridCol w="3553838">
                  <a:extLst>
                    <a:ext uri="{9D8B030D-6E8A-4147-A177-3AD203B41FA5}">
                      <a16:colId xmlns:a16="http://schemas.microsoft.com/office/drawing/2014/main" val="4090573760"/>
                    </a:ext>
                  </a:extLst>
                </a:gridCol>
              </a:tblGrid>
              <a:tr h="366635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file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2708201"/>
                  </a:ext>
                </a:extLst>
              </a:tr>
              <a:tr h="36663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 err="1">
                          <a:effectLst/>
                        </a:rPr>
                        <a:t>cmd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effectLst/>
                        </a:rPr>
                        <a:t>Shell commands to run drivers and workflows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443656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accent2"/>
                          </a:solidFill>
                          <a:effectLst/>
                        </a:rPr>
                        <a:t>check</a:t>
                      </a:r>
                      <a:endParaRPr lang="en-US" sz="1400" kern="1200" dirty="0">
                        <a:solidFill>
                          <a:schemeClr val="accent2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2"/>
                          </a:solidFill>
                          <a:effectLst/>
                        </a:rPr>
                        <a:t>Check the results against expectations</a:t>
                      </a:r>
                      <a:endParaRPr lang="en-US" sz="1400" kern="1200" dirty="0">
                        <a:solidFill>
                          <a:schemeClr val="accent2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3567960"/>
                  </a:ext>
                </a:extLst>
              </a:tr>
              <a:tr h="36663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1"/>
                          </a:solidFill>
                          <a:effectLst/>
                        </a:rPr>
                        <a:t>tag</a:t>
                      </a:r>
                      <a:endParaRPr lang="en-US" sz="1400" kern="1200" dirty="0">
                        <a:solidFill>
                          <a:schemeClr val="accent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1"/>
                          </a:solidFill>
                          <a:effectLst/>
                        </a:rPr>
                        <a:t>Tag the execution (e.g., name, cost)</a:t>
                      </a:r>
                      <a:endParaRPr lang="en-US" sz="1400" kern="1200" dirty="0">
                        <a:solidFill>
                          <a:schemeClr val="accent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21257283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51FD4C4C-D4CF-5C43-82EA-6B4469CA35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59345035"/>
              </p:ext>
            </p:extLst>
          </p:nvPr>
        </p:nvGraphicFramePr>
        <p:xfrm>
          <a:off x="7038322" y="3112074"/>
          <a:ext cx="4167940" cy="182880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857792">
                  <a:extLst>
                    <a:ext uri="{9D8B030D-6E8A-4147-A177-3AD203B41FA5}">
                      <a16:colId xmlns:a16="http://schemas.microsoft.com/office/drawing/2014/main" val="3737494183"/>
                    </a:ext>
                  </a:extLst>
                </a:gridCol>
                <a:gridCol w="3310148">
                  <a:extLst>
                    <a:ext uri="{9D8B030D-6E8A-4147-A177-3AD203B41FA5}">
                      <a16:colId xmlns:a16="http://schemas.microsoft.com/office/drawing/2014/main" val="2798767956"/>
                    </a:ext>
                  </a:extLst>
                </a:gridCol>
              </a:tblGrid>
              <a:tr h="284016">
                <a:tc gridSpan="2">
                  <a:txBody>
                    <a:bodyPr/>
                    <a:lstStyle/>
                    <a:p>
                      <a:r>
                        <a:rPr lang="en-US" sz="1400" dirty="0"/>
                        <a:t>Supported keys in </a:t>
                      </a:r>
                      <a:r>
                        <a:rPr lang="en-US" sz="1400" dirty="0" err="1"/>
                        <a:t>cmd</a:t>
                      </a:r>
                      <a:r>
                        <a:rPr lang="en-US" sz="1400" dirty="0"/>
                        <a:t> file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0088413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lang="en-US" sz="1400" kern="1200" dirty="0" err="1">
                          <a:effectLst/>
                        </a:rPr>
                        <a:t>cmp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Content comparison of multiples files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7610778"/>
                  </a:ext>
                </a:extLst>
              </a:tr>
              <a:tr h="284016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glob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The match number by pattern expansion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1388844"/>
                  </a:ext>
                </a:extLst>
              </a:tr>
              <a:tr h="284016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exist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The existence of files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9999943"/>
                  </a:ext>
                </a:extLst>
              </a:tr>
              <a:tr h="284016">
                <a:tc>
                  <a:txBody>
                    <a:bodyPr/>
                    <a:lstStyle/>
                    <a:p>
                      <a:r>
                        <a:rPr lang="en-US" sz="1400" kern="1200" dirty="0" err="1">
                          <a:effectLst/>
                        </a:rPr>
                        <a:t>not_exist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The non-existence of files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0698211"/>
                  </a:ext>
                </a:extLst>
              </a:tr>
              <a:tr h="284016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in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Specific string in files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5061091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86607B0D-9816-0842-8455-A2FFD625CB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3179171"/>
              </p:ext>
            </p:extLst>
          </p:nvPr>
        </p:nvGraphicFramePr>
        <p:xfrm>
          <a:off x="7038322" y="5130999"/>
          <a:ext cx="4167941" cy="10129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7792">
                  <a:extLst>
                    <a:ext uri="{9D8B030D-6E8A-4147-A177-3AD203B41FA5}">
                      <a16:colId xmlns:a16="http://schemas.microsoft.com/office/drawing/2014/main" val="3737494183"/>
                    </a:ext>
                  </a:extLst>
                </a:gridCol>
                <a:gridCol w="3310149">
                  <a:extLst>
                    <a:ext uri="{9D8B030D-6E8A-4147-A177-3AD203B41FA5}">
                      <a16:colId xmlns:a16="http://schemas.microsoft.com/office/drawing/2014/main" val="2798767956"/>
                    </a:ext>
                  </a:extLst>
                </a:gridCol>
              </a:tblGrid>
              <a:tr h="354094">
                <a:tc gridSpan="2">
                  <a:txBody>
                    <a:bodyPr/>
                    <a:lstStyle/>
                    <a:p>
                      <a:r>
                        <a:rPr lang="en-US" sz="1400" dirty="0"/>
                        <a:t>Supported keys in tag file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0088413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label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The script name of driver or workflow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7610778"/>
                  </a:ext>
                </a:extLst>
              </a:tr>
              <a:tr h="354094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slow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The time cost on execution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1388844"/>
                  </a:ext>
                </a:extLst>
              </a:tr>
            </a:tbl>
          </a:graphicData>
        </a:graphic>
      </p:graphicFrame>
      <p:sp>
        <p:nvSpPr>
          <p:cNvPr id="14" name="Rectangle 13">
            <a:extLst>
              <a:ext uri="{FF2B5EF4-FFF2-40B4-BE49-F238E27FC236}">
                <a16:creationId xmlns:a16="http://schemas.microsoft.com/office/drawing/2014/main" id="{0B77A13E-679A-C04C-9081-AA8837EE12E7}"/>
              </a:ext>
            </a:extLst>
          </p:cNvPr>
          <p:cNvSpPr/>
          <p:nvPr/>
        </p:nvSpPr>
        <p:spPr>
          <a:xfrm>
            <a:off x="682915" y="1573958"/>
            <a:ext cx="5847585" cy="450892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1500" i="1" dirty="0" err="1"/>
              <a:t>run_itest</a:t>
            </a:r>
            <a:r>
              <a:rPr lang="en-US" sz="1500" dirty="0"/>
              <a:t> runs examples in </a:t>
            </a:r>
            <a:r>
              <a:rPr lang="en-US" sz="1500" dirty="0">
                <a:solidFill>
                  <a:schemeClr val="dk1"/>
                </a:solidFill>
              </a:rPr>
              <a:t>test/integration</a:t>
            </a:r>
          </a:p>
          <a:p>
            <a:pPr algn="just"/>
            <a:endParaRPr lang="en-US" sz="1500" dirty="0">
              <a:solidFill>
                <a:schemeClr val="dk1"/>
              </a:solidFill>
            </a:endParaRPr>
          </a:p>
          <a:p>
            <a:pPr algn="just"/>
            <a:r>
              <a:rPr lang="en-US" sz="1500" dirty="0">
                <a:solidFill>
                  <a:schemeClr val="dk1"/>
                </a:solidFill>
              </a:rPr>
              <a:t>Each test contains one </a:t>
            </a:r>
            <a:r>
              <a:rPr lang="en-US" sz="1500" dirty="0" err="1">
                <a:solidFill>
                  <a:schemeClr val="dk1"/>
                </a:solidFill>
              </a:rPr>
              <a:t>cmd</a:t>
            </a:r>
            <a:r>
              <a:rPr lang="en-US" sz="1500" dirty="0">
                <a:solidFill>
                  <a:schemeClr val="dk1"/>
                </a:solidFill>
              </a:rPr>
              <a:t> file, one check file, and one optional tag file. The four-digit </a:t>
            </a:r>
            <a:r>
              <a:rPr lang="en-US" sz="1500" dirty="0" err="1">
                <a:solidFill>
                  <a:schemeClr val="dk1"/>
                </a:solidFill>
              </a:rPr>
              <a:t>dirname</a:t>
            </a:r>
            <a:r>
              <a:rPr lang="en-US" sz="1500" dirty="0">
                <a:solidFill>
                  <a:schemeClr val="dk1"/>
                </a:solidFill>
              </a:rPr>
              <a:t> is the test id.</a:t>
            </a:r>
          </a:p>
          <a:p>
            <a:pPr algn="just"/>
            <a:endParaRPr lang="en-US" sz="1500" dirty="0">
              <a:solidFill>
                <a:schemeClr val="dk1"/>
              </a:solidFill>
            </a:endParaRPr>
          </a:p>
          <a:p>
            <a:pPr algn="just"/>
            <a:r>
              <a:rPr lang="en-US" sz="1500" dirty="0">
                <a:solidFill>
                  <a:schemeClr val="dk1"/>
                </a:solidFill>
              </a:rPr>
              <a:t>For example:</a:t>
            </a:r>
          </a:p>
          <a:p>
            <a:endParaRPr lang="en-US" sz="1500" dirty="0"/>
          </a:p>
          <a:p>
            <a:r>
              <a:rPr lang="en-US" sz="1400" i="1" dirty="0"/>
              <a:t>cd test/integration/0001; head </a:t>
            </a:r>
            <a:r>
              <a:rPr lang="en-US" sz="1400" i="1" dirty="0" err="1"/>
              <a:t>cmd</a:t>
            </a:r>
            <a:r>
              <a:rPr lang="en-US" sz="1400" i="1" dirty="0"/>
              <a:t> check tag</a:t>
            </a:r>
          </a:p>
          <a:p>
            <a:endParaRPr lang="en-US" sz="1400" dirty="0"/>
          </a:p>
          <a:p>
            <a:r>
              <a:rPr lang="en-US" sz="1400" i="1" dirty="0"/>
              <a:t>==&gt; </a:t>
            </a:r>
            <a:r>
              <a:rPr lang="en-US" sz="1400" i="1" dirty="0" err="1"/>
              <a:t>cmd</a:t>
            </a:r>
            <a:r>
              <a:rPr lang="en-US" sz="1400" i="1" dirty="0"/>
              <a:t> &lt;==</a:t>
            </a:r>
          </a:p>
          <a:p>
            <a:r>
              <a:rPr lang="en-US" sz="1400" i="1" dirty="0"/>
              <a:t># Amorphous builder on C</a:t>
            </a:r>
          </a:p>
          <a:p>
            <a:r>
              <a:rPr lang="en-US" sz="1400" i="1" dirty="0" err="1"/>
              <a:t>run_nemd</a:t>
            </a:r>
            <a:r>
              <a:rPr lang="en-US" sz="1400" i="1" dirty="0"/>
              <a:t> </a:t>
            </a:r>
            <a:r>
              <a:rPr lang="en-US" sz="1400" i="1" dirty="0" err="1"/>
              <a:t>amorp_bldr_driver.py</a:t>
            </a:r>
            <a:r>
              <a:rPr lang="en-US" sz="1400" i="1" dirty="0"/>
              <a:t> C -</a:t>
            </a:r>
            <a:r>
              <a:rPr lang="en-US" sz="1400" i="1" dirty="0" err="1"/>
              <a:t>cru_num</a:t>
            </a:r>
            <a:r>
              <a:rPr lang="en-US" sz="1400" i="1" dirty="0"/>
              <a:t> 10 -</a:t>
            </a:r>
            <a:r>
              <a:rPr lang="en-US" sz="1400" i="1" dirty="0" err="1"/>
              <a:t>mol_num</a:t>
            </a:r>
            <a:r>
              <a:rPr lang="en-US" sz="1400" i="1" dirty="0"/>
              <a:t> 10</a:t>
            </a:r>
          </a:p>
          <a:p>
            <a:endParaRPr lang="en-US" sz="1400" i="1" dirty="0"/>
          </a:p>
          <a:p>
            <a:r>
              <a:rPr lang="en-US" sz="1400" i="1" dirty="0"/>
              <a:t>==&gt; check &lt;==</a:t>
            </a:r>
          </a:p>
          <a:p>
            <a:r>
              <a:rPr lang="en-US" sz="1400" i="1" dirty="0"/>
              <a:t># polymers are built the same</a:t>
            </a:r>
          </a:p>
          <a:p>
            <a:r>
              <a:rPr lang="en-US" sz="1400" i="1" dirty="0" err="1"/>
              <a:t>cmp</a:t>
            </a:r>
            <a:r>
              <a:rPr lang="en-US" sz="1400" i="1" dirty="0"/>
              <a:t>('</a:t>
            </a:r>
            <a:r>
              <a:rPr lang="en-US" sz="1400" i="1" dirty="0" err="1"/>
              <a:t>polymer_builder.data</a:t>
            </a:r>
            <a:r>
              <a:rPr lang="en-US" sz="1400" i="1" dirty="0"/>
              <a:t>', '</a:t>
            </a:r>
            <a:r>
              <a:rPr lang="en-US" sz="1400" i="1" dirty="0" err="1"/>
              <a:t>amorp_bldr.data</a:t>
            </a:r>
            <a:r>
              <a:rPr lang="en-US" sz="1400" i="1" dirty="0"/>
              <a:t>')</a:t>
            </a:r>
          </a:p>
          <a:p>
            <a:endParaRPr lang="en-US" sz="1400" i="1" dirty="0"/>
          </a:p>
          <a:p>
            <a:r>
              <a:rPr lang="en-US" sz="1400" i="1" dirty="0"/>
              <a:t>==&gt; tag &lt;==</a:t>
            </a:r>
          </a:p>
          <a:p>
            <a:r>
              <a:rPr lang="en-US" sz="1400" i="1" dirty="0"/>
              <a:t>slow(00:00:03)</a:t>
            </a:r>
          </a:p>
          <a:p>
            <a:r>
              <a:rPr lang="en-US" sz="1400" i="1" dirty="0"/>
              <a:t>label(</a:t>
            </a:r>
            <a:r>
              <a:rPr lang="en-US" sz="1400" i="1" dirty="0" err="1"/>
              <a:t>amorp_bldr</a:t>
            </a:r>
            <a:r>
              <a:rPr lang="en-US" sz="1400" i="1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9221913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D931D7-45C9-A74A-92AA-A7925BC286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4443" y="312023"/>
            <a:ext cx="6024664" cy="6324866"/>
          </a:xfrm>
        </p:spPr>
        <p:txBody>
          <a:bodyPr>
            <a:normAutofit lnSpcReduction="10000"/>
          </a:bodyPr>
          <a:lstStyle/>
          <a:p>
            <a:pPr marL="0" indent="0" algn="ctr">
              <a:buNone/>
            </a:pPr>
            <a:r>
              <a:rPr lang="en-US" sz="4100" dirty="0"/>
              <a:t>Builder</a:t>
            </a:r>
            <a:endParaRPr lang="en-US" sz="4100" i="1" dirty="0"/>
          </a:p>
          <a:p>
            <a:pPr marL="0" indent="0" algn="just">
              <a:buNone/>
            </a:pPr>
            <a:endParaRPr lang="en-US" sz="1500" i="1" dirty="0"/>
          </a:p>
          <a:p>
            <a:pPr marL="0" indent="0" algn="just">
              <a:buNone/>
            </a:pPr>
            <a:r>
              <a:rPr lang="en-US" sz="1500" i="1" dirty="0" err="1"/>
              <a:t>amorp_bldr_driver.py</a:t>
            </a:r>
            <a:r>
              <a:rPr lang="en-US" sz="1500" dirty="0"/>
              <a:t> builds polymers from constitutional repeat units, and packs molecules as an amorphous cell.</a:t>
            </a:r>
          </a:p>
          <a:p>
            <a:pPr marL="342900" indent="-342900">
              <a:buSzPct val="100000"/>
              <a:buFont typeface="Arial" panose="020B0604020202020204" pitchFamily="34" charset="0"/>
              <a:buAutoNum type="arabicParenR"/>
            </a:pPr>
            <a:r>
              <a:rPr lang="en-US" sz="1300" dirty="0"/>
              <a:t>-method grid: grid the space and put molecules into sub-cells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-method pack: randomly rotate and translate molecules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-method grow: grow molecules from the smallest rigid fragments</a:t>
            </a:r>
          </a:p>
          <a:p>
            <a:pPr marL="0" indent="0">
              <a:buNone/>
            </a:pPr>
            <a:endParaRPr lang="en-US" sz="1000" i="1" dirty="0"/>
          </a:p>
          <a:p>
            <a:pPr marL="0" indent="0">
              <a:buNone/>
            </a:pPr>
            <a:r>
              <a:rPr lang="en-US" sz="1500" dirty="0" err="1"/>
              <a:t>mol_bldr_driver.py</a:t>
            </a:r>
            <a:r>
              <a:rPr lang="en-US" sz="1500" dirty="0"/>
              <a:t> builds single polymer or molecule via the grid method</a:t>
            </a:r>
            <a:r>
              <a:rPr lang="en-US" sz="1500" i="1" dirty="0"/>
              <a:t>.</a:t>
            </a:r>
            <a:endParaRPr lang="en-US" sz="1500" dirty="0"/>
          </a:p>
          <a:p>
            <a:pPr marL="342900" indent="-342900">
              <a:buFont typeface="+mj-lt"/>
              <a:buAutoNum type="arabicParenR"/>
            </a:pPr>
            <a:r>
              <a:rPr lang="en-US" sz="1300" dirty="0"/>
              <a:t>-</a:t>
            </a:r>
            <a:r>
              <a:rPr lang="en-US" sz="1300" dirty="0" err="1"/>
              <a:t>substruct</a:t>
            </a:r>
            <a:r>
              <a:rPr lang="en-US" sz="1300" dirty="0"/>
              <a:t> SMILES (VALUE): set or measure the substructure geometry</a:t>
            </a:r>
          </a:p>
          <a:p>
            <a:pPr marL="342900" indent="-342900">
              <a:buFont typeface="+mj-lt"/>
              <a:buAutoNum type="arabicParenR"/>
            </a:pPr>
            <a:endParaRPr lang="en-US" sz="1000" dirty="0"/>
          </a:p>
          <a:p>
            <a:pPr marL="0" indent="0" algn="just">
              <a:buNone/>
            </a:pPr>
            <a:r>
              <a:rPr lang="en-US" sz="1500" i="1" dirty="0" err="1"/>
              <a:t>xtal_bldr_driver.py</a:t>
            </a:r>
            <a:r>
              <a:rPr lang="en-US" sz="1500" i="1" dirty="0"/>
              <a:t> </a:t>
            </a:r>
            <a:r>
              <a:rPr lang="en-US" sz="1500" dirty="0"/>
              <a:t>generates crystal supercell with scalable lattice vectors.</a:t>
            </a:r>
          </a:p>
          <a:p>
            <a:pPr marL="342900" indent="-342900">
              <a:buAutoNum type="arabicParenR"/>
            </a:pPr>
            <a:r>
              <a:rPr lang="en-US" sz="1300" dirty="0"/>
              <a:t>-name Si: diamond cubic structure (space group 227)</a:t>
            </a:r>
          </a:p>
          <a:p>
            <a:pPr marL="342900" indent="-342900">
              <a:buAutoNum type="arabicParenR"/>
            </a:pPr>
            <a:r>
              <a:rPr lang="en-US" sz="1300" dirty="0"/>
              <a:t>-dimension [DIMENSION ...] : duplicate by these factors to generate the supercell</a:t>
            </a:r>
          </a:p>
          <a:p>
            <a:pPr marL="342900" indent="-342900">
              <a:buAutoNum type="arabicParenR"/>
            </a:pPr>
            <a:r>
              <a:rPr lang="en-US" sz="1300" dirty="0"/>
              <a:t>-</a:t>
            </a:r>
            <a:r>
              <a:rPr lang="en-US" sz="1300" dirty="0" err="1"/>
              <a:t>force_field</a:t>
            </a:r>
            <a:r>
              <a:rPr lang="en-US" sz="1300" dirty="0"/>
              <a:t> SW: (w style computes a 3-body </a:t>
            </a:r>
            <a:r>
              <a:rPr lang="en-US" sz="13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Stillinger-Weber</a:t>
            </a:r>
            <a:r>
              <a:rPr lang="en-US" sz="1300" dirty="0"/>
              <a:t> potential)</a:t>
            </a:r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500" dirty="0"/>
              <a:t>Integration test</a:t>
            </a:r>
          </a:p>
          <a:p>
            <a:pPr marL="342900" indent="-342900">
              <a:buAutoNum type="arabicParenR"/>
            </a:pPr>
            <a:r>
              <a:rPr lang="en-US" sz="1300" dirty="0"/>
              <a:t>single molecule or polymer (with part of the geometry set or measured)</a:t>
            </a:r>
          </a:p>
          <a:p>
            <a:pPr marL="342900" indent="-342900">
              <a:buAutoNum type="arabicParenR"/>
            </a:pPr>
            <a:r>
              <a:rPr lang="en-US" sz="1300" dirty="0"/>
              <a:t>multiple molecules and (or) polymers at target or reduced densities</a:t>
            </a:r>
          </a:p>
          <a:p>
            <a:pPr marL="342900" indent="-342900">
              <a:buAutoNum type="arabicParenR"/>
            </a:pPr>
            <a:r>
              <a:rPr lang="en-US" sz="1300" dirty="0"/>
              <a:t>various structures and long polymers</a:t>
            </a:r>
          </a:p>
          <a:p>
            <a:pPr marL="342900" indent="-342900">
              <a:buAutoNum type="arabicParenR"/>
            </a:pPr>
            <a:r>
              <a:rPr lang="en-US" sz="1300" dirty="0"/>
              <a:t>Crystal structure with scaled lattice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C1D83D3-035A-084E-AE46-1D65A74479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8864928"/>
              </p:ext>
            </p:extLst>
          </p:nvPr>
        </p:nvGraphicFramePr>
        <p:xfrm>
          <a:off x="6257428" y="312022"/>
          <a:ext cx="5551251" cy="6068930"/>
        </p:xfrm>
        <a:graphic>
          <a:graphicData uri="http://schemas.openxmlformats.org/drawingml/2006/table">
            <a:tbl>
              <a:tblPr>
                <a:tableStyleId>{93296810-A885-4BE3-A3E7-6D5BEEA58F35}</a:tableStyleId>
              </a:tblPr>
              <a:tblGrid>
                <a:gridCol w="894945">
                  <a:extLst>
                    <a:ext uri="{9D8B030D-6E8A-4147-A177-3AD203B41FA5}">
                      <a16:colId xmlns:a16="http://schemas.microsoft.com/office/drawing/2014/main" val="2370514001"/>
                    </a:ext>
                  </a:extLst>
                </a:gridCol>
                <a:gridCol w="849548">
                  <a:extLst>
                    <a:ext uri="{9D8B030D-6E8A-4147-A177-3AD203B41FA5}">
                      <a16:colId xmlns:a16="http://schemas.microsoft.com/office/drawing/2014/main" val="2292934565"/>
                    </a:ext>
                  </a:extLst>
                </a:gridCol>
                <a:gridCol w="1147864">
                  <a:extLst>
                    <a:ext uri="{9D8B030D-6E8A-4147-A177-3AD203B41FA5}">
                      <a16:colId xmlns:a16="http://schemas.microsoft.com/office/drawing/2014/main" val="1529396667"/>
                    </a:ext>
                  </a:extLst>
                </a:gridCol>
                <a:gridCol w="1498060">
                  <a:extLst>
                    <a:ext uri="{9D8B030D-6E8A-4147-A177-3AD203B41FA5}">
                      <a16:colId xmlns:a16="http://schemas.microsoft.com/office/drawing/2014/main" val="699767921"/>
                    </a:ext>
                  </a:extLst>
                </a:gridCol>
                <a:gridCol w="1160834">
                  <a:extLst>
                    <a:ext uri="{9D8B030D-6E8A-4147-A177-3AD203B41FA5}">
                      <a16:colId xmlns:a16="http://schemas.microsoft.com/office/drawing/2014/main" val="2392853615"/>
                    </a:ext>
                  </a:extLst>
                </a:gridCol>
              </a:tblGrid>
              <a:tr h="29979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Integration Test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method/driver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Molecule/Polymer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Structure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Comment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484090614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1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grid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CC(C)O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Single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824252942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2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i="1" dirty="0" err="1"/>
                        <a:t>mol_bldr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2(2)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dihedral (120)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Set Geom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901094750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3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i="1" dirty="0" err="1"/>
                        <a:t>mol_bldr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1(3)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dihedral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Measure 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807282332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4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1 | 10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CCCCCC(C)O [Ar]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Mol | Mol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499233574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5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Pack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CC(=O)O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Single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642526306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6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11(6)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*CC*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Polym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803456469"/>
                  </a:ext>
                </a:extLst>
              </a:tr>
              <a:tr h="29979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7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11(6)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*CC*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Reduce (1.12)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302089768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Grow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10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Mol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803442369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9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 | 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O CCCO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Mol | Mol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69355779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10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3(5)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*CC(O)*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Polym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00934735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11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5(3) | 15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*CC(*)C(=O)O CN(C)C=O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Polym | Mol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286421955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12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5(5)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*CC*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Reduce (2.6)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166009791"/>
                  </a:ext>
                </a:extLst>
              </a:tr>
              <a:tr h="29979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13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7(4)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*CC*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Reduce (2.65)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748127226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14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1(200)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*CC*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Single Long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22131755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15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10(100)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*CC(*)C(=O)O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Multi Long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608635636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16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TIP3P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948150519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17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SPCE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471329776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18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SPC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714508979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19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CO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485612456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20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CCO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617439923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21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CC(=O)C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61568889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22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CCC(=O)CC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813536668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23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CC(C)(C)C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952674631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24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CC(C)CC(=O)C(C)(C)C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975757874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25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 | 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O CCCO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23713123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26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10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[Li+].[F-]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033712642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27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10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[Na+].[Cl-]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28369525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28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[Br-].[Mg+2].[Br-]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473638560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29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10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[K+].[Br-]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822504574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30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5 | 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[</a:t>
                      </a:r>
                      <a:r>
                        <a:rPr lang="en-US" sz="1000" u="none" strike="noStrike" dirty="0" err="1">
                          <a:effectLst/>
                        </a:rPr>
                        <a:t>Rb</a:t>
                      </a:r>
                      <a:r>
                        <a:rPr lang="en-US" sz="1000" u="none" strike="noStrike" dirty="0">
                          <a:effectLst/>
                        </a:rPr>
                        <a:t>+].[Cl-] [Cs+].[Br-]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452337688"/>
                  </a:ext>
                </a:extLst>
              </a:tr>
              <a:tr h="29979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31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5 | 5 | 5 | 5 | 5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[He] [Ne] [Ar] [Kr] [Xe]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728489206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32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 | 1| 1| 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[Ca+2] [Sr+2] [Ba+2] [Cl-]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301322427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33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i="1" dirty="0" err="1"/>
                        <a:t>xtal_bldr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1x2x3 supercell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 (face centered-cubic)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Scale Factor 0.95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633238104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2C52ADCC-16B5-524D-B96F-54E333917F4F}"/>
              </a:ext>
            </a:extLst>
          </p:cNvPr>
          <p:cNvSpPr/>
          <p:nvPr/>
        </p:nvSpPr>
        <p:spPr>
          <a:xfrm>
            <a:off x="6389652" y="6378391"/>
            <a:ext cx="2196435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100" dirty="0"/>
              <a:t>molecule numbers separated by |</a:t>
            </a:r>
          </a:p>
          <a:p>
            <a:r>
              <a:rPr lang="en-US" sz="1100" dirty="0"/>
              <a:t>repeat unit number noted inside ()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1B98B0F-98F1-6F4F-96E8-C56F7460FC25}"/>
              </a:ext>
            </a:extLst>
          </p:cNvPr>
          <p:cNvSpPr/>
          <p:nvPr/>
        </p:nvSpPr>
        <p:spPr>
          <a:xfrm>
            <a:off x="8956702" y="6375278"/>
            <a:ext cx="2650084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100" dirty="0"/>
              <a:t>* are the capping atoms for polymerization</a:t>
            </a:r>
          </a:p>
        </p:txBody>
      </p:sp>
    </p:spTree>
    <p:extLst>
      <p:ext uri="{BB962C8B-B14F-4D97-AF65-F5344CB8AC3E}">
        <p14:creationId xmlns:p14="http://schemas.microsoft.com/office/powerpoint/2010/main" val="22000264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0EF3FB5-AC66-9447-8D17-5430181F0E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9323" y="387651"/>
            <a:ext cx="6133288" cy="6179403"/>
          </a:xfrm>
        </p:spPr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4400" dirty="0"/>
              <a:t>Molecular Dynamics</a:t>
            </a:r>
            <a:endParaRPr lang="en-US" sz="4400" i="1" dirty="0"/>
          </a:p>
          <a:p>
            <a:pPr marL="0" indent="0" algn="just">
              <a:buNone/>
            </a:pPr>
            <a:r>
              <a:rPr lang="en-US" sz="1500" i="1" dirty="0" err="1"/>
              <a:t>lammps_driver.py</a:t>
            </a:r>
            <a:r>
              <a:rPr lang="en-US" sz="1500" i="1" dirty="0"/>
              <a:t> </a:t>
            </a:r>
            <a:r>
              <a:rPr lang="en-US" sz="1500" dirty="0"/>
              <a:t>runs molecular dynamics simulations.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GPU auto-detection.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</a:t>
            </a:r>
            <a:r>
              <a:rPr lang="en-US" sz="1300" dirty="0" err="1"/>
              <a:t>cpu</a:t>
            </a:r>
            <a:r>
              <a:rPr lang="en-US" sz="1300" dirty="0"/>
              <a:t> NUM: multiple CPU threads via OPENMP.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/>
          </a:p>
          <a:p>
            <a:pPr marL="0" indent="0">
              <a:buNone/>
            </a:pPr>
            <a:r>
              <a:rPr lang="en-US" sz="1500" i="1" dirty="0" err="1"/>
              <a:t>lmp_log_driver.py</a:t>
            </a:r>
            <a:r>
              <a:rPr lang="en-US" sz="1500" dirty="0"/>
              <a:t> analyzes the log from previous molecular dynamics simulations.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-task {...}: temperature , pairwise energy, molecular energy, total energy, pressure, volume</a:t>
            </a:r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500" i="1" dirty="0" err="1"/>
              <a:t>lmp_traj_driver.py</a:t>
            </a:r>
            <a:r>
              <a:rPr lang="en-US" sz="1500" i="1" dirty="0"/>
              <a:t> </a:t>
            </a:r>
            <a:r>
              <a:rPr lang="en-US" sz="1500" dirty="0"/>
              <a:t>analyzes the trajectory from molecular dynamics simulations.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-task {...}: radial distribution function (RDF), density, clash, XYZ, diffusion coefficient via mean squared displacement (MSD), and visualization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-PYTHON {0,1,2}    0: native python; 1: compiled </a:t>
            </a:r>
            <a:r>
              <a:rPr lang="en-US" sz="1300" dirty="0" err="1"/>
              <a:t>Numba</a:t>
            </a:r>
            <a:r>
              <a:rPr lang="en-US" sz="1300" dirty="0"/>
              <a:t>; 2: the cached </a:t>
            </a:r>
            <a:r>
              <a:rPr lang="en-US" sz="1300" dirty="0" err="1"/>
              <a:t>Numba</a:t>
            </a:r>
            <a:endParaRPr lang="en-US" sz="1300" dirty="0"/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 algn="ctr">
              <a:buNone/>
            </a:pPr>
            <a:r>
              <a:rPr lang="en-US" sz="4400" dirty="0"/>
              <a:t>Solid Physics</a:t>
            </a:r>
            <a:endParaRPr lang="en-US" sz="44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>
              <a:buNone/>
            </a:pPr>
            <a:r>
              <a:rPr lang="en-US" sz="1500" i="1" dirty="0" err="1">
                <a:solidFill>
                  <a:srgbClr val="000000"/>
                </a:solidFill>
                <a:latin typeface="Calibri" panose="020F0502020204030204" pitchFamily="34" charset="0"/>
              </a:rPr>
              <a:t>recip_sp_driver.py</a:t>
            </a:r>
            <a:r>
              <a:rPr lang="en-US" sz="1500" i="1" dirty="0">
                <a:solidFill>
                  <a:srgbClr val="000000"/>
                </a:solidFill>
                <a:latin typeface="Calibri" panose="020F0502020204030204" pitchFamily="34" charset="0"/>
              </a:rPr>
              <a:t> </a:t>
            </a:r>
            <a:r>
              <a:rPr lang="en-US" sz="1500" dirty="0">
                <a:solidFill>
                  <a:srgbClr val="000000"/>
                </a:solidFill>
                <a:latin typeface="Calibri" panose="020F0502020204030204" pitchFamily="34" charset="0"/>
              </a:rPr>
              <a:t>plots direct and reciprocal lattice of Hexagon (graphene).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 -</a:t>
            </a:r>
            <a:r>
              <a:rPr lang="en-US" sz="1300" dirty="0" err="1"/>
              <a:t>miller_indices</a:t>
            </a:r>
            <a:r>
              <a:rPr lang="en-US" sz="1300" dirty="0"/>
              <a:t>  [...]: Miller Indices defines the plane and norm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/>
          </a:p>
          <a:p>
            <a:pPr marL="0" indent="0">
              <a:buNone/>
            </a:pPr>
            <a:r>
              <a:rPr lang="en-US" sz="1500" i="1" dirty="0" err="1"/>
              <a:t>dispersion_driver.py</a:t>
            </a:r>
            <a:r>
              <a:rPr lang="en-US" sz="1500" i="1" dirty="0"/>
              <a:t> </a:t>
            </a:r>
            <a:r>
              <a:rPr lang="en-US" sz="1500" dirty="0"/>
              <a:t>calculates and plots phonon dispersion.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 -name {Si} : Name to retrieve the crystal structure from the database</a:t>
            </a:r>
          </a:p>
          <a:p>
            <a:pPr marL="0" indent="0">
              <a:buNone/>
            </a:pPr>
            <a:endParaRPr lang="en-US" sz="12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>
              <a:buNone/>
            </a:pPr>
            <a:endParaRPr lang="en-US" sz="12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>
              <a:buNone/>
            </a:pPr>
            <a:endParaRPr lang="en-US" sz="12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>
              <a:buNone/>
            </a:pPr>
            <a:endParaRPr lang="en-US" sz="12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>
              <a:buNone/>
            </a:pPr>
            <a:endParaRPr lang="en-US" sz="1200" dirty="0"/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/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/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ED0C6FC-6847-BE4F-A9CD-0337C98BEE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84120263"/>
              </p:ext>
            </p:extLst>
          </p:nvPr>
        </p:nvGraphicFramePr>
        <p:xfrm>
          <a:off x="6334298" y="3399495"/>
          <a:ext cx="5544589" cy="2939560"/>
        </p:xfrm>
        <a:graphic>
          <a:graphicData uri="http://schemas.openxmlformats.org/drawingml/2006/table">
            <a:tbl>
              <a:tblPr>
                <a:tableStyleId>{93296810-A885-4BE3-A3E7-6D5BEEA58F35}</a:tableStyleId>
              </a:tblPr>
              <a:tblGrid>
                <a:gridCol w="915789">
                  <a:extLst>
                    <a:ext uri="{9D8B030D-6E8A-4147-A177-3AD203B41FA5}">
                      <a16:colId xmlns:a16="http://schemas.microsoft.com/office/drawing/2014/main" val="2370514001"/>
                    </a:ext>
                  </a:extLst>
                </a:gridCol>
                <a:gridCol w="1137455">
                  <a:extLst>
                    <a:ext uri="{9D8B030D-6E8A-4147-A177-3AD203B41FA5}">
                      <a16:colId xmlns:a16="http://schemas.microsoft.com/office/drawing/2014/main" val="2292934565"/>
                    </a:ext>
                  </a:extLst>
                </a:gridCol>
                <a:gridCol w="3491345">
                  <a:extLst>
                    <a:ext uri="{9D8B030D-6E8A-4147-A177-3AD203B41FA5}">
                      <a16:colId xmlns:a16="http://schemas.microsoft.com/office/drawing/2014/main" val="2392853615"/>
                    </a:ext>
                  </a:extLst>
                </a:gridCol>
              </a:tblGrid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Integration Test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u="none" strike="noStrike" dirty="0">
                          <a:solidFill>
                            <a:schemeClr val="accent1"/>
                          </a:solidFill>
                          <a:effectLst/>
                        </a:rPr>
                        <a:t>Driver</a:t>
                      </a:r>
                      <a:r>
                        <a:rPr lang="en-US" sz="1100" u="none" strike="noStrike" dirty="0">
                          <a:effectLst/>
                        </a:rPr>
                        <a:t>/</a:t>
                      </a:r>
                      <a:r>
                        <a:rPr lang="en-US" sz="1100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Workflow</a:t>
                      </a:r>
                      <a:endParaRPr lang="en-US" sz="1100" b="0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Comment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484090614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34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lammps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dirty="0"/>
                        <a:t>Single GPU on Ubuntu; 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Multiple CPUs</a:t>
                      </a:r>
                      <a:r>
                        <a:rPr lang="en-US" sz="1100" dirty="0"/>
                        <a:t> on </a:t>
                      </a:r>
                      <a:r>
                        <a:rPr lang="en-US" sz="1100" dirty="0" err="1"/>
                        <a:t>macOs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824252942"/>
                  </a:ext>
                </a:extLst>
              </a:tr>
              <a:tr h="30809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35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lammps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lmp_log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Serial Driver Jobs: Molecular Dynamics, Log Analyzer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901094750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36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lmp_log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Thermodynamic Data </a:t>
                      </a:r>
                      <a:r>
                        <a:rPr lang="en-US" sz="1100" u="none" strike="noStrike" dirty="0">
                          <a:effectLst/>
                        </a:rPr>
                        <a:t>Analyzer</a:t>
                      </a:r>
                      <a:endParaRPr lang="en-US" sz="11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807282332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37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lmp_traj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RDF, Density, Clash, XYZ, MSD and visualization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499233574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38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All-pair RDF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642526306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39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Neighbor RDF using Original Python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803456469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40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Neighbor RDF using Compiled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Numba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302089768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41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Neighbor RDF using Cached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Numba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803442369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42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Neighbor RDF using Uncompiled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Numba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69355779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43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recip_sp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Real Space 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Plane </a:t>
                      </a: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Norm = 2</a:t>
                      </a:r>
                      <a:r>
                        <a:rPr lang="el-GR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π</a:t>
                      </a: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 / Reciprocal Vector Summation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00934735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44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dirty="0">
                          <a:solidFill>
                            <a:schemeClr val="accent1"/>
                          </a:solidFill>
                        </a:rPr>
                        <a:t>dispersion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Primitive Cell, Symmetry, Force Constant, and K-Path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286421955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45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2"/>
                          </a:solidFill>
                          <a:effectLst/>
                          <a:latin typeface="Calibri" panose="020F0502020204030204" pitchFamily="34" charset="0"/>
                        </a:rPr>
                        <a:t>ab_lmp_traj</a:t>
                      </a:r>
                      <a:endParaRPr lang="en-US" sz="1100" b="0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Ar</a:t>
                      </a: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 Amorphous, Berendsen NPT, Density (2 replica)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166009791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46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2"/>
                          </a:solidFill>
                          <a:effectLst/>
                          <a:latin typeface="Calibri" panose="020F0502020204030204" pitchFamily="34" charset="0"/>
                        </a:rPr>
                        <a:t>mb_lmp_log</a:t>
                      </a:r>
                      <a:endParaRPr lang="en-US" sz="1100" b="0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The energy hypersurface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748127226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47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2"/>
                          </a:solidFill>
                          <a:effectLst/>
                          <a:latin typeface="Calibri" panose="020F0502020204030204" pitchFamily="34" charset="0"/>
                        </a:rPr>
                        <a:t>mb_lmp_log</a:t>
                      </a:r>
                      <a:endParaRPr lang="en-US" sz="1100" b="0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Geometry measurement  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221317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48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2"/>
                          </a:solidFill>
                          <a:effectLst/>
                          <a:latin typeface="Calibri" panose="020F0502020204030204" pitchFamily="34" charset="0"/>
                        </a:rPr>
                        <a:t>cb_lmp_log</a:t>
                      </a:r>
                      <a:endParaRPr lang="en-US" sz="1100" b="0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Energy vs Scale Factor 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608635636"/>
                  </a:ext>
                </a:extLst>
              </a:tr>
            </a:tbl>
          </a:graphicData>
        </a:graphic>
      </p:graphicFrame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3E26658-ADBD-2242-A148-21A827C98FE7}"/>
              </a:ext>
            </a:extLst>
          </p:cNvPr>
          <p:cNvSpPr txBox="1">
            <a:spLocks/>
          </p:cNvSpPr>
          <p:nvPr/>
        </p:nvSpPr>
        <p:spPr>
          <a:xfrm>
            <a:off x="6325972" y="82851"/>
            <a:ext cx="5544589" cy="31919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1200" dirty="0">
              <a:latin typeface="Calibri" panose="020F0502020204030204" pitchFamily="34" charset="0"/>
            </a:endParaRPr>
          </a:p>
          <a:p>
            <a:pPr marL="0" indent="0" algn="ctr">
              <a:buNone/>
            </a:pPr>
            <a:r>
              <a:rPr lang="en-US" sz="3900" dirty="0"/>
              <a:t>Decentralized Automation </a:t>
            </a:r>
          </a:p>
          <a:p>
            <a:pPr marL="0" indent="0" algn="just">
              <a:buNone/>
            </a:pPr>
            <a:r>
              <a:rPr lang="en-US" sz="1400" dirty="0">
                <a:latin typeface="Calibri" panose="020F0502020204030204" pitchFamily="34" charset="0"/>
              </a:rPr>
              <a:t>From different seeds, </a:t>
            </a:r>
            <a:r>
              <a:rPr lang="en-US" sz="1400" i="1" dirty="0" err="1">
                <a:latin typeface="Calibri" panose="020F0502020204030204" pitchFamily="34" charset="0"/>
              </a:rPr>
              <a:t>ab_lmp_traj_workflow.py</a:t>
            </a:r>
            <a:r>
              <a:rPr lang="en-US" sz="1400" i="1" dirty="0">
                <a:latin typeface="Calibri" panose="020F0502020204030204" pitchFamily="34" charset="0"/>
              </a:rPr>
              <a:t> </a:t>
            </a:r>
            <a:r>
              <a:rPr lang="en-US" sz="1400" dirty="0">
                <a:latin typeface="Calibri" panose="020F0502020204030204" pitchFamily="34" charset="0"/>
              </a:rPr>
              <a:t>builds amorphous structure, run simulation, and analyzes the trajectory.</a:t>
            </a:r>
          </a:p>
          <a:p>
            <a:pPr marL="0" indent="0" algn="just">
              <a:buNone/>
            </a:pPr>
            <a:endParaRPr lang="en-US" sz="1400" dirty="0">
              <a:latin typeface="Calibri" panose="020F0502020204030204" pitchFamily="34" charset="0"/>
            </a:endParaRPr>
          </a:p>
          <a:p>
            <a:pPr marL="0" indent="0" algn="just">
              <a:buNone/>
            </a:pPr>
            <a:r>
              <a:rPr lang="en-US" sz="1400" dirty="0">
                <a:latin typeface="Calibri" panose="020F0502020204030204" pitchFamily="34" charset="0"/>
              </a:rPr>
              <a:t>Using different geometries, </a:t>
            </a:r>
            <a:r>
              <a:rPr lang="en-US" sz="1400" i="1" dirty="0" err="1">
                <a:latin typeface="Calibri" panose="020F0502020204030204" pitchFamily="34" charset="0"/>
              </a:rPr>
              <a:t>mb_lmp_log</a:t>
            </a:r>
            <a:r>
              <a:rPr lang="en-US" sz="1400" i="1" dirty="0">
                <a:latin typeface="Calibri" panose="020F0502020204030204" pitchFamily="34" charset="0"/>
              </a:rPr>
              <a:t> _</a:t>
            </a:r>
            <a:r>
              <a:rPr lang="en-US" sz="1400" i="1" dirty="0" err="1">
                <a:latin typeface="Calibri" panose="020F0502020204030204" pitchFamily="34" charset="0"/>
              </a:rPr>
              <a:t>workflow.py</a:t>
            </a:r>
            <a:r>
              <a:rPr lang="en-US" sz="1400" i="1" dirty="0">
                <a:latin typeface="Calibri" panose="020F0502020204030204" pitchFamily="34" charset="0"/>
              </a:rPr>
              <a:t> </a:t>
            </a:r>
            <a:r>
              <a:rPr lang="en-US" sz="1400" dirty="0">
                <a:latin typeface="Calibri" panose="020F0502020204030204" pitchFamily="34" charset="0"/>
              </a:rPr>
              <a:t>builds molecules, calculates single point energy, and analyzes the log file.</a:t>
            </a:r>
          </a:p>
          <a:p>
            <a:pPr marL="0" indent="0" algn="just">
              <a:buNone/>
            </a:pPr>
            <a:endParaRPr lang="en-US" sz="1400" dirty="0">
              <a:latin typeface="Calibri" panose="020F0502020204030204" pitchFamily="34" charset="0"/>
            </a:endParaRPr>
          </a:p>
          <a:p>
            <a:pPr marL="0" indent="0" algn="just">
              <a:buNone/>
            </a:pPr>
            <a:r>
              <a:rPr lang="en-US" sz="1400" dirty="0">
                <a:latin typeface="Calibri" panose="020F0502020204030204" pitchFamily="34" charset="0"/>
              </a:rPr>
              <a:t>With lattice vectors scaled differently, </a:t>
            </a:r>
            <a:r>
              <a:rPr lang="en-US" sz="1400" dirty="0" err="1">
                <a:solidFill>
                  <a:srgbClr val="000000"/>
                </a:solidFill>
                <a:latin typeface="Calibri" panose="020F0502020204030204" pitchFamily="34" charset="0"/>
              </a:rPr>
              <a:t>cb_lmp_log_workflow.py</a:t>
            </a:r>
            <a:r>
              <a:rPr lang="en-US" sz="1400" dirty="0">
                <a:solidFill>
                  <a:srgbClr val="000000"/>
                </a:solidFill>
                <a:latin typeface="Calibri" panose="020F0502020204030204" pitchFamily="34" charset="0"/>
              </a:rPr>
              <a:t> builds crystal structure, run simulations, and </a:t>
            </a:r>
            <a:r>
              <a:rPr lang="en-US" sz="1400" dirty="0">
                <a:latin typeface="Calibri" panose="020F0502020204030204" pitchFamily="34" charset="0"/>
              </a:rPr>
              <a:t>analyzes the log file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1200" dirty="0">
              <a:latin typeface="Calibri" panose="020F0502020204030204" pitchFamily="34" charset="0"/>
            </a:endParaRPr>
          </a:p>
          <a:p>
            <a:pPr marL="0" indent="0">
              <a:buNone/>
            </a:pPr>
            <a:endParaRPr lang="en-US" sz="1200" dirty="0"/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9532001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174E11-7BE3-0048-94D8-35CDD799A5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Scientific Test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FE4A50E-A4D4-994E-BB48-CC433E82E80C}"/>
              </a:ext>
            </a:extLst>
          </p:cNvPr>
          <p:cNvSpPr/>
          <p:nvPr/>
        </p:nvSpPr>
        <p:spPr>
          <a:xfrm>
            <a:off x="922867" y="1506022"/>
            <a:ext cx="964353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0001: </a:t>
            </a:r>
            <a:r>
              <a:rPr lang="en-US" dirty="0" err="1"/>
              <a:t>buld</a:t>
            </a:r>
            <a:r>
              <a:rPr lang="en-US" dirty="0"/>
              <a:t> amorphous structure with via grid method 100 million  Argon molecules via grid method</a:t>
            </a:r>
          </a:p>
        </p:txBody>
      </p:sp>
    </p:spTree>
    <p:extLst>
      <p:ext uri="{BB962C8B-B14F-4D97-AF65-F5344CB8AC3E}">
        <p14:creationId xmlns:p14="http://schemas.microsoft.com/office/powerpoint/2010/main" val="338355353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174E11-7BE3-0048-94D8-35CDD799A5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 Test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6BFBF89-8989-C94F-A095-43490545E1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2277533"/>
            <a:ext cx="5715000" cy="3429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4FE4A50E-A4D4-994E-BB48-CC433E82E80C}"/>
              </a:ext>
            </a:extLst>
          </p:cNvPr>
          <p:cNvSpPr/>
          <p:nvPr/>
        </p:nvSpPr>
        <p:spPr>
          <a:xfrm>
            <a:off x="922867" y="1506022"/>
            <a:ext cx="964353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0001: </a:t>
            </a:r>
            <a:r>
              <a:rPr lang="en-US" dirty="0" err="1"/>
              <a:t>buld</a:t>
            </a:r>
            <a:r>
              <a:rPr lang="en-US" dirty="0"/>
              <a:t> amorphous structure with via grid method 100 million  Argon molecules via grid method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0AF2FC8-16B7-B849-97E5-38D3BF84EF6D}"/>
              </a:ext>
            </a:extLst>
          </p:cNvPr>
          <p:cNvSpPr/>
          <p:nvPr/>
        </p:nvSpPr>
        <p:spPr>
          <a:xfrm>
            <a:off x="1751651" y="5952067"/>
            <a:ext cx="3168431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/>
              <a:t>1.4 GHz Quad-Core Intel Core i5</a:t>
            </a:r>
          </a:p>
          <a:p>
            <a:pPr algn="ctr"/>
            <a:r>
              <a:rPr lang="en-US" dirty="0"/>
              <a:t>16 GB 2133 MHz LPDDR3</a:t>
            </a:r>
          </a:p>
        </p:txBody>
      </p:sp>
    </p:spTree>
    <p:extLst>
      <p:ext uri="{BB962C8B-B14F-4D97-AF65-F5344CB8AC3E}">
        <p14:creationId xmlns:p14="http://schemas.microsoft.com/office/powerpoint/2010/main" val="38305368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6F0F3-2CAE-174E-A141-B83E10C0D3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Thoughts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B896DA-3023-5D45-B407-2EEA49AF37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5984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Before reading more literatures on force field development: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sz="2400" dirty="0"/>
              <a:t>Structure Generation: supported structures</a:t>
            </a:r>
          </a:p>
          <a:p>
            <a:r>
              <a:rPr lang="en-US" sz="2400" dirty="0"/>
              <a:t>DFT Calculation: accuracy vs cost</a:t>
            </a:r>
          </a:p>
          <a:p>
            <a:r>
              <a:rPr lang="en-US" sz="2400" dirty="0"/>
              <a:t>Force Constant Fit: Energy + Formula </a:t>
            </a:r>
            <a:r>
              <a:rPr lang="en-US" sz="2400" dirty="0">
                <a:sym typeface="Wingdings" pitchFamily="2" charset="2"/>
              </a:rPr>
              <a:t></a:t>
            </a:r>
            <a:r>
              <a:rPr lang="en-US" sz="2400" dirty="0"/>
              <a:t> Parameters</a:t>
            </a:r>
          </a:p>
          <a:p>
            <a:r>
              <a:rPr lang="en-US" sz="2400" dirty="0" err="1"/>
              <a:t>Typer</a:t>
            </a:r>
            <a:r>
              <a:rPr lang="en-US" sz="2400" dirty="0"/>
              <a:t>: Type the atoms by matches, bonding, and neighbors</a:t>
            </a:r>
          </a:p>
          <a:p>
            <a:r>
              <a:rPr lang="en-US" sz="2400" dirty="0"/>
              <a:t>Assignment: assign parameters based on the types</a:t>
            </a:r>
          </a:p>
        </p:txBody>
      </p:sp>
    </p:spTree>
    <p:extLst>
      <p:ext uri="{BB962C8B-B14F-4D97-AF65-F5344CB8AC3E}">
        <p14:creationId xmlns:p14="http://schemas.microsoft.com/office/powerpoint/2010/main" val="33781814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8837</TotalTime>
  <Words>3165</Words>
  <Application>Microsoft Macintosh PowerPoint</Application>
  <PresentationFormat>Widescreen</PresentationFormat>
  <Paragraphs>517</Paragraphs>
  <Slides>15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Arial</vt:lpstr>
      <vt:lpstr>Calibri</vt:lpstr>
      <vt:lpstr>Calibri Light</vt:lpstr>
      <vt:lpstr>Wingdings</vt:lpstr>
      <vt:lpstr>Office Theme</vt:lpstr>
      <vt:lpstr>Molecular Simulation Toolkit</vt:lpstr>
      <vt:lpstr>BSD 3-Clause License</vt:lpstr>
      <vt:lpstr>Installation</vt:lpstr>
      <vt:lpstr>setup.py</vt:lpstr>
      <vt:lpstr>Structure</vt:lpstr>
      <vt:lpstr>Architecture</vt:lpstr>
      <vt:lpstr>Architecture</vt:lpstr>
      <vt:lpstr>Environmental Configuration</vt:lpstr>
      <vt:lpstr>Testing</vt:lpstr>
      <vt:lpstr>Integration Test</vt:lpstr>
      <vt:lpstr>PowerPoint Presentation</vt:lpstr>
      <vt:lpstr>PowerPoint Presentation</vt:lpstr>
      <vt:lpstr>Scientific Test</vt:lpstr>
      <vt:lpstr>Performance Test</vt:lpstr>
      <vt:lpstr>Thoughts</vt:lpstr>
    </vt:vector>
  </TitlesOfParts>
  <Company/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General Information of the NEMD Toolkit</dc:title>
  <dc:creator>Microsoft Office User</dc:creator>
  <cp:lastModifiedBy>Microsoft Office User</cp:lastModifiedBy>
  <cp:revision>271</cp:revision>
  <dcterms:created xsi:type="dcterms:W3CDTF">2024-07-22T15:38:28Z</dcterms:created>
  <dcterms:modified xsi:type="dcterms:W3CDTF">2025-01-24T15:05:00Z</dcterms:modified>
</cp:coreProperties>
</file>