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63" r:id="rId11"/>
    <p:sldId id="273" r:id="rId12"/>
    <p:sldId id="262" r:id="rId13"/>
    <p:sldId id="271" r:id="rId14"/>
    <p:sldId id="268" r:id="rId15"/>
    <p:sldId id="267" r:id="rId16"/>
    <p:sldId id="272" r:id="rId17"/>
    <p:sldId id="265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6139"/>
  </p:normalViewPr>
  <p:slideViewPr>
    <p:cSldViewPr snapToGrid="0" snapToObjects="1">
      <p:cViewPr varScale="1">
        <p:scale>
          <a:sx n="130" d="100"/>
          <a:sy n="130" d="100"/>
        </p:scale>
        <p:origin x="4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6/9/25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6/9/25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6/9/25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6/9/25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6/9/25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6/9/25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6/9/25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Login </a:t>
            </a:r>
            <a:r>
              <a:rPr lang="en-US" sz="1400" dirty="0" err="1">
                <a:solidFill>
                  <a:schemeClr val="accent2"/>
                </a:solidFill>
              </a:rPr>
              <a:t>Github</a:t>
            </a:r>
            <a:r>
              <a:rPr lang="en-US" sz="1400" dirty="0">
                <a:solidFill>
                  <a:schemeClr val="accent2"/>
                </a:solidFill>
              </a:rPr>
              <a:t> and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 </a:t>
            </a:r>
            <a:r>
              <a:rPr lang="en-US" sz="1400" dirty="0">
                <a:solidFill>
                  <a:schemeClr val="accent2"/>
                </a:solidFill>
              </a:rPr>
              <a:t>and ask for reboot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84091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Executions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798996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744577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196446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544632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1001049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649526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6101435" y="2211484"/>
            <a:ext cx="21109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type &amp; assign (</a:t>
            </a:r>
            <a:r>
              <a:rPr lang="en-US" sz="1400" dirty="0" err="1">
                <a:solidFill>
                  <a:srgbClr val="00B0F0"/>
                </a:solidFill>
              </a:rPr>
              <a:t>oplsua</a:t>
            </a:r>
            <a:r>
              <a:rPr lang="en-US" sz="1400" dirty="0">
                <a:solidFill>
                  <a:srgbClr val="00B0F0"/>
                </a:solidFill>
              </a:rPr>
              <a:t>, </a:t>
            </a:r>
            <a:r>
              <a:rPr lang="en-US" sz="1400" dirty="0" err="1">
                <a:solidFill>
                  <a:srgbClr val="00B0F0"/>
                </a:solidFill>
              </a:rPr>
              <a:t>sw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7191485" y="3746582"/>
            <a:ext cx="137011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lmpin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11005813" y="2272848"/>
            <a:ext cx="110860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molecule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6161977" y="293869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4919455" y="3333245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4954329" y="3742854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C948FC-462B-754D-9753-C9DD615D9B10}"/>
              </a:ext>
            </a:extLst>
          </p:cNvPr>
          <p:cNvSpPr txBox="1"/>
          <p:nvPr/>
        </p:nvSpPr>
        <p:spPr>
          <a:xfrm>
            <a:off x="7946546" y="3336492"/>
            <a:ext cx="1563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sw</a:t>
            </a:r>
            <a:r>
              <a:rPr lang="en-US" sz="1400" dirty="0"/>
              <a:t> data (</a:t>
            </a:r>
            <a:r>
              <a:rPr lang="en-US" sz="1400" dirty="0" err="1"/>
              <a:t>stillinger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169864" y="4183643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188434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29888" y="4659429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456996" y="3747543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746057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791170" y="3325769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968D6B-323C-314E-B6DF-80413BCDFF2F}"/>
              </a:ext>
            </a:extLst>
          </p:cNvPr>
          <p:cNvSpPr/>
          <p:nvPr/>
        </p:nvSpPr>
        <p:spPr>
          <a:xfrm>
            <a:off x="6198556" y="2576941"/>
            <a:ext cx="18277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force fields (forcefield)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070536" y="990672"/>
            <a:ext cx="1969479" cy="92496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634949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827427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60044" y="1469142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369491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527302" y="713925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62762" y="712439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352076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>
            <a:off x="2313276" y="1469142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171251" y="713925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697AD97-2476-1342-B225-591341AC3CBD}"/>
              </a:ext>
            </a:extLst>
          </p:cNvPr>
          <p:cNvCxnSpPr>
            <a:cxnSpLocks/>
          </p:cNvCxnSpPr>
          <p:nvPr/>
        </p:nvCxnSpPr>
        <p:spPr>
          <a:xfrm>
            <a:off x="6844124" y="2501701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703324" y="320906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729712" y="4191867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9508" y="4191752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960224" y="3337431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968524" y="3262874"/>
            <a:ext cx="0" cy="920769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1279928" y="3334974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>
            <a:off x="8182834" y="3113590"/>
            <a:ext cx="2865726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388921" y="3268525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605348" y="327070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388922" y="326927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6841361" y="320506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379276" y="364337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A627E8-B105-754C-B3B5-F71A0BC79912}"/>
              </a:ext>
            </a:extLst>
          </p:cNvPr>
          <p:cNvCxnSpPr>
            <a:cxnSpLocks/>
          </p:cNvCxnSpPr>
          <p:nvPr/>
        </p:nvCxnSpPr>
        <p:spPr>
          <a:xfrm>
            <a:off x="8685274" y="3701116"/>
            <a:ext cx="26685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67589FD-AD7D-794F-A692-026751B959B4}"/>
              </a:ext>
            </a:extLst>
          </p:cNvPr>
          <p:cNvCxnSpPr>
            <a:cxnSpLocks/>
          </p:cNvCxnSpPr>
          <p:nvPr/>
        </p:nvCxnSpPr>
        <p:spPr>
          <a:xfrm>
            <a:off x="8685274" y="363631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E3DE2A6-655F-CB4B-B973-CA4473783585}"/>
              </a:ext>
            </a:extLst>
          </p:cNvPr>
          <p:cNvCxnSpPr>
            <a:cxnSpLocks/>
          </p:cNvCxnSpPr>
          <p:nvPr/>
        </p:nvCxnSpPr>
        <p:spPr>
          <a:xfrm>
            <a:off x="10018828" y="363791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H="1">
            <a:off x="10018499" y="370496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379276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353800" y="3262874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667097" y="320461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00044" y="3111201"/>
            <a:ext cx="1205632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794176" y="2960748"/>
            <a:ext cx="1937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</a:t>
            </a:r>
            <a:r>
              <a:rPr lang="en-US" sz="1400" dirty="0" err="1"/>
              <a:t>pbc</a:t>
            </a:r>
            <a:r>
              <a:rPr lang="en-US" sz="1400" dirty="0"/>
              <a:t>)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1D6DE39-900F-A642-8879-3312DC9805EE}"/>
              </a:ext>
            </a:extLst>
          </p:cNvPr>
          <p:cNvCxnSpPr>
            <a:cxnSpLocks/>
          </p:cNvCxnSpPr>
          <p:nvPr/>
        </p:nvCxnSpPr>
        <p:spPr>
          <a:xfrm rot="5400000" flipH="1">
            <a:off x="7956101" y="343392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16C88BD-64D6-A846-B55B-00C80378E87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32430" y="343581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0B588961-8B60-BB4C-AC94-F82CAB6C540E}"/>
              </a:ext>
            </a:extLst>
          </p:cNvPr>
          <p:cNvCxnSpPr>
            <a:cxnSpLocks/>
          </p:cNvCxnSpPr>
          <p:nvPr/>
        </p:nvCxnSpPr>
        <p:spPr>
          <a:xfrm>
            <a:off x="7575233" y="4075054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467858" y="3343065"/>
            <a:ext cx="14975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datafile</a:t>
            </a:r>
            <a:r>
              <a:rPr lang="en-US" sz="1400" dirty="0"/>
              <a:t> (</a:t>
            </a:r>
            <a:r>
              <a:rPr lang="en-US" sz="1400" dirty="0" err="1"/>
              <a:t>lmpdata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18581" y="3302702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64641" y="3901861"/>
            <a:ext cx="168999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28F3566E-4891-CD40-A5DF-2B4AAF4101E4}"/>
              </a:ext>
            </a:extLst>
          </p:cNvPr>
          <p:cNvCxnSpPr>
            <a:cxnSpLocks/>
          </p:cNvCxnSpPr>
          <p:nvPr/>
        </p:nvCxnSpPr>
        <p:spPr>
          <a:xfrm flipV="1">
            <a:off x="5529469" y="3742854"/>
            <a:ext cx="2994576" cy="3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B5EE8B01-B3B5-D047-8C7E-BD87FA6084E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529469" y="362875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4A83404-54BB-5945-A56E-C7164E27DC79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28478" y="362888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E017328-8507-6344-918D-CB3EA1E05C72}"/>
              </a:ext>
            </a:extLst>
          </p:cNvPr>
          <p:cNvCxnSpPr>
            <a:cxnSpLocks/>
          </p:cNvCxnSpPr>
          <p:nvPr/>
        </p:nvCxnSpPr>
        <p:spPr>
          <a:xfrm>
            <a:off x="7575233" y="373986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749419" y="343353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701244" y="361063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407904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401514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401674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4087382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>
            <a:off x="5362825" y="4597056"/>
            <a:ext cx="65988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62826" y="449262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961689" y="453279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6846772" y="287523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556931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49303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49463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56527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495145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543105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75198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174533" y="990672"/>
            <a:ext cx="2121299" cy="924967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22266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167366" y="1936539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131618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647820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3" y="2211483"/>
            <a:ext cx="2349696" cy="899717"/>
          </a:xfrm>
          <a:prstGeom prst="roundRect">
            <a:avLst>
              <a:gd name="adj" fmla="val 18575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9401153" y="333671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F612E1D-12F9-5344-8796-24225E09D6EA}"/>
              </a:ext>
            </a:extLst>
          </p:cNvPr>
          <p:cNvCxnSpPr>
            <a:cxnSpLocks/>
          </p:cNvCxnSpPr>
          <p:nvPr/>
        </p:nvCxnSpPr>
        <p:spPr>
          <a:xfrm>
            <a:off x="11353800" y="362955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126189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81112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6A8EA30-F965-B30B-AF61-C30FFF446AD8}"/>
              </a:ext>
            </a:extLst>
          </p:cNvPr>
          <p:cNvSpPr/>
          <p:nvPr/>
        </p:nvSpPr>
        <p:spPr>
          <a:xfrm>
            <a:off x="2522886" y="991604"/>
            <a:ext cx="7318721" cy="92572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commands (</a:t>
            </a:r>
            <a:r>
              <a:rPr lang="en-US" sz="1400" dirty="0" err="1">
                <a:solidFill>
                  <a:schemeClr val="tx1"/>
                </a:solidFill>
              </a:rPr>
              <a:t>lmpfix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r>
              <a:rPr lang="en-US" sz="1400" dirty="0">
                <a:solidFill>
                  <a:schemeClr val="tx1"/>
                </a:solidFill>
              </a:rPr>
              <a:t>hardcoded (symbols)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  <a:p>
            <a:r>
              <a:rPr lang="en-US" sz="1400" dirty="0">
                <a:solidFill>
                  <a:schemeClr val="tx1"/>
                </a:solidFill>
              </a:rPr>
              <a:t>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35E9EB-CECE-0C13-FEBA-5B9120FA4B47}"/>
              </a:ext>
            </a:extLst>
          </p:cNvPr>
          <p:cNvSpPr/>
          <p:nvPr/>
        </p:nvSpPr>
        <p:spPr>
          <a:xfrm>
            <a:off x="4995681" y="4659276"/>
            <a:ext cx="11673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check (check)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228E6F-5DA8-39DA-7A39-4FE60A50F28E}"/>
              </a:ext>
            </a:extLst>
          </p:cNvPr>
          <p:cNvCxnSpPr>
            <a:cxnSpLocks/>
          </p:cNvCxnSpPr>
          <p:nvPr/>
        </p:nvCxnSpPr>
        <p:spPr>
          <a:xfrm rot="5400000" flipH="1">
            <a:off x="4965771" y="476286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2211484"/>
            <a:ext cx="11860396" cy="2771799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1743795"/>
              </p:ext>
            </p:extLst>
          </p:nvPr>
        </p:nvGraphicFramePr>
        <p:xfrm>
          <a:off x="714893" y="1591570"/>
          <a:ext cx="10753965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nemd_test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7BE624-C351-E947-A83D-174C1415950F}"/>
              </a:ext>
            </a:extLst>
          </p:cNvPr>
          <p:cNvSpPr/>
          <p:nvPr/>
        </p:nvSpPr>
        <p:spPr>
          <a:xfrm>
            <a:off x="2881745" y="569325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before running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743047"/>
              </p:ext>
            </p:extLst>
          </p:nvPr>
        </p:nvGraphicFramePr>
        <p:xfrm>
          <a:off x="6845438" y="431766"/>
          <a:ext cx="484173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12662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029074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syntax </a:t>
                      </a: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to check the results against expectations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execution 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68348"/>
              </p:ext>
            </p:extLst>
          </p:nvPr>
        </p:nvGraphicFramePr>
        <p:xfrm>
          <a:off x="6845438" y="2078219"/>
          <a:ext cx="484173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126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00473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in check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shell syntax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in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 in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collect_log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512327"/>
              </p:ext>
            </p:extLst>
          </p:nvPr>
        </p:nvGraphicFramePr>
        <p:xfrm>
          <a:off x="6845440" y="4334400"/>
          <a:ext cx="4841734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54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7861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of driver or workflow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682915" y="1281054"/>
            <a:ext cx="5847585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 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Performance: [</a:t>
            </a:r>
            <a:r>
              <a:rPr lang="en-US" sz="1400" i="1" dirty="0" err="1"/>
              <a:t>Ar</a:t>
            </a:r>
            <a:r>
              <a:rPr lang="en-US" sz="1400" i="1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 err="1"/>
              <a:t>collect_log</a:t>
            </a:r>
            <a:r>
              <a:rPr lang="en-US" sz="1400" i="1" dirty="0"/>
              <a:t>(</a:t>
            </a:r>
            <a:r>
              <a:rPr lang="en-US" sz="1400" i="1" dirty="0" err="1"/>
              <a:t>time,memory</a:t>
            </a:r>
            <a:r>
              <a:rPr lang="en-US" sz="1400" i="1" dirty="0"/>
              <a:t>) &amp;&amp; exist(0049.csv, 0049_time_memory.png)</a:t>
            </a:r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label(</a:t>
            </a:r>
            <a:r>
              <a:rPr lang="en-US" sz="1400" i="1" dirty="0" err="1"/>
              <a:t>amorp_bldr,wa</a:t>
            </a:r>
            <a:r>
              <a:rPr lang="en-US" sz="1400" i="1" dirty="0"/>
              <a:t>)</a:t>
            </a:r>
          </a:p>
          <a:p>
            <a:r>
              <a:rPr lang="en-US" sz="1400" i="1" dirty="0"/>
              <a:t>slow(100, 00:00:01)</a:t>
            </a:r>
          </a:p>
          <a:p>
            <a:r>
              <a:rPr lang="en-US" sz="1400" i="1" dirty="0"/>
              <a:t>slow(50000, 00:00:04)</a:t>
            </a:r>
          </a:p>
          <a:p>
            <a:endParaRPr lang="en-US" sz="1400" i="1" dirty="0"/>
          </a:p>
          <a:p>
            <a:r>
              <a:rPr lang="en-US" sz="1400" i="1" dirty="0"/>
              <a:t>==&gt; param &lt;==</a:t>
            </a:r>
          </a:p>
          <a:p>
            <a:r>
              <a:rPr lang="en-US" sz="1400" i="1" dirty="0"/>
              <a:t># Number of Molecules</a:t>
            </a:r>
          </a:p>
          <a:p>
            <a:r>
              <a:rPr lang="en-US" sz="1400" i="1" dirty="0"/>
              <a:t>100</a:t>
            </a:r>
          </a:p>
          <a:p>
            <a:r>
              <a:rPr lang="en-US" sz="1400" i="1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985189"/>
              </p:ext>
            </p:extLst>
          </p:nvPr>
        </p:nvGraphicFramePr>
        <p:xfrm>
          <a:off x="6845439" y="5469752"/>
          <a:ext cx="484173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6701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7471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file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symbol is the label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890042"/>
              </p:ext>
            </p:extLst>
          </p:nvPr>
        </p:nvGraphicFramePr>
        <p:xfrm>
          <a:off x="956732" y="1236133"/>
          <a:ext cx="10397067" cy="51202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238243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6158824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3725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reproducible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efficient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meaningful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991860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according to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runs tasks and register files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one-task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on: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off: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664030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CCCC (120)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 (1)| 10 (1)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] CCCC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Failed Initialization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CCC(=O)CC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CC(C)CC(=O)C(C)(C)C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O CCCO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[Li+].[F-]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[Na+].[Cl-]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[Br-].[Mg+2].[Br-]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[K+].[Br-]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[He] [Ne] [</a:t>
                      </a:r>
                      <a:r>
                        <a:rPr lang="en-US" sz="1000" u="none" strike="noStrike" dirty="0" err="1">
                          <a:effectLst/>
                        </a:rPr>
                        <a:t>Ar</a:t>
                      </a:r>
                      <a:r>
                        <a:rPr lang="en-US" sz="1000" u="none" strike="noStrike" dirty="0">
                          <a:effectLst/>
                        </a:rPr>
                        <a:t>] [Kr] [Xe]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[Ca+2] [Sr+2] [Ba+2] 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404363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A42516C-AEDC-294C-7357-100D6252F9BC}"/>
              </a:ext>
            </a:extLst>
          </p:cNvPr>
          <p:cNvSpPr/>
          <p:nvPr/>
        </p:nvSpPr>
        <p:spPr>
          <a:xfrm>
            <a:off x="391887" y="924847"/>
            <a:ext cx="8044542" cy="92572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     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hardcoded const (symbols)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</p:txBody>
      </p:sp>
    </p:spTree>
    <p:extLst>
      <p:ext uri="{BB962C8B-B14F-4D97-AF65-F5344CB8AC3E}">
        <p14:creationId xmlns:p14="http://schemas.microsoft.com/office/powerpoint/2010/main" val="2314276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9985</TotalTime>
  <Words>3731</Words>
  <Application>Microsoft Macintosh PowerPoint</Application>
  <PresentationFormat>Widescreen</PresentationFormat>
  <Paragraphs>661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Integration Test</vt:lpstr>
      <vt:lpstr>test_workflow.py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326</cp:revision>
  <dcterms:created xsi:type="dcterms:W3CDTF">2024-07-22T15:38:28Z</dcterms:created>
  <dcterms:modified xsi:type="dcterms:W3CDTF">2025-06-09T16:13:29Z</dcterms:modified>
</cp:coreProperties>
</file>