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9" r:id="rId4"/>
    <p:sldId id="266" r:id="rId5"/>
    <p:sldId id="258" r:id="rId6"/>
    <p:sldId id="264" r:id="rId7"/>
    <p:sldId id="270" r:id="rId8"/>
    <p:sldId id="269" r:id="rId9"/>
    <p:sldId id="261" r:id="rId10"/>
    <p:sldId id="275" r:id="rId11"/>
    <p:sldId id="263" r:id="rId12"/>
    <p:sldId id="273" r:id="rId13"/>
    <p:sldId id="262" r:id="rId14"/>
    <p:sldId id="271" r:id="rId15"/>
    <p:sldId id="268" r:id="rId16"/>
    <p:sldId id="267" r:id="rId17"/>
    <p:sldId id="272" r:id="rId18"/>
    <p:sldId id="26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88"/>
    <p:restoredTop sz="95690"/>
  </p:normalViewPr>
  <p:slideViewPr>
    <p:cSldViewPr snapToGrid="0" snapToObjects="1">
      <p:cViewPr varScale="1">
        <p:scale>
          <a:sx n="198" d="100"/>
          <a:sy n="198" d="100"/>
        </p:scale>
        <p:origin x="2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B797DE-B755-7C43-92B3-1C539C1D8D92}" type="doc">
      <dgm:prSet loTypeId="urn:microsoft.com/office/officeart/2005/8/layout/cycle7" loCatId="" qsTypeId="urn:microsoft.com/office/officeart/2005/8/quickstyle/simple3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AD6F4435-FC1F-C54F-96B8-CB501F0D4AEA}">
      <dgm:prSet phldrT="[Text]">
        <dgm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>
              <a:solidFill>
                <a:schemeClr val="accent6"/>
              </a:solidFill>
              <a:effectLst/>
            </a:rPr>
            <a:t>Integration</a:t>
          </a:r>
          <a:endParaRPr lang="en-US" dirty="0"/>
        </a:p>
      </dgm:t>
    </dgm:pt>
    <dgm:pt modelId="{A14A3990-18FA-5340-8266-5E4D65BF55A9}" type="parTrans" cxnId="{5BEBEF84-E776-7349-8A6C-4724F91CB4F5}">
      <dgm:prSet/>
      <dgm:spPr/>
      <dgm:t>
        <a:bodyPr/>
        <a:lstStyle/>
        <a:p>
          <a:endParaRPr lang="en-US"/>
        </a:p>
      </dgm:t>
    </dgm:pt>
    <dgm:pt modelId="{6AB1D38D-58E1-F947-9F2A-DCF29BABA13A}" type="sibTrans" cxnId="{5BEBEF84-E776-7349-8A6C-4724F91CB4F5}">
      <dgm:prSet/>
      <dgm:spPr/>
      <dgm:t>
        <a:bodyPr/>
        <a:lstStyle/>
        <a:p>
          <a:endParaRPr lang="en-US"/>
        </a:p>
      </dgm:t>
    </dgm:pt>
    <dgm:pt modelId="{8F0B2263-A744-214C-8D37-B40F9D988D0B}">
      <dgm:prSet phldrT="[Text]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>
              <a:solidFill>
                <a:schemeClr val="accent1"/>
              </a:solidFill>
            </a:rPr>
            <a:t>Performance</a:t>
          </a:r>
        </a:p>
      </dgm:t>
    </dgm:pt>
    <dgm:pt modelId="{F3BC5860-2BEB-A843-B323-70DE68653ABF}" type="parTrans" cxnId="{048D6CA4-8BEC-8546-91FA-E5B0B6E89546}">
      <dgm:prSet/>
      <dgm:spPr/>
      <dgm:t>
        <a:bodyPr/>
        <a:lstStyle/>
        <a:p>
          <a:endParaRPr lang="en-US"/>
        </a:p>
      </dgm:t>
    </dgm:pt>
    <dgm:pt modelId="{296F964E-CDA0-044A-B00E-C9CF3F11E2B9}" type="sibTrans" cxnId="{048D6CA4-8BEC-8546-91FA-E5B0B6E89546}">
      <dgm:prSet/>
      <dgm:spPr/>
      <dgm:t>
        <a:bodyPr/>
        <a:lstStyle/>
        <a:p>
          <a:endParaRPr lang="en-US"/>
        </a:p>
      </dgm:t>
    </dgm:pt>
    <dgm:pt modelId="{DFBC8459-7D84-C644-AB23-B95A73728839}">
      <dgm:prSet phldrT="[Text]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</a:p>
      </dgm:t>
    </dgm:pt>
    <dgm:pt modelId="{BB478CC1-AA79-C74A-A4BF-60E9BEB7E735}" type="parTrans" cxnId="{95D58CD8-2FDE-614D-AB83-ABAC0FCDF24B}">
      <dgm:prSet/>
      <dgm:spPr/>
      <dgm:t>
        <a:bodyPr/>
        <a:lstStyle/>
        <a:p>
          <a:endParaRPr lang="en-US"/>
        </a:p>
      </dgm:t>
    </dgm:pt>
    <dgm:pt modelId="{F487EBAA-60F2-1144-94CA-3BA53771BB05}" type="sibTrans" cxnId="{95D58CD8-2FDE-614D-AB83-ABAC0FCDF24B}">
      <dgm:prSet/>
      <dgm:spPr/>
      <dgm:t>
        <a:bodyPr/>
        <a:lstStyle/>
        <a:p>
          <a:endParaRPr lang="en-US"/>
        </a:p>
      </dgm:t>
    </dgm:pt>
    <dgm:pt modelId="{B2BFA72D-9850-0B46-B92C-E0C2011EE45C}" type="pres">
      <dgm:prSet presAssocID="{80B797DE-B755-7C43-92B3-1C539C1D8D92}" presName="Name0" presStyleCnt="0">
        <dgm:presLayoutVars>
          <dgm:dir/>
          <dgm:resizeHandles val="exact"/>
        </dgm:presLayoutVars>
      </dgm:prSet>
      <dgm:spPr/>
    </dgm:pt>
    <dgm:pt modelId="{5D91C630-3A03-9A4D-92A7-A63559EA8DC0}" type="pres">
      <dgm:prSet presAssocID="{AD6F4435-FC1F-C54F-96B8-CB501F0D4AEA}" presName="node" presStyleLbl="node1" presStyleIdx="0" presStyleCnt="3">
        <dgm:presLayoutVars>
          <dgm:bulletEnabled val="1"/>
        </dgm:presLayoutVars>
      </dgm:prSet>
      <dgm:spPr/>
    </dgm:pt>
    <dgm:pt modelId="{4241FF00-BD33-6F4D-9245-04848D8009D0}" type="pres">
      <dgm:prSet presAssocID="{6AB1D38D-58E1-F947-9F2A-DCF29BABA13A}" presName="sibTrans" presStyleLbl="sibTrans2D1" presStyleIdx="0" presStyleCnt="3"/>
      <dgm:spPr/>
    </dgm:pt>
    <dgm:pt modelId="{2B37395C-7716-964C-8CE6-58290DDC1DDE}" type="pres">
      <dgm:prSet presAssocID="{6AB1D38D-58E1-F947-9F2A-DCF29BABA13A}" presName="connectorText" presStyleLbl="sibTrans2D1" presStyleIdx="0" presStyleCnt="3"/>
      <dgm:spPr/>
    </dgm:pt>
    <dgm:pt modelId="{06AB1FA4-15EB-1B4E-AF9D-E691626A6CD3}" type="pres">
      <dgm:prSet presAssocID="{8F0B2263-A744-214C-8D37-B40F9D988D0B}" presName="node" presStyleLbl="node1" presStyleIdx="1" presStyleCnt="3">
        <dgm:presLayoutVars>
          <dgm:bulletEnabled val="1"/>
        </dgm:presLayoutVars>
      </dgm:prSet>
      <dgm:spPr/>
    </dgm:pt>
    <dgm:pt modelId="{174ABFCD-3EE4-2E4E-A36A-F93100215715}" type="pres">
      <dgm:prSet presAssocID="{296F964E-CDA0-044A-B00E-C9CF3F11E2B9}" presName="sibTrans" presStyleLbl="sibTrans2D1" presStyleIdx="1" presStyleCnt="3"/>
      <dgm:spPr/>
    </dgm:pt>
    <dgm:pt modelId="{3AC2A499-7104-5B4D-885F-25112C55B681}" type="pres">
      <dgm:prSet presAssocID="{296F964E-CDA0-044A-B00E-C9CF3F11E2B9}" presName="connectorText" presStyleLbl="sibTrans2D1" presStyleIdx="1" presStyleCnt="3"/>
      <dgm:spPr/>
    </dgm:pt>
    <dgm:pt modelId="{8113D230-3331-3247-B32B-AB5DD383B133}" type="pres">
      <dgm:prSet presAssocID="{DFBC8459-7D84-C644-AB23-B95A73728839}" presName="node" presStyleLbl="node1" presStyleIdx="2" presStyleCnt="3">
        <dgm:presLayoutVars>
          <dgm:bulletEnabled val="1"/>
        </dgm:presLayoutVars>
      </dgm:prSet>
      <dgm:spPr/>
    </dgm:pt>
    <dgm:pt modelId="{2C59713A-67B1-654F-8562-9167BDEFF8AB}" type="pres">
      <dgm:prSet presAssocID="{F487EBAA-60F2-1144-94CA-3BA53771BB05}" presName="sibTrans" presStyleLbl="sibTrans2D1" presStyleIdx="2" presStyleCnt="3"/>
      <dgm:spPr/>
    </dgm:pt>
    <dgm:pt modelId="{26147F30-F3B3-E34B-9559-A373D0F538AE}" type="pres">
      <dgm:prSet presAssocID="{F487EBAA-60F2-1144-94CA-3BA53771BB05}" presName="connectorText" presStyleLbl="sibTrans2D1" presStyleIdx="2" presStyleCnt="3"/>
      <dgm:spPr/>
    </dgm:pt>
  </dgm:ptLst>
  <dgm:cxnLst>
    <dgm:cxn modelId="{635CE409-64B5-9A41-824A-3547A419E85F}" type="presOf" srcId="{DFBC8459-7D84-C644-AB23-B95A73728839}" destId="{8113D230-3331-3247-B32B-AB5DD383B133}" srcOrd="0" destOrd="0" presId="urn:microsoft.com/office/officeart/2005/8/layout/cycle7"/>
    <dgm:cxn modelId="{67ACAB12-7397-6E46-AD0A-6F67144C5EEF}" type="presOf" srcId="{6AB1D38D-58E1-F947-9F2A-DCF29BABA13A}" destId="{2B37395C-7716-964C-8CE6-58290DDC1DDE}" srcOrd="1" destOrd="0" presId="urn:microsoft.com/office/officeart/2005/8/layout/cycle7"/>
    <dgm:cxn modelId="{171C0E16-D89F-D04F-AFBE-8464B25FCD66}" type="presOf" srcId="{296F964E-CDA0-044A-B00E-C9CF3F11E2B9}" destId="{174ABFCD-3EE4-2E4E-A36A-F93100215715}" srcOrd="0" destOrd="0" presId="urn:microsoft.com/office/officeart/2005/8/layout/cycle7"/>
    <dgm:cxn modelId="{9A9BD41B-95C9-6941-8578-43ECF87E6014}" type="presOf" srcId="{80B797DE-B755-7C43-92B3-1C539C1D8D92}" destId="{B2BFA72D-9850-0B46-B92C-E0C2011EE45C}" srcOrd="0" destOrd="0" presId="urn:microsoft.com/office/officeart/2005/8/layout/cycle7"/>
    <dgm:cxn modelId="{BCF6082E-22CF-5949-8EF9-8A883F2A2122}" type="presOf" srcId="{6AB1D38D-58E1-F947-9F2A-DCF29BABA13A}" destId="{4241FF00-BD33-6F4D-9245-04848D8009D0}" srcOrd="0" destOrd="0" presId="urn:microsoft.com/office/officeart/2005/8/layout/cycle7"/>
    <dgm:cxn modelId="{5DFFAE3D-434A-0D4A-A189-D478856ECEC9}" type="presOf" srcId="{AD6F4435-FC1F-C54F-96B8-CB501F0D4AEA}" destId="{5D91C630-3A03-9A4D-92A7-A63559EA8DC0}" srcOrd="0" destOrd="0" presId="urn:microsoft.com/office/officeart/2005/8/layout/cycle7"/>
    <dgm:cxn modelId="{208D8A54-4214-F44C-A217-FC36C25AEF7A}" type="presOf" srcId="{8F0B2263-A744-214C-8D37-B40F9D988D0B}" destId="{06AB1FA4-15EB-1B4E-AF9D-E691626A6CD3}" srcOrd="0" destOrd="0" presId="urn:microsoft.com/office/officeart/2005/8/layout/cycle7"/>
    <dgm:cxn modelId="{5BEBEF84-E776-7349-8A6C-4724F91CB4F5}" srcId="{80B797DE-B755-7C43-92B3-1C539C1D8D92}" destId="{AD6F4435-FC1F-C54F-96B8-CB501F0D4AEA}" srcOrd="0" destOrd="0" parTransId="{A14A3990-18FA-5340-8266-5E4D65BF55A9}" sibTransId="{6AB1D38D-58E1-F947-9F2A-DCF29BABA13A}"/>
    <dgm:cxn modelId="{EFA7C08E-5202-5848-BC80-75787CF06D7D}" type="presOf" srcId="{F487EBAA-60F2-1144-94CA-3BA53771BB05}" destId="{2C59713A-67B1-654F-8562-9167BDEFF8AB}" srcOrd="0" destOrd="0" presId="urn:microsoft.com/office/officeart/2005/8/layout/cycle7"/>
    <dgm:cxn modelId="{048D6CA4-8BEC-8546-91FA-E5B0B6E89546}" srcId="{80B797DE-B755-7C43-92B3-1C539C1D8D92}" destId="{8F0B2263-A744-214C-8D37-B40F9D988D0B}" srcOrd="1" destOrd="0" parTransId="{F3BC5860-2BEB-A843-B323-70DE68653ABF}" sibTransId="{296F964E-CDA0-044A-B00E-C9CF3F11E2B9}"/>
    <dgm:cxn modelId="{2D9797C7-8F9F-9444-88F4-5935A5D65C02}" type="presOf" srcId="{296F964E-CDA0-044A-B00E-C9CF3F11E2B9}" destId="{3AC2A499-7104-5B4D-885F-25112C55B681}" srcOrd="1" destOrd="0" presId="urn:microsoft.com/office/officeart/2005/8/layout/cycle7"/>
    <dgm:cxn modelId="{95D58CD8-2FDE-614D-AB83-ABAC0FCDF24B}" srcId="{80B797DE-B755-7C43-92B3-1C539C1D8D92}" destId="{DFBC8459-7D84-C644-AB23-B95A73728839}" srcOrd="2" destOrd="0" parTransId="{BB478CC1-AA79-C74A-A4BF-60E9BEB7E735}" sibTransId="{F487EBAA-60F2-1144-94CA-3BA53771BB05}"/>
    <dgm:cxn modelId="{6B90BEDD-890C-A94C-A5CD-36CDB66940C6}" type="presOf" srcId="{F487EBAA-60F2-1144-94CA-3BA53771BB05}" destId="{26147F30-F3B3-E34B-9559-A373D0F538AE}" srcOrd="1" destOrd="0" presId="urn:microsoft.com/office/officeart/2005/8/layout/cycle7"/>
    <dgm:cxn modelId="{337DD788-E56D-F74A-9408-58A5203C47B6}" type="presParOf" srcId="{B2BFA72D-9850-0B46-B92C-E0C2011EE45C}" destId="{5D91C630-3A03-9A4D-92A7-A63559EA8DC0}" srcOrd="0" destOrd="0" presId="urn:microsoft.com/office/officeart/2005/8/layout/cycle7"/>
    <dgm:cxn modelId="{4E62766D-3526-B34D-82B5-40FC1B9AB030}" type="presParOf" srcId="{B2BFA72D-9850-0B46-B92C-E0C2011EE45C}" destId="{4241FF00-BD33-6F4D-9245-04848D8009D0}" srcOrd="1" destOrd="0" presId="urn:microsoft.com/office/officeart/2005/8/layout/cycle7"/>
    <dgm:cxn modelId="{891E2B81-1796-F340-A150-70BE24DFE44A}" type="presParOf" srcId="{4241FF00-BD33-6F4D-9245-04848D8009D0}" destId="{2B37395C-7716-964C-8CE6-58290DDC1DDE}" srcOrd="0" destOrd="0" presId="urn:microsoft.com/office/officeart/2005/8/layout/cycle7"/>
    <dgm:cxn modelId="{B72B36B1-E06A-0C4D-94B5-A4B25E07F9FA}" type="presParOf" srcId="{B2BFA72D-9850-0B46-B92C-E0C2011EE45C}" destId="{06AB1FA4-15EB-1B4E-AF9D-E691626A6CD3}" srcOrd="2" destOrd="0" presId="urn:microsoft.com/office/officeart/2005/8/layout/cycle7"/>
    <dgm:cxn modelId="{85565C7B-118D-9049-8B42-4D65B2ACCE72}" type="presParOf" srcId="{B2BFA72D-9850-0B46-B92C-E0C2011EE45C}" destId="{174ABFCD-3EE4-2E4E-A36A-F93100215715}" srcOrd="3" destOrd="0" presId="urn:microsoft.com/office/officeart/2005/8/layout/cycle7"/>
    <dgm:cxn modelId="{7EFCC53B-A281-F84B-9AFF-23F9E5C1249A}" type="presParOf" srcId="{174ABFCD-3EE4-2E4E-A36A-F93100215715}" destId="{3AC2A499-7104-5B4D-885F-25112C55B681}" srcOrd="0" destOrd="0" presId="urn:microsoft.com/office/officeart/2005/8/layout/cycle7"/>
    <dgm:cxn modelId="{D742C95C-BB2F-1B46-9D9B-9D2ADB430330}" type="presParOf" srcId="{B2BFA72D-9850-0B46-B92C-E0C2011EE45C}" destId="{8113D230-3331-3247-B32B-AB5DD383B133}" srcOrd="4" destOrd="0" presId="urn:microsoft.com/office/officeart/2005/8/layout/cycle7"/>
    <dgm:cxn modelId="{AD5748C8-6F9F-644C-A595-6011A353215D}" type="presParOf" srcId="{B2BFA72D-9850-0B46-B92C-E0C2011EE45C}" destId="{2C59713A-67B1-654F-8562-9167BDEFF8AB}" srcOrd="5" destOrd="0" presId="urn:microsoft.com/office/officeart/2005/8/layout/cycle7"/>
    <dgm:cxn modelId="{F5EF857B-23A6-A448-900C-21909580418C}" type="presParOf" srcId="{2C59713A-67B1-654F-8562-9167BDEFF8AB}" destId="{26147F30-F3B3-E34B-9559-A373D0F538AE}" srcOrd="0" destOrd="0" presId="urn:microsoft.com/office/officeart/2005/8/layout/cycle7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91C630-3A03-9A4D-92A7-A63559EA8DC0}">
      <dsp:nvSpPr>
        <dsp:cNvPr id="0" name=""/>
        <dsp:cNvSpPr/>
      </dsp:nvSpPr>
      <dsp:spPr>
        <a:xfrm>
          <a:off x="759783" y="22947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6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6"/>
              </a:solidFill>
              <a:effectLst/>
            </a:rPr>
            <a:t>Integration</a:t>
          </a:r>
          <a:endParaRPr lang="en-US" sz="1200" kern="1200" dirty="0"/>
        </a:p>
      </dsp:txBody>
      <dsp:txXfrm>
        <a:off x="773247" y="36411"/>
        <a:ext cx="892433" cy="432752"/>
      </dsp:txXfrm>
    </dsp:sp>
    <dsp:sp modelId="{4241FF00-BD33-6F4D-9245-04848D8009D0}">
      <dsp:nvSpPr>
        <dsp:cNvPr id="0" name=""/>
        <dsp:cNvSpPr/>
      </dsp:nvSpPr>
      <dsp:spPr>
        <a:xfrm rot="3600000">
          <a:off x="1359455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1407721" y="861986"/>
        <a:ext cx="382660" cy="96532"/>
      </dsp:txXfrm>
    </dsp:sp>
    <dsp:sp modelId="{06AB1FA4-15EB-1B4E-AF9D-E691626A6CD3}">
      <dsp:nvSpPr>
        <dsp:cNvPr id="0" name=""/>
        <dsp:cNvSpPr/>
      </dsp:nvSpPr>
      <dsp:spPr>
        <a:xfrm>
          <a:off x="1518959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5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1"/>
              </a:solidFill>
            </a:rPr>
            <a:t>Performance</a:t>
          </a:r>
        </a:p>
      </dsp:txBody>
      <dsp:txXfrm>
        <a:off x="1532423" y="1351342"/>
        <a:ext cx="892433" cy="432752"/>
      </dsp:txXfrm>
    </dsp:sp>
    <dsp:sp modelId="{174ABFCD-3EE4-2E4E-A36A-F93100215715}">
      <dsp:nvSpPr>
        <dsp:cNvPr id="0" name=""/>
        <dsp:cNvSpPr/>
      </dsp:nvSpPr>
      <dsp:spPr>
        <a:xfrm rot="10800000">
          <a:off x="979867" y="1487274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10800000">
        <a:off x="1028133" y="1519452"/>
        <a:ext cx="382660" cy="96532"/>
      </dsp:txXfrm>
    </dsp:sp>
    <dsp:sp modelId="{8113D230-3331-3247-B32B-AB5DD383B133}">
      <dsp:nvSpPr>
        <dsp:cNvPr id="0" name=""/>
        <dsp:cNvSpPr/>
      </dsp:nvSpPr>
      <dsp:spPr>
        <a:xfrm>
          <a:off x="607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</a:p>
      </dsp:txBody>
      <dsp:txXfrm>
        <a:off x="14071" y="1351342"/>
        <a:ext cx="892433" cy="432752"/>
      </dsp:txXfrm>
    </dsp:sp>
    <dsp:sp modelId="{2C59713A-67B1-654F-8562-9167BDEFF8AB}">
      <dsp:nvSpPr>
        <dsp:cNvPr id="0" name=""/>
        <dsp:cNvSpPr/>
      </dsp:nvSpPr>
      <dsp:spPr>
        <a:xfrm rot="18000000">
          <a:off x="600280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648546" y="861986"/>
        <a:ext cx="382660" cy="96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7">
  <dgm:title val=""/>
  <dgm:desc val=""/>
  <dgm:catLst>
    <dgm:cat type="cycle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</dgm:alg>
      </dgm:if>
      <dgm:else name="Name3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onstrLst>
      <dgm:constr type="diam" refType="w"/>
      <dgm:constr type="w" for="ch" ptType="node" refType="w"/>
      <dgm:constr type="primFontSz" for="ch" ptType="node" op="equ" val="65"/>
      <dgm:constr type="w" for="ch" forName="sibTrans" refType="w" refFor="ch" refPtType="node" op="equ" fact="0.35"/>
      <dgm:constr type="connDist" for="ch" forName="sibTrans" op="equ"/>
      <dgm:constr type="primFontSz" for="des" forName="connectorText" op="equ" val="55"/>
      <dgm:constr type="primFontSz" for="des" forName="connectorText" refType="primFontSz" refFor="ch" refPtType="node" op="lte" fact="0.8"/>
      <dgm:constr type="sibSp" refType="w" refFor="ch" refPtType="node" op="equ" fact="0.65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4">
        <dgm:if name="Name5" axis="par ch" ptType="doc node" func="cnt" op="gt" val="1">
          <dgm:forEach name="sibTransForEach" axis="followSib" ptType="sibTrans" hideLastTrans="0" cnt="1">
            <dgm:layoutNode name="sibTrans">
              <dgm:choose name="Name6">
                <dgm:if name="Name7" axis="par ch" ptType="doc node" func="posEven" op="equ" val="1">
                  <dgm:alg type="conn">
                    <dgm:param type="begPts" val="radial"/>
                    <dgm:param type="endPts" val="radial"/>
                    <dgm:param type="begSty" val="arr"/>
                    <dgm:param type="endSty" val="arr"/>
                  </dgm:alg>
                </dgm:if>
                <dgm:else name="Name8">
                  <dgm:alg type="conn">
                    <dgm:param type="begPts" val="auto"/>
                    <dgm:param type="endPts" val="auto"/>
                    <dgm:param type="begSty" val="arr"/>
                    <dgm:param type="endSty" val="arr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5"/>
                <dgm:constr type="connDist"/>
                <dgm:constr type="begPad" refType="connDist" fact="0.1"/>
                <dgm:constr type="endPad" refType="connDist" fact="0.1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935B3-F5AC-0F49-A77F-693DEAA46623}" type="datetimeFigureOut">
              <a:rPr lang="en-US" smtClean="0"/>
              <a:t>9/11/25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A8B51A-AF34-8043-88BB-7DEBFD50D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684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36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940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158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0F25D-A23E-4E2D-F308-5821D856D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66B69F-1E68-6633-928C-A970FFA814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3ECE-C349-54BB-88B1-CB632DDD20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3DB290-8F75-3992-14A6-2350E4215B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5669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2202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8EA8-FCF2-7740-A3AB-B7CCA99EE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31233B-0476-5043-BEF6-761B9C407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65C91-3BE9-C443-97BD-D6277C109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9230D-D256-FE47-99BF-6F642436F56E}" type="datetime1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04123-55B1-4645-9464-1F9B4FF0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8A162-B81A-944D-99D9-11E39184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692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C21E8-C2DE-104D-967E-CA0FF618A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95DD7-6ACC-D344-8D6A-081DE6717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4B349-4F0D-894E-AD9E-C8D1B39C6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2860A-5855-1941-A1E0-F1AE52EC854D}" type="datetime1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BD305-3291-0847-87F8-146BCC35F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E3FFB-1CEF-CD45-AEDB-14C6888A2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439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788FB-E1C6-0948-B7D6-4005A1287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326CB-A93C-A748-AE55-3A84F493F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9B757-0A54-3443-84C0-65873E3F3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74B4C-42F5-E24E-B25F-613EC7F4AF0D}" type="datetime1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777A8-B390-AD43-9316-7F20F4D95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1D6B4-256C-1948-BCFC-7594033D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55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6FBB5-B722-3A46-A14A-A723649FD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5A430-6CC3-0240-B917-1B5E9A0537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A6E127-F6D6-6E47-992D-AAB411394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4EC72-74E5-4842-B10B-E46F91782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BCD20-0178-0C41-9D8E-10FA267A6CCC}" type="datetime1">
              <a:rPr lang="en-US" smtClean="0"/>
              <a:t>9/11/25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8DF8D-02EF-184D-ABFF-13191F79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331F1-86F5-D941-89D8-0D3AC6402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21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FC86-2AE9-1B4C-919A-EAB194055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5F746-6C3E-9C4F-8AAE-6A474D055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AF0EE7-6F44-F448-9A20-041EDD3CD0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B6FDB-DF0E-A54B-A3A5-FBFE9BAD6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128D6A-E2F4-F44B-8FA0-9424742E2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40A058-F234-D841-83EC-56812E3E0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58456-60EB-6840-BCEB-E4C2678C039E}" type="datetime1">
              <a:rPr lang="en-US" smtClean="0"/>
              <a:t>9/11/25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FC077F-7055-D04B-802C-EB03F517C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4350B2-AC98-ED44-AA30-4A41C43EB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02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A2B0-F6B9-554F-8BFB-4F0D99D01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AC341-6D23-9A4E-AB3D-E9FFD1A67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FCD94-1F0D-3948-A9F0-DB82F9AAC2D3}" type="datetime1">
              <a:rPr lang="en-US" smtClean="0"/>
              <a:t>9/11/25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04147E-0023-1E48-9B46-83053DAE9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B722CF-E5B4-E74B-A7B0-12F7823B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4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B2DC2-5A2E-A24E-B7D1-FF883CF7F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92FAC-AC21-0848-AC27-426B7BF29104}" type="datetime1">
              <a:rPr lang="en-US" smtClean="0"/>
              <a:t>9/11/25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CB29CE-4228-BD4C-A420-70C257145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14DD2-3E82-1246-9760-3AF41CF04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04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B8CA2-68C1-F142-900B-17AAC3135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70681-4878-1F46-A6A1-53C6FDF4D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80CD99-B40B-E640-93ED-B452D6C40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276116-6773-1444-A31A-CE340D5A8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F56F3-8608-FF4D-9C26-AE6D473095CB}" type="datetime1">
              <a:rPr lang="en-US" smtClean="0"/>
              <a:t>9/11/25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1B01F-24FF-B744-B660-8655E56D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755F5-5A75-8F4C-9F3C-F3E9E8B27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653F8-D055-1D48-8974-B59CF2267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E7EB70-418E-DD41-A6E4-57C3E92756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DE1C0-806E-8A48-B3AF-560DCDAC2B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043B28-10B3-E44C-8EEA-5E6F44249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C49A9-C646-2345-B4A7-439457175566}" type="datetime1">
              <a:rPr lang="en-US" smtClean="0"/>
              <a:t>9/11/25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838D99-521A-0744-BCD1-262100033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B5FDE6-E6EC-1B48-AA21-895D7DDF6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31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B9B72-A8A4-A74F-8E1E-3AC6EC296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54F5B-62DA-7542-966C-C08C53BC9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8ABB0-D704-A54E-8299-92AC38ED5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AC849-5CEB-3846-9265-8D72BE481A70}" type="datetime1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B263C-A99F-544F-935E-91C65D0E7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DF06A-9EED-284C-866A-F1E12F15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045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A0D12E-01E0-A04F-A3F4-22D4E32BBB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CACDF6-BA3A-1044-A721-EA6F030EF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0E2C9-6B5C-FB49-9713-679C0BEC3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BBDEB-BEE0-FD44-AAFC-27969F9541FD}" type="datetime1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1C65A-6A18-2740-A284-DAD25FD9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2885B-7257-664D-9FD5-B0446B1E8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0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DFA117-430A-0842-BF0A-806ADCCD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41114-5B51-D64E-B2F6-6CC36C6DE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EF16-25A2-F34D-BACC-65FA6AAC2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6C8CC-C3CD-B94B-94D6-0913487DB5E5}" type="datetime1">
              <a:rPr lang="en-US" smtClean="0"/>
              <a:t>9/11/25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A32EF-278E-4D4D-A7AB-20D488CC4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59C42-B5B3-6B46-936D-A9D1A4A04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095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D603-8601-914F-B530-0182C8206A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1691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Molecular Simulation Toolkit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D95FD3-E679-D541-8417-A00AC40FC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61366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/zhteg4pvt/</a:t>
            </a:r>
            <a:r>
              <a:rPr lang="en-US" dirty="0" err="1"/>
              <a:t>nemd</a:t>
            </a:r>
            <a:r>
              <a:rPr lang="en-US" dirty="0"/>
              <a:t>/</a:t>
            </a:r>
          </a:p>
          <a:p>
            <a:r>
              <a:rPr lang="en-US" dirty="0"/>
              <a:t>Main Contributor: Teng Zhang</a:t>
            </a:r>
          </a:p>
          <a:p>
            <a:r>
              <a:rPr lang="en-US" dirty="0"/>
              <a:t>Email: zhteg4@gmail.com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92B7D-AF88-FE97-F8F3-696A7F8F3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049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1BF32-5317-534C-8BE4-58EF89998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BSD 3-Clause License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8CB3-347C-6A40-A202-223224B93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000" dirty="0"/>
              <a:t>Allow redistribution in any forms, with or without modification.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dirty="0"/>
              <a:t>In short:</a:t>
            </a:r>
          </a:p>
          <a:p>
            <a:pPr marL="514350" indent="-514350">
              <a:buAutoNum type="arabicParenR"/>
            </a:pPr>
            <a:r>
              <a:rPr lang="en-US" dirty="0"/>
              <a:t>The general BSD 3-Clause copyright allows </a:t>
            </a:r>
            <a:r>
              <a:rPr lang="en-US" b="1" dirty="0"/>
              <a:t>similar redistribution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dirty="0"/>
              <a:t>The software is provided as is and in </a:t>
            </a:r>
            <a:r>
              <a:rPr lang="en-US" b="1" dirty="0"/>
              <a:t>no event </a:t>
            </a:r>
            <a:r>
              <a:rPr lang="en-US" dirty="0"/>
              <a:t>shall the copyright holder or contributors </a:t>
            </a:r>
            <a:r>
              <a:rPr lang="en-US" b="1" dirty="0"/>
              <a:t>be liable for any damages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b="1" dirty="0"/>
              <a:t>Neither </a:t>
            </a:r>
            <a:r>
              <a:rPr lang="en-US" dirty="0"/>
              <a:t>the name of the </a:t>
            </a:r>
            <a:r>
              <a:rPr lang="en-US" b="1" dirty="0"/>
              <a:t>copyright</a:t>
            </a:r>
            <a:r>
              <a:rPr lang="en-US" dirty="0"/>
              <a:t> </a:t>
            </a:r>
            <a:r>
              <a:rPr lang="en-US" b="1" dirty="0"/>
              <a:t>holder</a:t>
            </a:r>
            <a:r>
              <a:rPr lang="en-US" dirty="0"/>
              <a:t> </a:t>
            </a:r>
            <a:r>
              <a:rPr lang="en-US" b="1" dirty="0"/>
              <a:t>nor</a:t>
            </a:r>
            <a:r>
              <a:rPr lang="en-US" dirty="0"/>
              <a:t> the names of its </a:t>
            </a:r>
            <a:r>
              <a:rPr lang="en-US" b="1" dirty="0"/>
              <a:t>contributors</a:t>
            </a:r>
            <a:r>
              <a:rPr lang="en-US" dirty="0"/>
              <a:t> may be used to </a:t>
            </a:r>
            <a:r>
              <a:rPr lang="en-US" b="1" dirty="0"/>
              <a:t>endorse</a:t>
            </a:r>
            <a:r>
              <a:rPr lang="en-US" dirty="0"/>
              <a:t> </a:t>
            </a:r>
            <a:r>
              <a:rPr lang="en-US" b="1" dirty="0"/>
              <a:t>or promote products derived</a:t>
            </a:r>
            <a:r>
              <a:rPr lang="en-US" dirty="0"/>
              <a:t> from this software </a:t>
            </a:r>
            <a:r>
              <a:rPr lang="en-US" b="1" dirty="0"/>
              <a:t>without specific prior written permission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Full Information in </a:t>
            </a:r>
            <a:r>
              <a:rPr lang="en-US" sz="2400" i="1" u="sng" dirty="0">
                <a:solidFill>
                  <a:schemeClr val="accent1"/>
                </a:solidFill>
              </a:rPr>
              <a:t>https://</a:t>
            </a:r>
            <a:r>
              <a:rPr lang="en-US" sz="2400" i="1" u="sng" dirty="0" err="1">
                <a:solidFill>
                  <a:schemeClr val="accent1"/>
                </a:solidFill>
              </a:rPr>
              <a:t>github.com</a:t>
            </a:r>
            <a:r>
              <a:rPr lang="en-US" sz="2400" i="1" u="sng" dirty="0">
                <a:solidFill>
                  <a:schemeClr val="accent1"/>
                </a:solidFill>
              </a:rPr>
              <a:t>/zhteg4pvt/</a:t>
            </a:r>
            <a:r>
              <a:rPr lang="en-US" sz="2400" i="1" u="sng" dirty="0" err="1">
                <a:solidFill>
                  <a:schemeClr val="accent1"/>
                </a:solidFill>
              </a:rPr>
              <a:t>nemd</a:t>
            </a:r>
            <a:r>
              <a:rPr lang="en-US" sz="2400" i="1" u="sng" dirty="0">
                <a:solidFill>
                  <a:schemeClr val="accent1"/>
                </a:solidFill>
              </a:rPr>
              <a:t>/tree/main/LICENSE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F44F-EF16-7C56-017A-21B581865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528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7F9F4-F60A-9A40-9F29-975C13FE5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88033" cy="1325563"/>
          </a:xfrm>
        </p:spPr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E11C1-C54C-4A47-BD1A-F7710C155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730" y="1378905"/>
            <a:ext cx="6752041" cy="712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dirty="0"/>
              <a:t>1)* </a:t>
            </a:r>
            <a:r>
              <a:rPr lang="en-US" sz="1500" i="1" dirty="0">
                <a:solidFill>
                  <a:schemeClr val="accent2"/>
                </a:solidFill>
              </a:rPr>
              <a:t>bash -c "$(curl 'https://</a:t>
            </a:r>
            <a:r>
              <a:rPr lang="en-US" sz="1500" i="1" dirty="0" err="1">
                <a:solidFill>
                  <a:schemeClr val="accent2"/>
                </a:solidFill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</a:rPr>
              <a:t>nemd</a:t>
            </a:r>
            <a:r>
              <a:rPr lang="en-US" sz="1500" i="1" dirty="0">
                <a:solidFill>
                  <a:schemeClr val="accent2"/>
                </a:solidFill>
              </a:rPr>
              <a:t>/main/setup')"</a:t>
            </a:r>
          </a:p>
          <a:p>
            <a:pPr marL="0" indent="0">
              <a:buNone/>
            </a:pPr>
            <a:r>
              <a:rPr lang="en-US" sz="1500" dirty="0"/>
              <a:t>2) </a:t>
            </a:r>
            <a:r>
              <a:rPr lang="en-US" sz="1500" i="1" dirty="0">
                <a:solidFill>
                  <a:schemeClr val="accent1"/>
                </a:solidFill>
              </a:rPr>
              <a:t>cd ~/git/</a:t>
            </a:r>
            <a:r>
              <a:rPr lang="en-US" sz="1500" i="1" dirty="0" err="1">
                <a:solidFill>
                  <a:schemeClr val="accent1"/>
                </a:solidFill>
              </a:rPr>
              <a:t>nemd</a:t>
            </a:r>
            <a:r>
              <a:rPr lang="en-US" sz="1500" i="1" dirty="0">
                <a:solidFill>
                  <a:schemeClr val="accent1"/>
                </a:solidFill>
              </a:rPr>
              <a:t>; pip3.10 install . –v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36417C-F08D-E647-9D1F-C47814DBC4A6}"/>
              </a:ext>
            </a:extLst>
          </p:cNvPr>
          <p:cNvSpPr/>
          <p:nvPr/>
        </p:nvSpPr>
        <p:spPr>
          <a:xfrm>
            <a:off x="7149772" y="189336"/>
            <a:ext cx="4644498" cy="4401205"/>
          </a:xfrm>
          <a:prstGeom prst="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</a:t>
            </a:r>
            <a:r>
              <a:rPr lang="en-US" sz="1400" dirty="0">
                <a:solidFill>
                  <a:schemeClr val="accent2"/>
                </a:solidFill>
              </a:rPr>
              <a:t> </a:t>
            </a:r>
            <a:r>
              <a:rPr lang="en-US" sz="1400" b="1" dirty="0">
                <a:solidFill>
                  <a:schemeClr val="accent2"/>
                </a:solidFill>
              </a:rPr>
              <a:t>Packages</a:t>
            </a:r>
            <a:br>
              <a:rPr lang="en-US" sz="1400" dirty="0"/>
            </a:br>
            <a:r>
              <a:rPr lang="en-US" sz="1400" dirty="0"/>
              <a:t>case $OSTYPE in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darwin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brew install </a:t>
            </a:r>
            <a:r>
              <a:rPr lang="en-US" sz="1400" dirty="0" err="1"/>
              <a:t>gh</a:t>
            </a:r>
            <a:r>
              <a:rPr lang="en-US" sz="1400" dirty="0"/>
              <a:t> git vim python@3.10 ;;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linux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</a:t>
            </a:r>
            <a:r>
              <a:rPr lang="en-US" sz="1400" dirty="0" err="1"/>
              <a:t>sudo</a:t>
            </a:r>
            <a:r>
              <a:rPr lang="en-US" sz="1400" dirty="0"/>
              <a:t> apt-get install -y </a:t>
            </a:r>
            <a:r>
              <a:rPr lang="en-US" sz="1400" dirty="0" err="1"/>
              <a:t>gh</a:t>
            </a:r>
            <a:r>
              <a:rPr lang="en-US" sz="1400" dirty="0"/>
              <a:t> git python3-pip ;;</a:t>
            </a:r>
            <a:br>
              <a:rPr lang="en-US" sz="1400" dirty="0"/>
            </a:br>
            <a:r>
              <a:rPr lang="en-US" sz="1400" dirty="0" err="1"/>
              <a:t>esac</a:t>
            </a:r>
            <a:endParaRPr lang="en-US" sz="1400" dirty="0"/>
          </a:p>
          <a:p>
            <a:endParaRPr lang="en-US" sz="1400" dirty="0">
              <a:solidFill>
                <a:schemeClr val="accent2"/>
              </a:solidFill>
            </a:endParaRPr>
          </a:p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Clone code</a:t>
            </a:r>
          </a:p>
          <a:p>
            <a:r>
              <a:rPr lang="en-US" sz="1400" dirty="0" err="1"/>
              <a:t>gh</a:t>
            </a:r>
            <a:r>
              <a:rPr lang="en-US" sz="1400" dirty="0"/>
              <a:t> auth login --hostname </a:t>
            </a:r>
            <a:r>
              <a:rPr lang="en-US" sz="1400" dirty="0" err="1"/>
              <a:t>GitHub.com</a:t>
            </a:r>
            <a:r>
              <a:rPr lang="en-US" sz="1400" dirty="0"/>
              <a:t> --web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auth setup-git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repo clone zhteg4pvt/</a:t>
            </a:r>
            <a:r>
              <a:rPr lang="en-US" sz="1400" dirty="0" err="1"/>
              <a:t>nemd</a:t>
            </a:r>
            <a:r>
              <a:rPr lang="en-US" sz="1400" dirty="0"/>
              <a:t> ~/git/</a:t>
            </a:r>
            <a:r>
              <a:rPr lang="en-US" sz="1400" dirty="0" err="1"/>
              <a:t>nemd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 drivers</a:t>
            </a:r>
            <a:br>
              <a:rPr lang="en-US" sz="1400" dirty="0"/>
            </a:br>
            <a:r>
              <a:rPr lang="en-US" sz="1400" dirty="0"/>
              <a:t>(</a:t>
            </a:r>
            <a:r>
              <a:rPr lang="en-US" sz="1400" dirty="0" err="1"/>
              <a:t>lspci</a:t>
            </a:r>
            <a:r>
              <a:rPr lang="en-US" sz="1400" dirty="0"/>
              <a:t> | grep VGA | grep -q -v NVIDIA) &amp;&amp; exit 0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ubuntu-drivers --</a:t>
            </a:r>
            <a:r>
              <a:rPr lang="en-US" sz="1400" dirty="0" err="1"/>
              <a:t>gpgpu</a:t>
            </a:r>
            <a:r>
              <a:rPr lang="en-US" sz="1400" dirty="0"/>
              <a:t> install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apt upgrade -y</a:t>
            </a:r>
            <a:br>
              <a:rPr lang="en-US" sz="1400" dirty="0"/>
            </a:br>
            <a:r>
              <a:rPr lang="en-US" sz="1400" dirty="0"/>
              <a:t>read -p "Driver installed. Reboot? [y/n]? " answer</a:t>
            </a:r>
            <a:br>
              <a:rPr lang="en-US" sz="1400" dirty="0"/>
            </a:br>
            <a:r>
              <a:rPr lang="en-US" sz="1400" dirty="0"/>
              <a:t>case "$answer" in </a:t>
            </a:r>
            <a:r>
              <a:rPr lang="en-US" sz="1400" dirty="0" err="1"/>
              <a:t>Y|y</a:t>
            </a:r>
            <a:r>
              <a:rPr lang="en-US" sz="1400" dirty="0"/>
              <a:t>) echo "rebooting..."; reboot ;; *) ;; </a:t>
            </a:r>
            <a:r>
              <a:rPr lang="en-US" sz="1400" dirty="0" err="1"/>
              <a:t>esac</a:t>
            </a:r>
            <a:br>
              <a:rPr lang="en-US" sz="1400" dirty="0"/>
            </a:br>
            <a:r>
              <a:rPr lang="en-US" sz="1400" dirty="0"/>
              <a:t>echo "no reboot. (GPU driver may not be working)"</a:t>
            </a:r>
            <a:endParaRPr lang="en-US" sz="1400" dirty="0">
              <a:solidFill>
                <a:srgbClr val="BCBEC4"/>
              </a:solidFill>
              <a:effectLst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53B322-3889-3F4B-9DE0-DD9058EC2278}"/>
              </a:ext>
            </a:extLst>
          </p:cNvPr>
          <p:cNvSpPr/>
          <p:nvPr/>
        </p:nvSpPr>
        <p:spPr>
          <a:xfrm>
            <a:off x="416261" y="2127923"/>
            <a:ext cx="6561822" cy="24688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numCol="2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ffectLst/>
              </a:rPr>
              <a:t>class Distribution: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r>
              <a:rPr lang="en-US" sz="1400" dirty="0">
                <a:solidFill>
                  <a:schemeClr val="tx1"/>
                </a:solidFill>
                <a:effectLst/>
              </a:rPr>
              <a:t>def run(self):</a:t>
            </a:r>
          </a:p>
          <a:p>
            <a:r>
              <a:rPr lang="en-US" sz="1400" i="1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Install packages</a:t>
            </a:r>
            <a:br>
              <a:rPr lang="en-US" sz="1400" i="1" dirty="0">
                <a:solidFill>
                  <a:srgbClr val="5F826B"/>
                </a:solidFill>
                <a:effectLst/>
              </a:rPr>
            </a:br>
            <a:r>
              <a:rPr lang="en-US" sz="14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self.prereq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    # Compile binaries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self.compile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Distribute shell, python, and data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self.setup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 err="1">
                <a:solidFill>
                  <a:schemeClr val="tx1"/>
                </a:solidFill>
              </a:rPr>
              <a:t>prereq</a:t>
            </a:r>
            <a:r>
              <a:rPr lang="en-US" sz="1200" dirty="0">
                <a:solidFill>
                  <a:schemeClr val="tx1"/>
                </a:solidFill>
              </a:rPr>
              <a:t>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</a:t>
            </a:r>
            <a:r>
              <a:rPr lang="en-US" sz="1200" dirty="0" err="1">
                <a:solidFill>
                  <a:schemeClr val="tx1"/>
                </a:solidFill>
              </a:rPr>
              <a:t>.run</a:t>
            </a:r>
            <a:r>
              <a:rPr lang="en-US" sz="1200" dirty="0">
                <a:solidFill>
                  <a:schemeClr val="tx1"/>
                </a:solidFill>
              </a:rPr>
              <a:t>('brew install –q </a:t>
            </a:r>
            <a:r>
              <a:rPr lang="en-US" sz="1200" dirty="0" err="1">
                <a:solidFill>
                  <a:schemeClr val="tx1"/>
                </a:solidFill>
              </a:rPr>
              <a:t>gcc</a:t>
            </a:r>
            <a:r>
              <a:rPr lang="en-US" sz="1200" dirty="0">
                <a:solidFill>
                  <a:schemeClr val="tx1"/>
                </a:solidFill>
              </a:rPr>
              <a:t>', shell=True</a:t>
            </a:r>
            <a:r>
              <a:rPr lang="en-US" sz="1200" dirty="0">
                <a:solidFill>
                  <a:schemeClr val="tx1"/>
                </a:solidFill>
                <a:effectLst/>
              </a:rPr>
              <a:t>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  <a:effectLst/>
              </a:rPr>
              <a:t>def compile(self):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subprocess.run</a:t>
            </a:r>
            <a:r>
              <a:rPr lang="en-US" sz="1200" dirty="0">
                <a:solidFill>
                  <a:schemeClr val="tx1"/>
                </a:solidFill>
                <a:effectLst/>
              </a:rPr>
              <a:t>('bash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install.sh</a:t>
            </a:r>
            <a:r>
              <a:rPr lang="en-US" sz="1200" dirty="0">
                <a:solidFill>
                  <a:schemeClr val="tx1"/>
                </a:solidFill>
                <a:effectLst/>
              </a:rPr>
              <a:t>', shell=True)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>
                <a:solidFill>
                  <a:schemeClr val="tx1"/>
                </a:solidFill>
                <a:effectLst/>
              </a:rPr>
              <a:t>setup(self):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    </a:t>
            </a:r>
            <a:r>
              <a:rPr lang="en-US" sz="1200" dirty="0" err="1">
                <a:solidFill>
                  <a:schemeClr val="tx1"/>
                </a:solidFill>
              </a:rPr>
              <a:t>setuptools.setup</a:t>
            </a:r>
            <a:r>
              <a:rPr lang="en-US" sz="1200" dirty="0">
                <a:solidFill>
                  <a:schemeClr val="tx1"/>
                </a:solidFill>
              </a:rPr>
              <a:t>(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packages=[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, alamode],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package_dir</a:t>
            </a:r>
            <a:r>
              <a:rPr lang="en-US" sz="1200" dirty="0">
                <a:solidFill>
                  <a:schemeClr val="tx1"/>
                </a:solidFill>
              </a:rPr>
              <a:t>=[module/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package_data</a:t>
            </a:r>
            <a:r>
              <a:rPr lang="en-US" sz="1200" dirty="0">
                <a:solidFill>
                  <a:schemeClr val="tx1"/>
                </a:solidFill>
              </a:rPr>
              <a:t>={</a:t>
            </a:r>
            <a:r>
              <a:rPr lang="en-US" sz="1200" dirty="0" err="1">
                <a:solidFill>
                  <a:schemeClr val="tx1"/>
                </a:solidFill>
              </a:rPr>
              <a:t>lammps</a:t>
            </a:r>
            <a:r>
              <a:rPr lang="en-US" sz="1200" dirty="0">
                <a:solidFill>
                  <a:schemeClr val="tx1"/>
                </a:solidFill>
              </a:rPr>
              <a:t>: [build/</a:t>
            </a:r>
            <a:r>
              <a:rPr lang="en-US" sz="1200" dirty="0" err="1">
                <a:solidFill>
                  <a:schemeClr val="tx1"/>
                </a:solidFill>
              </a:rPr>
              <a:t>lmp</a:t>
            </a:r>
            <a:r>
              <a:rPr lang="en-US" sz="1200" dirty="0">
                <a:solidFill>
                  <a:schemeClr val="tx1"/>
                </a:solidFill>
              </a:rPr>
              <a:t>]},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scripts= =[</a:t>
            </a:r>
            <a:r>
              <a:rPr lang="en-US" sz="1200" dirty="0" err="1">
                <a:solidFill>
                  <a:schemeClr val="tx1"/>
                </a:solidFill>
              </a:rPr>
              <a:t>sh</a:t>
            </a:r>
            <a:r>
              <a:rPr lang="en-US" sz="1200" dirty="0">
                <a:solidFill>
                  <a:schemeClr val="tx1"/>
                </a:solidFill>
              </a:rPr>
              <a:t>/</a:t>
            </a:r>
            <a:r>
              <a:rPr lang="en-US" sz="1200" dirty="0" err="1">
                <a:solidFill>
                  <a:schemeClr val="tx1"/>
                </a:solidFill>
              </a:rPr>
              <a:t>nemd_run</a:t>
            </a:r>
            <a:r>
              <a:rPr lang="en-US" sz="1200" dirty="0">
                <a:solidFill>
                  <a:schemeClr val="tx1"/>
                </a:solidFill>
              </a:rPr>
              <a:t>])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8A657-B335-F14F-80CB-EF10C0256C14}"/>
              </a:ext>
            </a:extLst>
          </p:cNvPr>
          <p:cNvSpPr/>
          <p:nvPr/>
        </p:nvSpPr>
        <p:spPr>
          <a:xfrm>
            <a:off x="10772067" y="189336"/>
            <a:ext cx="10222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sh</a:t>
            </a:r>
            <a:r>
              <a:rPr lang="en-US" dirty="0">
                <a:solidFill>
                  <a:schemeClr val="accent2"/>
                </a:solidFill>
              </a:rPr>
              <a:t>/setup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C220BB-ED5F-EB4B-9A8F-0EFF0F76D462}"/>
              </a:ext>
            </a:extLst>
          </p:cNvPr>
          <p:cNvSpPr/>
          <p:nvPr/>
        </p:nvSpPr>
        <p:spPr>
          <a:xfrm>
            <a:off x="5970243" y="4221209"/>
            <a:ext cx="10078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>
              <a:solidFill>
                <a:schemeClr val="accent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67D5D4F-D237-7B43-FF06-8B534EC302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6424877"/>
              </p:ext>
            </p:extLst>
          </p:nvPr>
        </p:nvGraphicFramePr>
        <p:xfrm>
          <a:off x="416261" y="4764878"/>
          <a:ext cx="11378010" cy="155762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367957">
                  <a:extLst>
                    <a:ext uri="{9D8B030D-6E8A-4147-A177-3AD203B41FA5}">
                      <a16:colId xmlns:a16="http://schemas.microsoft.com/office/drawing/2014/main" val="2763857822"/>
                    </a:ext>
                  </a:extLst>
                </a:gridCol>
                <a:gridCol w="1782816">
                  <a:extLst>
                    <a:ext uri="{9D8B030D-6E8A-4147-A177-3AD203B41FA5}">
                      <a16:colId xmlns:a16="http://schemas.microsoft.com/office/drawing/2014/main" val="2887983121"/>
                    </a:ext>
                  </a:extLst>
                </a:gridCol>
                <a:gridCol w="1886724">
                  <a:extLst>
                    <a:ext uri="{9D8B030D-6E8A-4147-A177-3AD203B41FA5}">
                      <a16:colId xmlns:a16="http://schemas.microsoft.com/office/drawing/2014/main" val="2591759842"/>
                    </a:ext>
                  </a:extLst>
                </a:gridCol>
                <a:gridCol w="1739433">
                  <a:extLst>
                    <a:ext uri="{9D8B030D-6E8A-4147-A177-3AD203B41FA5}">
                      <a16:colId xmlns:a16="http://schemas.microsoft.com/office/drawing/2014/main" val="559988772"/>
                    </a:ext>
                  </a:extLst>
                </a:gridCol>
                <a:gridCol w="1350218">
                  <a:extLst>
                    <a:ext uri="{9D8B030D-6E8A-4147-A177-3AD203B41FA5}">
                      <a16:colId xmlns:a16="http://schemas.microsoft.com/office/drawing/2014/main" val="1438456063"/>
                    </a:ext>
                  </a:extLst>
                </a:gridCol>
                <a:gridCol w="1195805">
                  <a:extLst>
                    <a:ext uri="{9D8B030D-6E8A-4147-A177-3AD203B41FA5}">
                      <a16:colId xmlns:a16="http://schemas.microsoft.com/office/drawing/2014/main" val="2787923875"/>
                    </a:ext>
                  </a:extLst>
                </a:gridCol>
                <a:gridCol w="1002979">
                  <a:extLst>
                    <a:ext uri="{9D8B030D-6E8A-4147-A177-3AD203B41FA5}">
                      <a16:colId xmlns:a16="http://schemas.microsoft.com/office/drawing/2014/main" val="2670914110"/>
                    </a:ext>
                  </a:extLst>
                </a:gridCol>
                <a:gridCol w="1052078">
                  <a:extLst>
                    <a:ext uri="{9D8B030D-6E8A-4147-A177-3AD203B41FA5}">
                      <a16:colId xmlns:a16="http://schemas.microsoft.com/office/drawing/2014/main" val="3057274228"/>
                    </a:ext>
                  </a:extLst>
                </a:gridCol>
              </a:tblGrid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Graphic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Memory (GB)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2"/>
                          </a:solidFill>
                          <a:effectLst/>
                        </a:rPr>
                        <a:t>setup (min)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</a:rPr>
                        <a:t> </a:t>
                      </a:r>
                      <a:r>
                        <a:rPr lang="en-US" sz="1400" b="1" kern="1200" dirty="0">
                          <a:solidFill>
                            <a:schemeClr val="accent1"/>
                          </a:solidFill>
                          <a:effectLst/>
                        </a:rPr>
                        <a:t>pip (min)</a:t>
                      </a:r>
                      <a:endParaRPr lang="en-US" sz="1400" b="1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</a:rPr>
                        <a:t>test (min)</a:t>
                      </a:r>
                      <a:endParaRPr lang="en-US" sz="14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38683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 Mini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Sonoma 14.6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8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3.94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5.11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1084939"/>
                  </a:ext>
                </a:extLst>
              </a:tr>
              <a:tr h="56474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Lenovo Y710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Ubuntu 22.04.5 LTS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Intel® Core™ i7-6700 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GeForce GTX 1080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6.15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20.27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9585665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MacBook Pro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Sequoia 15.2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Core i5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Iris Plus 645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6.67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10.25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1.22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225767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8B83A-C0C3-3D60-F99A-63ADB307B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3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28832D-2287-F4AC-CF85-B0B344177870}"/>
              </a:ext>
            </a:extLst>
          </p:cNvPr>
          <p:cNvSpPr txBox="1"/>
          <p:nvPr/>
        </p:nvSpPr>
        <p:spPr>
          <a:xfrm>
            <a:off x="416261" y="6349846"/>
            <a:ext cx="807438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dirty="0">
                <a:effectLst/>
              </a:rPr>
              <a:t>* Ubuntu: 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bash &lt;(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wget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 -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qO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- https://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nemd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/main/setup)</a:t>
            </a:r>
            <a:endParaRPr lang="en-US" sz="1500" i="1" dirty="0">
              <a:solidFill>
                <a:schemeClr val="accent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E72D66-DA66-8C86-7389-06DDFABFFC57}"/>
              </a:ext>
            </a:extLst>
          </p:cNvPr>
          <p:cNvSpPr txBox="1"/>
          <p:nvPr/>
        </p:nvSpPr>
        <p:spPr>
          <a:xfrm>
            <a:off x="8912514" y="6346067"/>
            <a:ext cx="157941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i="1" dirty="0"/>
              <a:t>after factory reset</a:t>
            </a:r>
          </a:p>
        </p:txBody>
      </p:sp>
    </p:spTree>
    <p:extLst>
      <p:ext uri="{BB962C8B-B14F-4D97-AF65-F5344CB8AC3E}">
        <p14:creationId xmlns:p14="http://schemas.microsoft.com/office/powerpoint/2010/main" val="2702753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8D2B1B2-4396-513B-10FF-3C1E6D7763A1}"/>
              </a:ext>
            </a:extLst>
          </p:cNvPr>
          <p:cNvSpPr txBox="1"/>
          <p:nvPr/>
        </p:nvSpPr>
        <p:spPr>
          <a:xfrm>
            <a:off x="478418" y="731520"/>
            <a:ext cx="11430000" cy="5669280"/>
          </a:xfrm>
          <a:prstGeom prst="rect">
            <a:avLst/>
          </a:prstGeom>
          <a:noFill/>
        </p:spPr>
        <p:txBody>
          <a:bodyPr wrap="square" numCol="3">
            <a:spAutoFit/>
          </a:bodyPr>
          <a:lstStyle/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r>
              <a:rPr lang="en-US" sz="1300" dirty="0">
                <a:effectLst/>
              </a:rPr>
              <a:t>class Darwin: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macOS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Install the packages required by compilation.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if not </a:t>
            </a:r>
            <a:r>
              <a:rPr lang="en-US" sz="1300" dirty="0" err="1">
                <a:effectLst/>
              </a:rPr>
              <a:t>self.lmp_exe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</a:t>
            </a:r>
            <a:r>
              <a:rPr lang="en-US" sz="1300" dirty="0" err="1">
                <a:effectLst/>
              </a:rPr>
              <a:t>self.LMP_PKGS</a:t>
            </a:r>
            <a:br>
              <a:rPr lang="en-US" sz="1300" dirty="0"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 = ' '.join(</a:t>
            </a:r>
            <a:r>
              <a:rPr lang="en-US" sz="1300" dirty="0" err="1">
                <a:effectLst/>
              </a:rPr>
              <a:t>self.INSTALL</a:t>
            </a:r>
            <a:r>
              <a:rPr lang="en-US" sz="1300" dirty="0">
                <a:effectLst/>
              </a:rPr>
              <a:t> + pkgs)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</a:t>
            </a:r>
            <a:r>
              <a:rPr lang="en-US" sz="1300" dirty="0" err="1">
                <a:effectLst/>
              </a:rPr>
              <a:t>f"echo</a:t>
            </a:r>
            <a:r>
              <a:rPr lang="en-US" sz="1300" dirty="0">
                <a:effectLst/>
              </a:rPr>
              <a:t>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};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}",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compile</a:t>
            </a:r>
            <a:r>
              <a:rPr lang="en-US" sz="1300" dirty="0">
                <a:effectLst/>
              </a:rPr>
              <a:t>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Compile the binaries.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('bash </a:t>
            </a:r>
            <a:r>
              <a:rPr lang="en-US" sz="1300" dirty="0" err="1">
                <a:effectLst/>
              </a:rPr>
              <a:t>install.sh</a:t>
            </a:r>
            <a:r>
              <a:rPr lang="en-US" sz="1300" dirty="0">
                <a:effectLst/>
              </a:rPr>
              <a:t>',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r>
              <a:rPr lang="en-US" sz="1300" dirty="0">
                <a:effectLst/>
              </a:rPr>
              <a:t>class Linux(Darwin):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Linux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6AAB73"/>
                </a:solidFill>
                <a:effectLst/>
              </a:rPr>
            </a:br>
            <a:br>
              <a:rPr lang="en-US" sz="1300" dirty="0">
                <a:solidFill>
                  <a:srgbClr val="6AAB73"/>
                </a:solidFill>
                <a:effectLst/>
              </a:rPr>
            </a:br>
            <a:r>
              <a:rPr lang="en-US" sz="1300" dirty="0">
                <a:solidFill>
                  <a:srgbClr val="6AAB73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Customize the prerequisites for Linux machine.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info =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</a:t>
            </a:r>
            <a:r>
              <a:rPr lang="en-US" sz="1300" dirty="0" err="1">
                <a:effectLst/>
              </a:rPr>
              <a:t>nvidia-smi</a:t>
            </a:r>
            <a:r>
              <a:rPr lang="en-US" sz="1300" dirty="0">
                <a:effectLst/>
              </a:rPr>
              <a:t> | grep NVIDIA')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if not </a:t>
            </a:r>
            <a:r>
              <a:rPr lang="en-US" sz="1300" dirty="0" err="1">
                <a:effectLst/>
              </a:rPr>
              <a:t>info.returncode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('</a:t>
            </a:r>
            <a:r>
              <a:rPr lang="en-US" sz="1300" dirty="0" err="1">
                <a:effectLst/>
              </a:rPr>
              <a:t>nvidia</a:t>
            </a:r>
            <a:r>
              <a:rPr lang="en-US" sz="1300" dirty="0">
                <a:effectLst/>
              </a:rPr>
              <a:t>-</a:t>
            </a:r>
            <a:r>
              <a:rPr lang="en-US" sz="1300" dirty="0" err="1">
                <a:effectLst/>
              </a:rPr>
              <a:t>cuda</a:t>
            </a:r>
            <a:r>
              <a:rPr lang="en-US" sz="1300" dirty="0">
                <a:effectLst/>
              </a:rPr>
              <a:t>-toolkit’, 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super().</a:t>
            </a:r>
            <a:r>
              <a:rPr lang="en-US" sz="1300" dirty="0" err="1">
                <a:effectLst/>
              </a:rPr>
              <a:t>prereq</a:t>
            </a:r>
            <a:r>
              <a:rPr lang="en-US" sz="1300" dirty="0">
                <a:effectLst/>
              </a:rPr>
              <a:t>(*pkgs)</a:t>
            </a:r>
            <a:endParaRPr lang="en-US" sz="1300" dirty="0"/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</a:endParaRPr>
          </a:p>
          <a:p>
            <a:r>
              <a:rPr lang="en-US" sz="1300" dirty="0">
                <a:effectLst/>
              </a:rPr>
              <a:t>Installer = {'</a:t>
            </a:r>
            <a:r>
              <a:rPr lang="en-US" sz="1300" dirty="0" err="1">
                <a:effectLst/>
              </a:rPr>
              <a:t>darwin</a:t>
            </a:r>
            <a:r>
              <a:rPr lang="en-US" sz="1300" dirty="0">
                <a:effectLst/>
              </a:rPr>
              <a:t>': Darwin, '</a:t>
            </a:r>
            <a:r>
              <a:rPr lang="en-US" sz="1300" dirty="0" err="1">
                <a:effectLst/>
              </a:rPr>
              <a:t>linux</a:t>
            </a:r>
            <a:r>
              <a:rPr lang="en-US" sz="1300" dirty="0">
                <a:effectLst/>
              </a:rPr>
              <a:t>': Linux}[</a:t>
            </a:r>
            <a:r>
              <a:rPr lang="en-US" sz="1300" dirty="0" err="1">
                <a:effectLst/>
              </a:rPr>
              <a:t>sys.platform</a:t>
            </a:r>
            <a:r>
              <a:rPr lang="en-US" sz="1300" dirty="0">
                <a:effectLst/>
              </a:rPr>
              <a:t>]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effectLst/>
              </a:rPr>
              <a:t>class</a:t>
            </a:r>
            <a:r>
              <a:rPr lang="en-US" sz="1300" dirty="0">
                <a:solidFill>
                  <a:srgbClr val="CF8E6D"/>
                </a:solidFill>
                <a:effectLst/>
              </a:rPr>
              <a:t> </a:t>
            </a:r>
            <a:r>
              <a:rPr lang="en-US" sz="1300" dirty="0">
                <a:effectLst/>
              </a:rPr>
              <a:t>Distribution(Installer):</a:t>
            </a:r>
            <a:br>
              <a:rPr lang="en-US" sz="1300" dirty="0"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Distribute the scripts, packages and data.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b="1" dirty="0">
                <a:effectLst/>
              </a:rPr>
              <a:t>def run(self):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Main method to install and distribute.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</a:t>
            </a:r>
            <a:r>
              <a:rPr lang="en-US" sz="1300" i="1" dirty="0">
                <a:solidFill>
                  <a:srgbClr val="00B0F0"/>
                </a:solidFill>
                <a:effectLst/>
              </a:rPr>
              <a:t>       </a:t>
            </a:r>
            <a:r>
              <a:rPr lang="en-US" sz="1300" dirty="0" err="1">
                <a:solidFill>
                  <a:srgbClr val="00B0F0"/>
                </a:solidFill>
              </a:rPr>
              <a:t>self.prereq</a:t>
            </a:r>
            <a:r>
              <a:rPr lang="en-US" sz="1300" dirty="0"/>
              <a:t>()</a:t>
            </a:r>
          </a:p>
          <a:p>
            <a:r>
              <a:rPr lang="en-US" sz="1300" dirty="0">
                <a:solidFill>
                  <a:srgbClr val="00B0F0"/>
                </a:solidFill>
              </a:rPr>
              <a:t>        </a:t>
            </a:r>
            <a:r>
              <a:rPr lang="en-US" sz="1300" dirty="0" err="1">
                <a:solidFill>
                  <a:srgbClr val="00B0F0"/>
                </a:solidFill>
              </a:rPr>
              <a:t>self.compile</a:t>
            </a:r>
            <a:r>
              <a:rPr lang="en-US" sz="1300" dirty="0"/>
              <a:t>()</a:t>
            </a:r>
            <a:br>
              <a:rPr lang="en-US" sz="1300" dirty="0"/>
            </a:br>
            <a:r>
              <a:rPr lang="en-US" sz="1300" dirty="0"/>
              <a:t>        </a:t>
            </a:r>
            <a:r>
              <a:rPr lang="en-US" sz="1300" dirty="0" err="1">
                <a:solidFill>
                  <a:schemeClr val="accent2"/>
                </a:solidFill>
              </a:rPr>
              <a:t>self.setup</a:t>
            </a:r>
            <a:r>
              <a:rPr lang="en-US" sz="1300" dirty="0"/>
              <a:t>()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2A9310-BB79-2144-B598-D0EB31F3F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05759" cy="1325563"/>
          </a:xfrm>
        </p:spPr>
        <p:txBody>
          <a:bodyPr/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BBDED6-40BA-2A45-8F88-5161C9C86FC7}"/>
              </a:ext>
            </a:extLst>
          </p:cNvPr>
          <p:cNvSpPr/>
          <p:nvPr/>
        </p:nvSpPr>
        <p:spPr>
          <a:xfrm>
            <a:off x="478419" y="1555933"/>
            <a:ext cx="388878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1"/>
                </a:solidFill>
              </a:rPr>
              <a:t>python3.10 </a:t>
            </a:r>
            <a:r>
              <a:rPr lang="en-US" i="1" dirty="0" err="1">
                <a:solidFill>
                  <a:schemeClr val="accent1"/>
                </a:solidFill>
              </a:rPr>
              <a:t>setup.py</a:t>
            </a:r>
            <a:r>
              <a:rPr lang="en-US" i="1" dirty="0">
                <a:solidFill>
                  <a:schemeClr val="accent1"/>
                </a:solidFill>
              </a:rPr>
              <a:t> install --verbose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7995A82-AA87-EB47-9A72-502758C7D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392695"/>
              </p:ext>
            </p:extLst>
          </p:nvPr>
        </p:nvGraphicFramePr>
        <p:xfrm>
          <a:off x="5163591" y="3954001"/>
          <a:ext cx="429768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53373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3144307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4365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 err="1">
                          <a:solidFill>
                            <a:schemeClr val="accent2"/>
                          </a:solidFill>
                          <a:effectLst/>
                        </a:rPr>
                        <a:t>setuptools</a:t>
                      </a:r>
                      <a:r>
                        <a:rPr lang="en-US" sz="1400" b="0" dirty="0" err="1">
                          <a:solidFill>
                            <a:schemeClr val="accent2"/>
                          </a:solidFill>
                        </a:rPr>
                        <a:t>.setup</a:t>
                      </a:r>
                      <a:endParaRPr lang="en-US" sz="1400" b="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24960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 = [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 alamode]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Python files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package_dir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module/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Non-python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package_data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lammps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[build/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lmp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]},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Scripts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scripts=[</a:t>
                      </a:r>
                      <a:r>
                        <a:rPr lang="en-US" sz="1400" dirty="0" err="1"/>
                        <a:t>sh</a:t>
                      </a:r>
                      <a:r>
                        <a:rPr lang="en-US" sz="1400" dirty="0"/>
                        <a:t>/</a:t>
                      </a:r>
                      <a:r>
                        <a:rPr lang="en-US" sz="1400" dirty="0" err="1"/>
                        <a:t>nemd_run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install_requires</a:t>
                      </a:r>
                      <a:r>
                        <a:rPr lang="en-US" sz="1400" dirty="0"/>
                        <a:t>=[</a:t>
                      </a:r>
                      <a:r>
                        <a:rPr lang="en-US" sz="1400" dirty="0" err="1"/>
                        <a:t>numpy</a:t>
                      </a:r>
                      <a:r>
                        <a:rPr lang="en-US" sz="1400" dirty="0"/>
                        <a:t>, </a:t>
                      </a:r>
                      <a:r>
                        <a:rPr lang="en-US" sz="1400" dirty="0" err="1"/>
                        <a:t>scipy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7399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Metadata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classifiers=[Status :: Production/Stable]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861193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C3A045-037E-395D-3D4C-73000FD86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4</a:t>
            </a:fld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E9472D82-6278-FB6C-1597-341A55663B49}"/>
              </a:ext>
            </a:extLst>
          </p:cNvPr>
          <p:cNvSpPr/>
          <p:nvPr/>
        </p:nvSpPr>
        <p:spPr>
          <a:xfrm>
            <a:off x="9579769" y="4379118"/>
            <a:ext cx="171450" cy="728662"/>
          </a:xfrm>
          <a:prstGeom prst="rightBrac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71B17EF-607B-61CF-F81A-13E8B5D4E6E1}"/>
              </a:ext>
            </a:extLst>
          </p:cNvPr>
          <p:cNvCxnSpPr/>
          <p:nvPr/>
        </p:nvCxnSpPr>
        <p:spPr>
          <a:xfrm>
            <a:off x="9579769" y="5350668"/>
            <a:ext cx="1714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6889AD6-ADD5-77C7-137F-7D0A47FDB098}"/>
              </a:ext>
            </a:extLst>
          </p:cNvPr>
          <p:cNvSpPr/>
          <p:nvPr/>
        </p:nvSpPr>
        <p:spPr>
          <a:xfrm>
            <a:off x="9869717" y="4558783"/>
            <a:ext cx="161028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site-packages/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04D04F-FFE5-4139-C4AB-BF0DD7D66638}"/>
              </a:ext>
            </a:extLst>
          </p:cNvPr>
          <p:cNvSpPr/>
          <p:nvPr/>
        </p:nvSpPr>
        <p:spPr>
          <a:xfrm>
            <a:off x="9928515" y="5137426"/>
            <a:ext cx="14840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bin/</a:t>
            </a:r>
          </a:p>
        </p:txBody>
      </p:sp>
    </p:spTree>
    <p:extLst>
      <p:ext uri="{BB962C8B-B14F-4D97-AF65-F5344CB8AC3E}">
        <p14:creationId xmlns:p14="http://schemas.microsoft.com/office/powerpoint/2010/main" val="1906805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BD5A-BA12-DA4C-BA74-14CF0715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2C1888-8148-534E-A074-A5D082788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25548"/>
              </p:ext>
            </p:extLst>
          </p:nvPr>
        </p:nvGraphicFramePr>
        <p:xfrm>
          <a:off x="1416857" y="1634026"/>
          <a:ext cx="9248371" cy="452628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755089">
                  <a:extLst>
                    <a:ext uri="{9D8B030D-6E8A-4147-A177-3AD203B41FA5}">
                      <a16:colId xmlns:a16="http://schemas.microsoft.com/office/drawing/2014/main" val="3202141244"/>
                    </a:ext>
                  </a:extLst>
                </a:gridCol>
                <a:gridCol w="7493282">
                  <a:extLst>
                    <a:ext uri="{9D8B030D-6E8A-4147-A177-3AD203B41FA5}">
                      <a16:colId xmlns:a16="http://schemas.microsoft.com/office/drawing/2014/main" val="214660213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433158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2"/>
                          </a:solidFill>
                        </a:rPr>
                        <a:t>sh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chemeClr val="accent2"/>
                          </a:solidFill>
                          <a:effectLst/>
                        </a:rPr>
                        <a:t>POSIX shell scripts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3295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</a:rPr>
                        <a:t>setup.py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accent1"/>
                          </a:solidFill>
                        </a:rPr>
                        <a:t>PyPI</a:t>
                      </a:r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 installation on Darwin and Linux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851302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module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Shared classes and functions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867601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Command line execution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36825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workflow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Execution and aggregation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03777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Shell environmental configuration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635044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Unit, integration, scientific, and performance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86816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practice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Trial and error learning curve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42351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Roadmap, summary, and documentation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858750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06D48-6892-EA3D-B212-225AC155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36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6631600" y="4177595"/>
            <a:ext cx="36816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Log Analysis</a:t>
            </a:r>
            <a:r>
              <a:rPr lang="en-US" sz="2000" dirty="0"/>
              <a:t>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43597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Trajectory Analysis</a:t>
            </a:r>
            <a:r>
              <a:rPr lang="en-US" sz="2000" dirty="0"/>
              <a:t>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382212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9980580" y="933881"/>
            <a:ext cx="2057400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72892" y="4265303"/>
            <a:ext cx="32031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/>
              <a:t>Driver Wrapper</a:t>
            </a:r>
            <a:r>
              <a:rPr lang="en-US" sz="2000" dirty="0">
                <a:solidFill>
                  <a:srgbClr val="7030A0"/>
                </a:solidFill>
              </a:rPr>
              <a:t> </a:t>
            </a:r>
          </a:p>
          <a:p>
            <a:r>
              <a:rPr lang="en-US" sz="2000" dirty="0"/>
              <a:t>Parallelization &amp; Serialization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990966" y="729455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828024" y="1297276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469851" y="282909"/>
            <a:ext cx="11200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294270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19419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Lattice Dynamics</a:t>
            </a:r>
            <a:endParaRPr lang="en-US" sz="20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4718" y="4177595"/>
            <a:ext cx="104515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Polymer</a:t>
            </a:r>
            <a:endParaRPr lang="en-US" sz="2000" dirty="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044118" y="3041515"/>
            <a:ext cx="442284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Structure, Coordinate, and Force Field</a:t>
            </a:r>
            <a:endParaRPr lang="en-US" sz="2000" dirty="0"/>
          </a:p>
        </p:txBody>
      </p: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Job &amp; Log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12637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FFC000"/>
                </a:solidFill>
              </a:rPr>
              <a:t> Builder, Molecular Dynamics Simulation, MD Post Analysis, and Solid Physics</a:t>
            </a:r>
            <a:endParaRPr lang="en-US" sz="20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4896255" y="2157746"/>
            <a:ext cx="2302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Application Focused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071670" y="5256748"/>
            <a:ext cx="8170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0794276" y="5947428"/>
            <a:ext cx="119834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303016" y="50797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module/</a:t>
            </a:r>
            <a:r>
              <a:rPr lang="en-US" sz="2000" b="1" dirty="0" err="1"/>
              <a:t>nemd</a:t>
            </a:r>
            <a:endParaRPr lang="en-US" sz="20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2509DB-62AA-1C0D-B5B8-3ECA6A6F6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6</a:t>
            </a:fld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66C03E0-F379-569F-EBC3-7B95466F6999}"/>
              </a:ext>
            </a:extLst>
          </p:cNvPr>
          <p:cNvSpPr/>
          <p:nvPr/>
        </p:nvSpPr>
        <p:spPr>
          <a:xfrm>
            <a:off x="168928" y="5822182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Decentralized Automation </a:t>
            </a:r>
          </a:p>
        </p:txBody>
      </p:sp>
    </p:spTree>
    <p:extLst>
      <p:ext uri="{BB962C8B-B14F-4D97-AF65-F5344CB8AC3E}">
        <p14:creationId xmlns:p14="http://schemas.microsoft.com/office/powerpoint/2010/main" val="2543191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1F29ED-2B46-9341-9908-BE64EADFCFBA}"/>
              </a:ext>
            </a:extLst>
          </p:cNvPr>
          <p:cNvSpPr txBox="1"/>
          <p:nvPr/>
        </p:nvSpPr>
        <p:spPr>
          <a:xfrm>
            <a:off x="210327" y="3576743"/>
            <a:ext cx="15699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parser (</a:t>
            </a:r>
            <a:r>
              <a:rPr lang="en-US" sz="1400" dirty="0" err="1"/>
              <a:t>parserutils</a:t>
            </a:r>
            <a:r>
              <a:rPr lang="en-US" sz="1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63E7A-6842-0D49-8F4E-D347FD468A04}"/>
              </a:ext>
            </a:extLst>
          </p:cNvPr>
          <p:cNvSpPr txBox="1"/>
          <p:nvPr/>
        </p:nvSpPr>
        <p:spPr>
          <a:xfrm>
            <a:off x="167366" y="4028612"/>
            <a:ext cx="24881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job, aggregator, task (</a:t>
            </a:r>
            <a:r>
              <a:rPr lang="en-US" sz="1400" dirty="0" err="1"/>
              <a:t>taskbase</a:t>
            </a:r>
            <a:r>
              <a:rPr lang="en-US" sz="14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588E4-F10A-644C-9466-0925CE93F76D}"/>
              </a:ext>
            </a:extLst>
          </p:cNvPr>
          <p:cNvSpPr txBox="1"/>
          <p:nvPr/>
        </p:nvSpPr>
        <p:spPr>
          <a:xfrm>
            <a:off x="5094886" y="648798"/>
            <a:ext cx="238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debug, </a:t>
            </a:r>
            <a:r>
              <a:rPr lang="en-US" sz="1400" dirty="0" err="1"/>
              <a:t>lazy_import</a:t>
            </a:r>
            <a:r>
              <a:rPr lang="en-US" sz="1400" dirty="0"/>
              <a:t> (__</a:t>
            </a:r>
            <a:r>
              <a:rPr lang="en-US" sz="1400" dirty="0" err="1"/>
              <a:t>init</a:t>
            </a:r>
            <a:r>
              <a:rPr lang="en-US" sz="1400" dirty="0"/>
              <a:t>__ 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1105215"/>
            <a:ext cx="2247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19A201-7BF9-684E-BEFE-9D7833C6BDC2}"/>
              </a:ext>
            </a:extLst>
          </p:cNvPr>
          <p:cNvSpPr txBox="1"/>
          <p:nvPr/>
        </p:nvSpPr>
        <p:spPr>
          <a:xfrm>
            <a:off x="1740522" y="4481692"/>
            <a:ext cx="19891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driver &amp; test tasks </a:t>
            </a:r>
            <a:r>
              <a:rPr lang="en-US" sz="1400" dirty="0"/>
              <a:t>(task)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DE92BA-D6DA-8B41-8918-22EA38868DDE}"/>
              </a:ext>
            </a:extLst>
          </p:cNvPr>
          <p:cNvSpPr txBox="1"/>
          <p:nvPr/>
        </p:nvSpPr>
        <p:spPr>
          <a:xfrm>
            <a:off x="4142605" y="2357713"/>
            <a:ext cx="21109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dynamic force field </a:t>
            </a:r>
            <a:r>
              <a:rPr lang="en-US" sz="1400" dirty="0"/>
              <a:t>(</a:t>
            </a:r>
            <a:r>
              <a:rPr lang="en-US" sz="1400" dirty="0" err="1"/>
              <a:t>sw</a:t>
            </a:r>
            <a:r>
              <a:rPr lang="en-US" sz="1400" dirty="0"/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58FE01-D2F4-774B-9905-1506AE7279C1}"/>
              </a:ext>
            </a:extLst>
          </p:cNvPr>
          <p:cNvSpPr/>
          <p:nvPr/>
        </p:nvSpPr>
        <p:spPr>
          <a:xfrm>
            <a:off x="6214146" y="2359631"/>
            <a:ext cx="137011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in script </a:t>
            </a:r>
            <a:r>
              <a:rPr lang="en-US" sz="1400" dirty="0"/>
              <a:t>(</a:t>
            </a:r>
            <a:r>
              <a:rPr lang="en-US" sz="1400" dirty="0" err="1"/>
              <a:t>lmpin</a:t>
            </a:r>
            <a:r>
              <a:rPr lang="en-US" sz="1400" dirty="0"/>
              <a:t>)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DAFE5F-5580-F949-B920-81C0C801CF81}"/>
              </a:ext>
            </a:extLst>
          </p:cNvPr>
          <p:cNvSpPr/>
          <p:nvPr/>
        </p:nvSpPr>
        <p:spPr>
          <a:xfrm>
            <a:off x="8893557" y="2566623"/>
            <a:ext cx="28289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conformer, molecule, structure</a:t>
            </a:r>
          </a:p>
          <a:p>
            <a:pPr algn="ctr"/>
            <a:r>
              <a:rPr lang="en-US" sz="1400" dirty="0"/>
              <a:t>(structure)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43FE12-869C-4D43-8176-544EB6A436DE}"/>
              </a:ext>
            </a:extLst>
          </p:cNvPr>
          <p:cNvSpPr txBox="1"/>
          <p:nvPr/>
        </p:nvSpPr>
        <p:spPr>
          <a:xfrm>
            <a:off x="5069828" y="2777250"/>
            <a:ext cx="1974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atomic data (</a:t>
            </a:r>
            <a:r>
              <a:rPr lang="en-US" sz="1400" dirty="0" err="1"/>
              <a:t>lmpatomic</a:t>
            </a:r>
            <a:r>
              <a:rPr lang="en-US" sz="1400" dirty="0"/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176A97-5D93-CA49-9066-128FE3AFC137}"/>
              </a:ext>
            </a:extLst>
          </p:cNvPr>
          <p:cNvSpPr txBox="1"/>
          <p:nvPr/>
        </p:nvSpPr>
        <p:spPr>
          <a:xfrm>
            <a:off x="5284052" y="3165411"/>
            <a:ext cx="15098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opls</a:t>
            </a:r>
            <a:r>
              <a:rPr lang="en-US" sz="1400" dirty="0"/>
              <a:t> data (</a:t>
            </a:r>
            <a:r>
              <a:rPr lang="en-US" sz="1400" dirty="0" err="1"/>
              <a:t>lmpfull</a:t>
            </a:r>
            <a:r>
              <a:rPr lang="en-US" sz="1400" dirty="0"/>
              <a:t>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9A8994-EB34-D74C-9825-49AAF18A7B4E}"/>
              </a:ext>
            </a:extLst>
          </p:cNvPr>
          <p:cNvSpPr/>
          <p:nvPr/>
        </p:nvSpPr>
        <p:spPr>
          <a:xfrm>
            <a:off x="5087435" y="3575020"/>
            <a:ext cx="234743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conformer search (</a:t>
            </a:r>
            <a:r>
              <a:rPr lang="en-US" sz="1400" dirty="0" err="1"/>
              <a:t>structutils</a:t>
            </a:r>
            <a:r>
              <a:rPr lang="en-US" sz="1400" dirty="0"/>
              <a:t>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7720528" y="2354934"/>
            <a:ext cx="171303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>
                <a:solidFill>
                  <a:srgbClr val="7030A0"/>
                </a:solidFill>
              </a:rPr>
              <a:t>lammps</a:t>
            </a:r>
            <a:r>
              <a:rPr lang="en-US" sz="1400" dirty="0">
                <a:solidFill>
                  <a:srgbClr val="7030A0"/>
                </a:solidFill>
              </a:rPr>
              <a:t> log </a:t>
            </a:r>
            <a:r>
              <a:rPr lang="en-US" sz="1400" dirty="0"/>
              <a:t>(</a:t>
            </a:r>
            <a:r>
              <a:rPr lang="en-US" sz="1400" dirty="0" err="1"/>
              <a:t>lmplog</a:t>
            </a:r>
            <a:r>
              <a:rPr lang="en-US" sz="1400" dirty="0"/>
              <a:t>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B25AEC-0773-9546-9CFC-5B0D6060E669}"/>
              </a:ext>
            </a:extLst>
          </p:cNvPr>
          <p:cNvSpPr/>
          <p:nvPr/>
        </p:nvSpPr>
        <p:spPr>
          <a:xfrm>
            <a:off x="2659577" y="4020600"/>
            <a:ext cx="16149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log &amp; </a:t>
            </a:r>
            <a:r>
              <a:rPr lang="en-US" sz="1400" dirty="0" err="1"/>
              <a:t>traj</a:t>
            </a:r>
            <a:r>
              <a:rPr lang="en-US" sz="1400" dirty="0"/>
              <a:t> (analyzer)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782A8D-1BA6-C14E-B6E8-57794599F1C0}"/>
              </a:ext>
            </a:extLst>
          </p:cNvPr>
          <p:cNvSpPr/>
          <p:nvPr/>
        </p:nvSpPr>
        <p:spPr>
          <a:xfrm>
            <a:off x="3858823" y="4491595"/>
            <a:ext cx="11113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testing (test)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BC53DC-51E5-6940-A03F-B00657BA81E2}"/>
              </a:ext>
            </a:extLst>
          </p:cNvPr>
          <p:cNvSpPr/>
          <p:nvPr/>
        </p:nvSpPr>
        <p:spPr>
          <a:xfrm>
            <a:off x="3590104" y="3579709"/>
            <a:ext cx="120924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distance (</a:t>
            </a:r>
            <a:r>
              <a:rPr lang="en-US" sz="1400" dirty="0" err="1"/>
              <a:t>dist</a:t>
            </a:r>
            <a:r>
              <a:rPr lang="en-US" sz="1400" dirty="0"/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C8826-18D4-6F4B-95F0-08FE4B8A0ED6}"/>
              </a:ext>
            </a:extLst>
          </p:cNvPr>
          <p:cNvSpPr/>
          <p:nvPr/>
        </p:nvSpPr>
        <p:spPr>
          <a:xfrm>
            <a:off x="1708327" y="3578223"/>
            <a:ext cx="19168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visualization</a:t>
            </a:r>
            <a:r>
              <a:rPr lang="en-US" sz="1400" dirty="0"/>
              <a:t> (</a:t>
            </a:r>
            <a:r>
              <a:rPr lang="en-US" sz="1400" dirty="0" err="1"/>
              <a:t>molview</a:t>
            </a:r>
            <a:r>
              <a:rPr lang="en-US" sz="1400" dirty="0"/>
              <a:t>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B23D3D-DDF3-1448-8F24-07CB2975A247}"/>
              </a:ext>
            </a:extLst>
          </p:cNvPr>
          <p:cNvSpPr/>
          <p:nvPr/>
        </p:nvSpPr>
        <p:spPr>
          <a:xfrm>
            <a:off x="2924278" y="3157935"/>
            <a:ext cx="19522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trajectory frame (frame)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165410"/>
            <a:ext cx="13370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trajectory</a:t>
            </a:r>
            <a:r>
              <a:rPr lang="en-US" sz="1400" dirty="0"/>
              <a:t> (</a:t>
            </a:r>
            <a:r>
              <a:rPr lang="en-US" sz="1400" dirty="0" err="1"/>
              <a:t>traj</a:t>
            </a:r>
            <a:r>
              <a:rPr lang="en-US" sz="1400" dirty="0"/>
              <a:t>) 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10070536" y="1094839"/>
            <a:ext cx="1969479" cy="8112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ysClr val="windowText" lastClr="000000"/>
                </a:solidFill>
              </a:rPr>
              <a:t>periodic table (table)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Stillinger</a:t>
            </a:r>
            <a:r>
              <a:rPr lang="en-US" sz="1400" dirty="0">
                <a:solidFill>
                  <a:sysClr val="windowText" lastClr="000000"/>
                </a:solidFill>
              </a:rPr>
              <a:t>-Weber (</a:t>
            </a:r>
            <a:r>
              <a:rPr lang="en-US" sz="1400" dirty="0" err="1">
                <a:solidFill>
                  <a:sysClr val="windowText" lastClr="000000"/>
                </a:solidFill>
              </a:rPr>
              <a:t>sw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lammps</a:t>
            </a:r>
            <a:r>
              <a:rPr lang="en-US" sz="1400" dirty="0">
                <a:solidFill>
                  <a:sysClr val="windowText" lastClr="000000"/>
                </a:solidFill>
              </a:rPr>
              <a:t> </a:t>
            </a:r>
            <a:r>
              <a:rPr lang="en-US" sz="1400" dirty="0" err="1">
                <a:solidFill>
                  <a:sysClr val="windowText" lastClr="000000"/>
                </a:solidFill>
              </a:rPr>
              <a:t>func</a:t>
            </a:r>
            <a:r>
              <a:rPr lang="en-US" sz="1400" dirty="0">
                <a:solidFill>
                  <a:sysClr val="windowText" lastClr="000000"/>
                </a:solidFill>
              </a:rPr>
              <a:t> (</a:t>
            </a:r>
            <a:r>
              <a:rPr lang="en-US" sz="1400" dirty="0" err="1">
                <a:solidFill>
                  <a:sysClr val="windowText" lastClr="000000"/>
                </a:solidFill>
              </a:rPr>
              <a:t>lmpfunc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53437" y="4467115"/>
            <a:ext cx="1628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runner</a:t>
            </a:r>
            <a:r>
              <a:rPr lang="en-US" sz="1400" dirty="0"/>
              <a:t> (</a:t>
            </a:r>
            <a:r>
              <a:rPr lang="en-US" sz="1400" dirty="0" err="1"/>
              <a:t>jobcontrol</a:t>
            </a:r>
            <a:r>
              <a:rPr lang="en-US" sz="1400" dirty="0"/>
              <a:t>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841811" y="931593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860044" y="1573308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D36B4F0-0183-3B4D-B70D-73088FDE5A70}"/>
              </a:ext>
            </a:extLst>
          </p:cNvPr>
          <p:cNvCxnSpPr/>
          <p:nvPr/>
        </p:nvCxnSpPr>
        <p:spPr>
          <a:xfrm>
            <a:off x="1045805" y="1473657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AB4137E-1DD7-EA4E-B7AD-02D006C316DF}"/>
              </a:ext>
            </a:extLst>
          </p:cNvPr>
          <p:cNvSpPr txBox="1"/>
          <p:nvPr/>
        </p:nvSpPr>
        <p:spPr>
          <a:xfrm>
            <a:off x="2527302" y="818091"/>
            <a:ext cx="2107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D0CD23-4707-FA4E-995E-AF0991EFB85F}"/>
              </a:ext>
            </a:extLst>
          </p:cNvPr>
          <p:cNvSpPr txBox="1"/>
          <p:nvPr/>
        </p:nvSpPr>
        <p:spPr>
          <a:xfrm>
            <a:off x="10062762" y="816605"/>
            <a:ext cx="1373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127350" y="456242"/>
            <a:ext cx="841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>
            <a:off x="2313276" y="1573308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D0C13F0-D3A4-CD47-A654-E0155133A905}"/>
              </a:ext>
            </a:extLst>
          </p:cNvPr>
          <p:cNvSpPr txBox="1"/>
          <p:nvPr/>
        </p:nvSpPr>
        <p:spPr>
          <a:xfrm>
            <a:off x="171251" y="818091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job &amp; log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D60C5C-C24A-9844-9DC8-B5CFADFFE361}"/>
              </a:ext>
            </a:extLst>
          </p:cNvPr>
          <p:cNvCxnSpPr>
            <a:cxnSpLocks/>
          </p:cNvCxnSpPr>
          <p:nvPr/>
        </p:nvCxnSpPr>
        <p:spPr>
          <a:xfrm>
            <a:off x="3836432" y="3041232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8390972" y="3175905"/>
            <a:ext cx="21505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lattice dynamics </a:t>
            </a:r>
            <a:r>
              <a:rPr lang="en-US" sz="1400" dirty="0"/>
              <a:t>(alamode)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71D8D36-EB67-8F42-AECC-6B662760226E}"/>
              </a:ext>
            </a:extLst>
          </p:cNvPr>
          <p:cNvSpPr/>
          <p:nvPr/>
        </p:nvSpPr>
        <p:spPr>
          <a:xfrm>
            <a:off x="10660262" y="4024033"/>
            <a:ext cx="13780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repeat unit (cru)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5122614" y="4023918"/>
            <a:ext cx="170591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polymer</a:t>
            </a:r>
            <a:r>
              <a:rPr lang="en-US" sz="1400" dirty="0"/>
              <a:t> (</a:t>
            </a:r>
            <a:r>
              <a:rPr lang="en-US" sz="1400" dirty="0" err="1"/>
              <a:t>polymutils</a:t>
            </a:r>
            <a:r>
              <a:rPr lang="en-US" sz="1400" dirty="0"/>
              <a:t>)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C5A555D-CC5E-A94E-8DED-F96EE7908FCC}"/>
              </a:ext>
            </a:extLst>
          </p:cNvPr>
          <p:cNvSpPr/>
          <p:nvPr/>
        </p:nvSpPr>
        <p:spPr>
          <a:xfrm>
            <a:off x="10631839" y="3175426"/>
            <a:ext cx="10949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crystal (</a:t>
            </a:r>
            <a:r>
              <a:rPr lang="en-US" sz="1400" dirty="0" err="1"/>
              <a:t>xtal</a:t>
            </a:r>
            <a:r>
              <a:rPr lang="en-US" sz="1400" dirty="0"/>
              <a:t>)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46CFAA4-0C05-6F4F-A216-DBF506C1174B}"/>
              </a:ext>
            </a:extLst>
          </p:cNvPr>
          <p:cNvCxnSpPr>
            <a:cxnSpLocks/>
          </p:cNvCxnSpPr>
          <p:nvPr/>
        </p:nvCxnSpPr>
        <p:spPr>
          <a:xfrm>
            <a:off x="11662157" y="2942403"/>
            <a:ext cx="0" cy="99195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AA9D042-11A0-BF4D-955B-55123523712F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0961623" y="3028246"/>
            <a:ext cx="155044" cy="80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6E22CDD-7F14-F240-8AEC-5A0F6FCE377A}"/>
              </a:ext>
            </a:extLst>
          </p:cNvPr>
          <p:cNvCxnSpPr>
            <a:cxnSpLocks/>
          </p:cNvCxnSpPr>
          <p:nvPr/>
        </p:nvCxnSpPr>
        <p:spPr>
          <a:xfrm flipV="1">
            <a:off x="7022424" y="2943128"/>
            <a:ext cx="2779813" cy="1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2AA3572-565C-6C40-9D3B-DE1C4177CA76}"/>
              </a:ext>
            </a:extLst>
          </p:cNvPr>
          <p:cNvCxnSpPr>
            <a:cxnSpLocks/>
          </p:cNvCxnSpPr>
          <p:nvPr/>
        </p:nvCxnSpPr>
        <p:spPr>
          <a:xfrm>
            <a:off x="5753518" y="3100691"/>
            <a:ext cx="32140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A05D77E-A355-3146-98AA-EB39F973CF88}"/>
              </a:ext>
            </a:extLst>
          </p:cNvPr>
          <p:cNvCxnSpPr>
            <a:cxnSpLocks/>
          </p:cNvCxnSpPr>
          <p:nvPr/>
        </p:nvCxnSpPr>
        <p:spPr>
          <a:xfrm flipH="1">
            <a:off x="8969945" y="3102867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D43FA48-BB25-224D-9B8D-633661FA25A1}"/>
              </a:ext>
            </a:extLst>
          </p:cNvPr>
          <p:cNvCxnSpPr>
            <a:cxnSpLocks/>
          </p:cNvCxnSpPr>
          <p:nvPr/>
        </p:nvCxnSpPr>
        <p:spPr>
          <a:xfrm flipH="1">
            <a:off x="5753519" y="3101445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16593C9-BD3F-D54A-A77A-8F4F3F4611D1}"/>
              </a:ext>
            </a:extLst>
          </p:cNvPr>
          <p:cNvCxnSpPr>
            <a:cxnSpLocks/>
          </p:cNvCxnSpPr>
          <p:nvPr/>
        </p:nvCxnSpPr>
        <p:spPr>
          <a:xfrm>
            <a:off x="5753652" y="303723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EC41504-5090-4C48-9AF4-B7B0D8593D95}"/>
              </a:ext>
            </a:extLst>
          </p:cNvPr>
          <p:cNvCxnSpPr>
            <a:cxnSpLocks/>
          </p:cNvCxnSpPr>
          <p:nvPr/>
        </p:nvCxnSpPr>
        <p:spPr>
          <a:xfrm>
            <a:off x="5755449" y="3475537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9352CAF5-651F-5048-87BA-5A5066600BC1}"/>
              </a:ext>
            </a:extLst>
          </p:cNvPr>
          <p:cNvCxnSpPr>
            <a:cxnSpLocks/>
          </p:cNvCxnSpPr>
          <p:nvPr/>
        </p:nvCxnSpPr>
        <p:spPr>
          <a:xfrm flipV="1">
            <a:off x="8970478" y="3474609"/>
            <a:ext cx="0" cy="132163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2407830-64F4-3845-AD18-1B548529DFF6}"/>
              </a:ext>
            </a:extLst>
          </p:cNvPr>
          <p:cNvCxnSpPr>
            <a:cxnSpLocks/>
          </p:cNvCxnSpPr>
          <p:nvPr/>
        </p:nvCxnSpPr>
        <p:spPr>
          <a:xfrm>
            <a:off x="5755449" y="3883629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787EF4C-32B1-B643-AE34-843F0F40DB1F}"/>
              </a:ext>
            </a:extLst>
          </p:cNvPr>
          <p:cNvCxnSpPr>
            <a:cxnSpLocks/>
          </p:cNvCxnSpPr>
          <p:nvPr/>
        </p:nvCxnSpPr>
        <p:spPr>
          <a:xfrm flipH="1">
            <a:off x="11036224" y="2939830"/>
            <a:ext cx="614724" cy="3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99C8DB4-7E47-744F-8660-932C99156543}"/>
              </a:ext>
            </a:extLst>
          </p:cNvPr>
          <p:cNvCxnSpPr>
            <a:cxnSpLocks/>
          </p:cNvCxnSpPr>
          <p:nvPr/>
        </p:nvCxnSpPr>
        <p:spPr>
          <a:xfrm rot="10800000">
            <a:off x="11348792" y="288052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4D483C18-1F8F-9244-9BBB-2BBCC614B764}"/>
              </a:ext>
            </a:extLst>
          </p:cNvPr>
          <p:cNvCxnSpPr>
            <a:cxnSpLocks/>
          </p:cNvCxnSpPr>
          <p:nvPr/>
        </p:nvCxnSpPr>
        <p:spPr>
          <a:xfrm flipH="1">
            <a:off x="4818056" y="2943926"/>
            <a:ext cx="18288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487BFE3C-9842-D04B-ACB0-1F25B1741F54}"/>
              </a:ext>
            </a:extLst>
          </p:cNvPr>
          <p:cNvSpPr/>
          <p:nvPr/>
        </p:nvSpPr>
        <p:spPr>
          <a:xfrm>
            <a:off x="2927284" y="2792914"/>
            <a:ext cx="193764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periodic boundary </a:t>
            </a:r>
            <a:r>
              <a:rPr lang="en-US" sz="1400" dirty="0"/>
              <a:t>(</a:t>
            </a:r>
            <a:r>
              <a:rPr lang="en-US" sz="1400" dirty="0" err="1"/>
              <a:t>pbc</a:t>
            </a:r>
            <a:r>
              <a:rPr lang="en-US" sz="1400" dirty="0"/>
              <a:t>)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16E2E05-1723-254B-A5C5-0A1EFB1AFB8E}"/>
              </a:ext>
            </a:extLst>
          </p:cNvPr>
          <p:cNvCxnSpPr>
            <a:cxnSpLocks/>
          </p:cNvCxnSpPr>
          <p:nvPr/>
        </p:nvCxnSpPr>
        <p:spPr>
          <a:xfrm flipH="1" flipV="1">
            <a:off x="4823805" y="3134868"/>
            <a:ext cx="227042" cy="441816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4465616-3C0B-F84F-BD06-6726580183A5}"/>
              </a:ext>
            </a:extLst>
          </p:cNvPr>
          <p:cNvCxnSpPr>
            <a:cxnSpLocks/>
          </p:cNvCxnSpPr>
          <p:nvPr/>
        </p:nvCxnSpPr>
        <p:spPr>
          <a:xfrm>
            <a:off x="4818712" y="3734027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D8B204B-0E5C-1345-AA7F-09FA32E45388}"/>
              </a:ext>
            </a:extLst>
          </p:cNvPr>
          <p:cNvCxnSpPr>
            <a:cxnSpLocks/>
          </p:cNvCxnSpPr>
          <p:nvPr/>
        </p:nvCxnSpPr>
        <p:spPr>
          <a:xfrm rot="5400000" flipH="1">
            <a:off x="2801503" y="3265697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F5B6C6B-77BF-2D46-AF11-DD5A98A1BEE8}"/>
              </a:ext>
            </a:extLst>
          </p:cNvPr>
          <p:cNvCxnSpPr>
            <a:cxnSpLocks/>
          </p:cNvCxnSpPr>
          <p:nvPr/>
        </p:nvCxnSpPr>
        <p:spPr>
          <a:xfrm>
            <a:off x="3834352" y="3442802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863D30EC-75AE-DB48-A789-645529041543}"/>
              </a:ext>
            </a:extLst>
          </p:cNvPr>
          <p:cNvCxnSpPr>
            <a:cxnSpLocks/>
          </p:cNvCxnSpPr>
          <p:nvPr/>
        </p:nvCxnSpPr>
        <p:spPr>
          <a:xfrm flipV="1">
            <a:off x="2300222" y="3911209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26D2F8B0-4622-0A4F-9A4B-F4E10C812CBE}"/>
              </a:ext>
            </a:extLst>
          </p:cNvPr>
          <p:cNvCxnSpPr>
            <a:cxnSpLocks/>
          </p:cNvCxnSpPr>
          <p:nvPr/>
        </p:nvCxnSpPr>
        <p:spPr>
          <a:xfrm>
            <a:off x="2297963" y="3847315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92103E0-538F-8740-ACCE-50AE8E86A307}"/>
              </a:ext>
            </a:extLst>
          </p:cNvPr>
          <p:cNvCxnSpPr>
            <a:cxnSpLocks/>
          </p:cNvCxnSpPr>
          <p:nvPr/>
        </p:nvCxnSpPr>
        <p:spPr>
          <a:xfrm>
            <a:off x="3694717" y="3848912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2389CDCD-2A0F-7446-A057-6D7CD85E96D3}"/>
              </a:ext>
            </a:extLst>
          </p:cNvPr>
          <p:cNvCxnSpPr>
            <a:cxnSpLocks/>
          </p:cNvCxnSpPr>
          <p:nvPr/>
        </p:nvCxnSpPr>
        <p:spPr>
          <a:xfrm flipH="1">
            <a:off x="3033988" y="3919548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BBC04413-B122-424A-98CB-2738BDCD98A5}"/>
              </a:ext>
            </a:extLst>
          </p:cNvPr>
          <p:cNvCxnSpPr>
            <a:cxnSpLocks/>
          </p:cNvCxnSpPr>
          <p:nvPr/>
        </p:nvCxnSpPr>
        <p:spPr>
          <a:xfrm flipV="1">
            <a:off x="5733211" y="4429222"/>
            <a:ext cx="5911221" cy="529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8CEC2352-7ADD-084E-9201-68F2683BF456}"/>
              </a:ext>
            </a:extLst>
          </p:cNvPr>
          <p:cNvCxnSpPr>
            <a:cxnSpLocks/>
          </p:cNvCxnSpPr>
          <p:nvPr/>
        </p:nvCxnSpPr>
        <p:spPr>
          <a:xfrm rot="10800000" flipH="1">
            <a:off x="5738999" y="432479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804B306D-3C6C-E14D-ADC9-87222D1FE697}"/>
              </a:ext>
            </a:extLst>
          </p:cNvPr>
          <p:cNvCxnSpPr>
            <a:cxnSpLocks/>
          </p:cNvCxnSpPr>
          <p:nvPr/>
        </p:nvCxnSpPr>
        <p:spPr>
          <a:xfrm>
            <a:off x="11643384" y="4364964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76EDBEAF-BFA8-5E4F-ADCF-30ABEFD041B1}"/>
              </a:ext>
            </a:extLst>
          </p:cNvPr>
          <p:cNvCxnSpPr>
            <a:cxnSpLocks/>
          </p:cNvCxnSpPr>
          <p:nvPr/>
        </p:nvCxnSpPr>
        <p:spPr>
          <a:xfrm>
            <a:off x="5761335" y="2680813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FAF853E5-5DFC-924C-8AB5-A14F1AA0285D}"/>
              </a:ext>
            </a:extLst>
          </p:cNvPr>
          <p:cNvCxnSpPr>
            <a:cxnSpLocks/>
          </p:cNvCxnSpPr>
          <p:nvPr/>
        </p:nvCxnSpPr>
        <p:spPr>
          <a:xfrm>
            <a:off x="517759" y="3883629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CFFB3B7-1DB0-A747-A172-6D7B9432BDEB}"/>
              </a:ext>
            </a:extLst>
          </p:cNvPr>
          <p:cNvCxnSpPr>
            <a:cxnSpLocks/>
          </p:cNvCxnSpPr>
          <p:nvPr/>
        </p:nvCxnSpPr>
        <p:spPr>
          <a:xfrm flipV="1">
            <a:off x="844068" y="4389097"/>
            <a:ext cx="21899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6B2D0D5-9DBB-B44B-8060-FE0E318C9654}"/>
              </a:ext>
            </a:extLst>
          </p:cNvPr>
          <p:cNvCxnSpPr>
            <a:cxnSpLocks/>
          </p:cNvCxnSpPr>
          <p:nvPr/>
        </p:nvCxnSpPr>
        <p:spPr>
          <a:xfrm>
            <a:off x="846160" y="4325203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21CFDB8-D8BC-2746-97BD-5F5182703EA9}"/>
              </a:ext>
            </a:extLst>
          </p:cNvPr>
          <p:cNvCxnSpPr>
            <a:cxnSpLocks/>
          </p:cNvCxnSpPr>
          <p:nvPr/>
        </p:nvCxnSpPr>
        <p:spPr>
          <a:xfrm>
            <a:off x="3027461" y="4326800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FBC568E4-D3FE-944D-AADA-3D6387EE32E1}"/>
              </a:ext>
            </a:extLst>
          </p:cNvPr>
          <p:cNvCxnSpPr>
            <a:cxnSpLocks/>
          </p:cNvCxnSpPr>
          <p:nvPr/>
        </p:nvCxnSpPr>
        <p:spPr>
          <a:xfrm flipH="1">
            <a:off x="2366732" y="4397436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9776715-11C0-E04B-AE15-C76F468277A0}"/>
              </a:ext>
            </a:extLst>
          </p:cNvPr>
          <p:cNvCxnSpPr>
            <a:cxnSpLocks/>
          </p:cNvCxnSpPr>
          <p:nvPr/>
        </p:nvCxnSpPr>
        <p:spPr>
          <a:xfrm>
            <a:off x="517759" y="4327311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ight Brace 187">
            <a:extLst>
              <a:ext uri="{FF2B5EF4-FFF2-40B4-BE49-F238E27FC236}">
                <a16:creationId xmlns:a16="http://schemas.microsoft.com/office/drawing/2014/main" id="{2AD21062-89EE-8445-9785-95F254917562}"/>
              </a:ext>
            </a:extLst>
          </p:cNvPr>
          <p:cNvSpPr/>
          <p:nvPr/>
        </p:nvSpPr>
        <p:spPr>
          <a:xfrm rot="5400000">
            <a:off x="462597" y="3375271"/>
            <a:ext cx="109728" cy="384048"/>
          </a:xfrm>
          <a:prstGeom prst="rightBrac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94BA0BCE-13B0-3B49-9236-2762330307DA}"/>
              </a:ext>
            </a:extLst>
          </p:cNvPr>
          <p:cNvCxnSpPr>
            <a:cxnSpLocks/>
          </p:cNvCxnSpPr>
          <p:nvPr/>
        </p:nvCxnSpPr>
        <p:spPr>
          <a:xfrm rot="5400000" flipH="1">
            <a:off x="3787525" y="4584146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174533" y="1094839"/>
            <a:ext cx="2121299" cy="811220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job registration (</a:t>
            </a:r>
            <a:r>
              <a:rPr lang="en-US" sz="1400" dirty="0" err="1">
                <a:solidFill>
                  <a:schemeClr val="tx1"/>
                </a:solidFill>
              </a:rPr>
              <a:t>jobutils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file logger  (</a:t>
            </a:r>
            <a:r>
              <a:rPr lang="en-US" sz="1400" dirty="0" err="1">
                <a:solidFill>
                  <a:schemeClr val="tx1"/>
                </a:solidFill>
              </a:rPr>
              <a:t>logutils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052820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CE968C9-6FC5-1E4B-9762-7625B1E7D3F7}"/>
              </a:ext>
            </a:extLst>
          </p:cNvPr>
          <p:cNvSpPr/>
          <p:nvPr/>
        </p:nvSpPr>
        <p:spPr>
          <a:xfrm>
            <a:off x="168928" y="5812557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  amorphous builder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trajectory analysis (</a:t>
            </a:r>
            <a:r>
              <a:rPr lang="en-US" sz="1400" dirty="0" err="1">
                <a:solidFill>
                  <a:schemeClr val="tx1"/>
                </a:solidFill>
              </a:rPr>
              <a:t>ab_lmp_traj</a:t>
            </a:r>
            <a:r>
              <a:rPr lang="en-US" sz="1400" dirty="0">
                <a:solidFill>
                  <a:schemeClr val="tx1"/>
                </a:solidFill>
              </a:rPr>
              <a:t>)      crystal builder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molecular dynamics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cb_lmp_log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molecule builder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mb_lmp_log</a:t>
            </a:r>
            <a:r>
              <a:rPr lang="en-US" sz="1400" dirty="0">
                <a:solidFill>
                  <a:schemeClr val="tx1"/>
                </a:solidFill>
              </a:rPr>
              <a:t>)                run command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check results       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update tags (</a:t>
            </a:r>
            <a:r>
              <a:rPr lang="en-US" sz="1400" dirty="0">
                <a:solidFill>
                  <a:schemeClr val="tx1"/>
                </a:solidFill>
              </a:rPr>
              <a:t>test)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167366" y="2023348"/>
            <a:ext cx="22728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application focused modules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9454E4D4-B96B-EC4C-866B-39A872CA4C49}"/>
              </a:ext>
            </a:extLst>
          </p:cNvPr>
          <p:cNvSpPr txBox="1"/>
          <p:nvPr/>
        </p:nvSpPr>
        <p:spPr>
          <a:xfrm>
            <a:off x="177582" y="5062172"/>
            <a:ext cx="118441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C000"/>
                </a:solidFill>
              </a:rPr>
              <a:t>    Builder          </a:t>
            </a:r>
            <a:r>
              <a:rPr lang="en-US" sz="1400" dirty="0"/>
              <a:t>:</a:t>
            </a:r>
            <a:r>
              <a:rPr lang="en-US" sz="1400" dirty="0">
                <a:solidFill>
                  <a:srgbClr val="FFC000"/>
                </a:solidFill>
              </a:rPr>
              <a:t>  </a:t>
            </a:r>
            <a:r>
              <a:rPr lang="en-US" sz="1400" dirty="0"/>
              <a:t>molecule (</a:t>
            </a:r>
            <a:r>
              <a:rPr lang="en-US" sz="1400" dirty="0" err="1"/>
              <a:t>mol_bldr</a:t>
            </a:r>
            <a:r>
              <a:rPr lang="en-US" sz="1400" dirty="0"/>
              <a:t>), amorphous (</a:t>
            </a:r>
            <a:r>
              <a:rPr lang="en-US" sz="1400" dirty="0" err="1"/>
              <a:t>amorp_bldr</a:t>
            </a:r>
            <a:r>
              <a:rPr lang="en-US" sz="1400" dirty="0"/>
              <a:t>), and crystal (</a:t>
            </a:r>
            <a:r>
              <a:rPr lang="en-US" sz="1400" dirty="0" err="1"/>
              <a:t>xtal_bldr</a:t>
            </a:r>
            <a:r>
              <a:rPr lang="en-US" sz="1400" dirty="0"/>
              <a:t>)                    </a:t>
            </a:r>
            <a:r>
              <a:rPr lang="en-US" sz="1400" dirty="0">
                <a:solidFill>
                  <a:srgbClr val="FFC000"/>
                </a:solidFill>
              </a:rPr>
              <a:t>Molecular Dynamics</a:t>
            </a:r>
            <a:r>
              <a:rPr lang="en-US" sz="1400" dirty="0"/>
              <a:t>: LAMMPS runner (</a:t>
            </a:r>
            <a:r>
              <a:rPr lang="en-US" sz="1400" dirty="0" err="1"/>
              <a:t>lammps</a:t>
            </a:r>
            <a:r>
              <a:rPr lang="en-US" sz="1400" dirty="0"/>
              <a:t>) </a:t>
            </a:r>
          </a:p>
          <a:p>
            <a:r>
              <a:rPr lang="en-US" sz="1400" dirty="0">
                <a:solidFill>
                  <a:srgbClr val="FFC000"/>
                </a:solidFill>
              </a:rPr>
              <a:t>    Solid Physics</a:t>
            </a:r>
            <a:r>
              <a:rPr lang="en-US" sz="1400" dirty="0"/>
              <a:t>:  reciprocal space (</a:t>
            </a:r>
            <a:r>
              <a:rPr lang="en-US" sz="1400" dirty="0" err="1"/>
              <a:t>recip_sp</a:t>
            </a:r>
            <a:r>
              <a:rPr lang="en-US" sz="1400" dirty="0"/>
              <a:t>), phonon dispersion (dispersion)                                        </a:t>
            </a:r>
            <a:r>
              <a:rPr lang="en-US" sz="1400" dirty="0">
                <a:solidFill>
                  <a:srgbClr val="FFC000"/>
                </a:solidFill>
              </a:rPr>
              <a:t>MD Post Analysis      </a:t>
            </a:r>
            <a:r>
              <a:rPr lang="en-US" sz="1400" dirty="0"/>
              <a:t>: log (</a:t>
            </a:r>
            <a:r>
              <a:rPr lang="en-US" sz="1400" dirty="0" err="1"/>
              <a:t>lmp_log</a:t>
            </a:r>
            <a:r>
              <a:rPr lang="en-US" sz="1400" dirty="0"/>
              <a:t>), trajectory (</a:t>
            </a:r>
            <a:r>
              <a:rPr lang="en-US" sz="1400" dirty="0" err="1"/>
              <a:t>lmp_traj</a:t>
            </a:r>
            <a:r>
              <a:rPr lang="en-US" sz="1400" dirty="0"/>
              <a:t>) </a:t>
            </a:r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188493AA-597F-2245-87B7-66A8DF2F8141}"/>
              </a:ext>
            </a:extLst>
          </p:cNvPr>
          <p:cNvCxnSpPr>
            <a:cxnSpLocks/>
          </p:cNvCxnSpPr>
          <p:nvPr/>
        </p:nvCxnSpPr>
        <p:spPr>
          <a:xfrm flipH="1">
            <a:off x="382064" y="2664294"/>
            <a:ext cx="32027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>
            <a:extLst>
              <a:ext uri="{FF2B5EF4-FFF2-40B4-BE49-F238E27FC236}">
                <a16:creationId xmlns:a16="http://schemas.microsoft.com/office/drawing/2014/main" id="{AC065B8D-6EE4-7242-B8A1-7CF52619B1D4}"/>
              </a:ext>
            </a:extLst>
          </p:cNvPr>
          <p:cNvSpPr/>
          <p:nvPr/>
        </p:nvSpPr>
        <p:spPr>
          <a:xfrm>
            <a:off x="177583" y="2298292"/>
            <a:ext cx="2349696" cy="899717"/>
          </a:xfrm>
          <a:prstGeom prst="roundRect">
            <a:avLst>
              <a:gd name="adj" fmla="val 18575"/>
            </a:avLst>
          </a:prstGeom>
          <a:noFill/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seeds in </a:t>
            </a:r>
            <a:r>
              <a:rPr lang="en-US" sz="1200" dirty="0">
                <a:solidFill>
                  <a:schemeClr val="accent5"/>
                </a:solidFill>
              </a:rPr>
              <a:t>light blue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        indicates dependence</a:t>
            </a:r>
          </a:p>
          <a:p>
            <a:r>
              <a:rPr lang="en-US" sz="1200" dirty="0">
                <a:solidFill>
                  <a:schemeClr val="tx1"/>
                </a:solidFill>
              </a:rPr>
              <a:t>(linear, branching, and merging)</a:t>
            </a:r>
          </a:p>
          <a:p>
            <a:r>
              <a:rPr lang="en-US" sz="1200" dirty="0">
                <a:solidFill>
                  <a:schemeClr val="tx1"/>
                </a:solidFill>
              </a:rPr>
              <a:t>centers and terminators in </a:t>
            </a:r>
            <a:r>
              <a:rPr lang="en-US" sz="1200" dirty="0">
                <a:solidFill>
                  <a:srgbClr val="7030A0"/>
                </a:solidFill>
              </a:rPr>
              <a:t>purple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45B989-0AE6-8747-BC26-178C31EAAFD3}"/>
              </a:ext>
            </a:extLst>
          </p:cNvPr>
          <p:cNvSpPr/>
          <p:nvPr/>
        </p:nvSpPr>
        <p:spPr>
          <a:xfrm>
            <a:off x="8585339" y="3579975"/>
            <a:ext cx="16805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executable</a:t>
            </a:r>
            <a:r>
              <a:rPr lang="en-US" sz="1400" dirty="0"/>
              <a:t> (process)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353800" y="5056743"/>
            <a:ext cx="62703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1113616" y="5819324"/>
            <a:ext cx="8930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561609" y="281112"/>
            <a:ext cx="15632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module/</a:t>
            </a:r>
            <a:r>
              <a:rPr lang="en-US" b="1" dirty="0" err="1">
                <a:solidFill>
                  <a:srgbClr val="7030A0"/>
                </a:solidFill>
              </a:rPr>
              <a:t>nemd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D6BA2C4-480D-39D7-BEAA-99FFCBF58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7</a:t>
            </a:fld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6A8EA30-F965-B30B-AF61-C30FFF446AD8}"/>
              </a:ext>
            </a:extLst>
          </p:cNvPr>
          <p:cNvSpPr/>
          <p:nvPr/>
        </p:nvSpPr>
        <p:spPr>
          <a:xfrm>
            <a:off x="2522886" y="1095770"/>
            <a:ext cx="7318721" cy="805747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4" rtlCol="0" anchor="ctr"/>
          <a:lstStyle/>
          <a:p>
            <a:r>
              <a:rPr lang="en-US" sz="1400" dirty="0" err="1">
                <a:solidFill>
                  <a:schemeClr val="tx1"/>
                </a:solidFill>
              </a:rPr>
              <a:t>builtins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builtinsutils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system (</a:t>
            </a:r>
            <a:r>
              <a:rPr lang="en-US" sz="1400" dirty="0" err="1">
                <a:solidFill>
                  <a:schemeClr val="tx1"/>
                </a:solidFill>
              </a:rPr>
              <a:t>osutils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process (</a:t>
            </a:r>
            <a:r>
              <a:rPr lang="en-US" sz="1400" dirty="0" err="1">
                <a:solidFill>
                  <a:schemeClr val="tx1"/>
                </a:solidFill>
              </a:rPr>
              <a:t>psutils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time (</a:t>
            </a:r>
            <a:r>
              <a:rPr lang="en-US" sz="1400" dirty="0" err="1">
                <a:solidFill>
                  <a:schemeClr val="tx1"/>
                </a:solidFill>
              </a:rPr>
              <a:t>timeutils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environment (</a:t>
            </a:r>
            <a:r>
              <a:rPr lang="en-US" sz="1400" dirty="0" err="1">
                <a:solidFill>
                  <a:schemeClr val="tx1"/>
                </a:solidFill>
              </a:rPr>
              <a:t>envutils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constants (constants)</a:t>
            </a:r>
          </a:p>
          <a:p>
            <a:r>
              <a:rPr lang="en-US" sz="1400" dirty="0">
                <a:solidFill>
                  <a:schemeClr val="tx1"/>
                </a:solidFill>
              </a:rPr>
              <a:t>hardcoded (symbols)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numba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numbautils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numpy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numpyutils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rdkit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rdkitutils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points (geometry)</a:t>
            </a:r>
          </a:p>
          <a:p>
            <a:r>
              <a:rPr lang="en-US" sz="1400" dirty="0">
                <a:solidFill>
                  <a:schemeClr val="tx1"/>
                </a:solidFill>
              </a:rPr>
              <a:t>matplotlib (</a:t>
            </a:r>
            <a:r>
              <a:rPr lang="en-US" sz="1400" dirty="0" err="1">
                <a:solidFill>
                  <a:schemeClr val="tx1"/>
                </a:solidFill>
              </a:rPr>
              <a:t>plotutils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E35E9EB-CECE-0C13-FEBA-5B9120FA4B47}"/>
              </a:ext>
            </a:extLst>
          </p:cNvPr>
          <p:cNvSpPr/>
          <p:nvPr/>
        </p:nvSpPr>
        <p:spPr>
          <a:xfrm>
            <a:off x="5128787" y="4491442"/>
            <a:ext cx="11673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check (check)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4228E6F-5DA8-39DA-7A39-4FE60A50F28E}"/>
              </a:ext>
            </a:extLst>
          </p:cNvPr>
          <p:cNvCxnSpPr>
            <a:cxnSpLocks/>
          </p:cNvCxnSpPr>
          <p:nvPr/>
        </p:nvCxnSpPr>
        <p:spPr>
          <a:xfrm rot="5400000" flipH="1">
            <a:off x="5066907" y="459503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2289477"/>
            <a:ext cx="11860396" cy="2525972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942C55-FDA0-8FD1-FDFA-42C5E8A60CDB}"/>
              </a:ext>
            </a:extLst>
          </p:cNvPr>
          <p:cNvCxnSpPr>
            <a:cxnSpLocks/>
          </p:cNvCxnSpPr>
          <p:nvPr/>
        </p:nvCxnSpPr>
        <p:spPr>
          <a:xfrm>
            <a:off x="7572802" y="2510949"/>
            <a:ext cx="150422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A14FECF-B262-A4D6-7A52-2EC0E71A70C7}"/>
              </a:ext>
            </a:extLst>
          </p:cNvPr>
          <p:cNvCxnSpPr>
            <a:cxnSpLocks/>
          </p:cNvCxnSpPr>
          <p:nvPr/>
        </p:nvCxnSpPr>
        <p:spPr>
          <a:xfrm flipV="1">
            <a:off x="5107967" y="2679623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BF1135A-49DB-43A7-1097-2185A561C68F}"/>
              </a:ext>
            </a:extLst>
          </p:cNvPr>
          <p:cNvCxnSpPr>
            <a:cxnSpLocks/>
          </p:cNvCxnSpPr>
          <p:nvPr/>
        </p:nvCxnSpPr>
        <p:spPr>
          <a:xfrm>
            <a:off x="5111494" y="2615729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CA2648C-C1AC-D5E0-5CAB-B309CAC4DF3D}"/>
              </a:ext>
            </a:extLst>
          </p:cNvPr>
          <p:cNvCxnSpPr>
            <a:cxnSpLocks/>
          </p:cNvCxnSpPr>
          <p:nvPr/>
        </p:nvCxnSpPr>
        <p:spPr>
          <a:xfrm>
            <a:off x="6508248" y="261732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3F9C1E3-D35B-9A1D-D341-F75B46512ADE}"/>
              </a:ext>
            </a:extLst>
          </p:cNvPr>
          <p:cNvCxnSpPr>
            <a:cxnSpLocks/>
          </p:cNvCxnSpPr>
          <p:nvPr/>
        </p:nvCxnSpPr>
        <p:spPr>
          <a:xfrm rot="5400000" flipH="1">
            <a:off x="10570353" y="326795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089F3599-5F63-4826-A4D3-00BAEEF5F2DA}"/>
              </a:ext>
            </a:extLst>
          </p:cNvPr>
          <p:cNvSpPr txBox="1"/>
          <p:nvPr/>
        </p:nvSpPr>
        <p:spPr>
          <a:xfrm>
            <a:off x="7138589" y="3176770"/>
            <a:ext cx="13613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type &amp; assign</a:t>
            </a:r>
          </a:p>
          <a:p>
            <a:pPr algn="ctr"/>
            <a:r>
              <a:rPr lang="en-US" sz="1400" dirty="0"/>
              <a:t>(</a:t>
            </a:r>
            <a:r>
              <a:rPr lang="en-US" sz="1400" dirty="0" err="1"/>
              <a:t>oplsua</a:t>
            </a:r>
            <a:r>
              <a:rPr lang="en-US" sz="1400" dirty="0"/>
              <a:t>)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5BA1D52-21BC-87F4-16EA-CFFF96D321E4}"/>
              </a:ext>
            </a:extLst>
          </p:cNvPr>
          <p:cNvCxnSpPr>
            <a:cxnSpLocks/>
          </p:cNvCxnSpPr>
          <p:nvPr/>
        </p:nvCxnSpPr>
        <p:spPr>
          <a:xfrm flipH="1">
            <a:off x="6793889" y="3320262"/>
            <a:ext cx="347266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EBF6F02-8466-A426-51D1-E6B4089706B6}"/>
              </a:ext>
            </a:extLst>
          </p:cNvPr>
          <p:cNvCxnSpPr>
            <a:cxnSpLocks/>
          </p:cNvCxnSpPr>
          <p:nvPr/>
        </p:nvCxnSpPr>
        <p:spPr>
          <a:xfrm>
            <a:off x="6705411" y="1536732"/>
            <a:ext cx="0" cy="13716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4260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449F4-3DDE-4B4C-842B-03C52EF72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4025"/>
          </a:xfrm>
        </p:spPr>
        <p:txBody>
          <a:bodyPr numCol="1"/>
          <a:lstStyle/>
          <a:p>
            <a:r>
              <a:rPr lang="en-US" dirty="0"/>
              <a:t>Environmental Configuration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4C6832-51B5-864C-A5B6-0C3040F3C4AC}"/>
              </a:ext>
            </a:extLst>
          </p:cNvPr>
          <p:cNvSpPr/>
          <p:nvPr/>
        </p:nvSpPr>
        <p:spPr>
          <a:xfrm>
            <a:off x="429485" y="1963691"/>
            <a:ext cx="11206992" cy="4524315"/>
          </a:xfrm>
          <a:prstGeom prst="rect">
            <a:avLst/>
          </a:prstGeom>
        </p:spPr>
        <p:txBody>
          <a:bodyPr wrap="square" numCol="2">
            <a:spAutoFit/>
          </a:bodyPr>
          <a:lstStyle/>
          <a:p>
            <a:r>
              <a:rPr lang="en-US" sz="1200" dirty="0"/>
              <a:t># /bin/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/>
              <a:t>: '</a:t>
            </a:r>
            <a:br>
              <a:rPr lang="en-US" sz="1200" dirty="0"/>
            </a:br>
            <a:r>
              <a:rPr lang="en-US" sz="1200" dirty="0"/>
              <a:t>Set up the environment for the module, </a:t>
            </a:r>
            <a:r>
              <a:rPr lang="en-US" sz="1200" dirty="0" err="1"/>
              <a:t>sh</a:t>
            </a:r>
            <a:r>
              <a:rPr lang="en-US" sz="1200" dirty="0"/>
              <a:t>, driver, workflow, and submodule directories.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Usage:</a:t>
            </a:r>
            <a:br>
              <a:rPr lang="en-US" sz="1200" dirty="0"/>
            </a:br>
            <a:r>
              <a:rPr lang="en-US" sz="1200" dirty="0"/>
              <a:t>  .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  source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‘</a:t>
            </a:r>
          </a:p>
          <a:p>
            <a:br>
              <a:rPr lang="en-US" sz="1200" dirty="0"/>
            </a:br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Shell Type and Root Directory</a:t>
            </a:r>
            <a:br>
              <a:rPr lang="en-US" sz="1200" dirty="0"/>
            </a:br>
            <a:r>
              <a:rPr lang="en-US" sz="1200" dirty="0"/>
              <a:t>if [ $(</a:t>
            </a:r>
            <a:r>
              <a:rPr lang="en-US" sz="1200" dirty="0" err="1"/>
              <a:t>basename</a:t>
            </a:r>
            <a:r>
              <a:rPr lang="en-US" sz="1200" dirty="0"/>
              <a:t> $0) = '</a:t>
            </a:r>
            <a:r>
              <a:rPr lang="en-US" sz="1200" dirty="0" err="1"/>
              <a:t>premake</a:t>
            </a:r>
            <a:r>
              <a:rPr lang="en-US" sz="1200" dirty="0"/>
              <a:t>' ]</a:t>
            </a:r>
            <a:br>
              <a:rPr lang="en-US" sz="1200" dirty="0"/>
            </a:br>
            <a:r>
              <a:rPr lang="en-US" sz="1200" dirty="0"/>
              <a:t>then</a:t>
            </a:r>
            <a:br>
              <a:rPr lang="en-US" sz="1200" dirty="0"/>
            </a:br>
            <a:r>
              <a:rPr lang="en-US" sz="1200" dirty="0"/>
              <a:t>  NEMD_SRC="$0" &amp;&amp; echo "</a:t>
            </a:r>
            <a:r>
              <a:rPr lang="en-US" sz="1200" dirty="0" err="1"/>
              <a:t>zsh</a:t>
            </a:r>
            <a:r>
              <a:rPr lang="en-US" sz="1200" dirty="0"/>
              <a:t>"</a:t>
            </a:r>
            <a:br>
              <a:rPr lang="en-US" sz="1200" dirty="0"/>
            </a:br>
            <a:r>
              <a:rPr lang="en-US" sz="1200" dirty="0" err="1"/>
              <a:t>elif</a:t>
            </a:r>
            <a:r>
              <a:rPr lang="en-US" sz="1200" dirty="0"/>
              <a:t> [ $BASH_SOURCE ]</a:t>
            </a:r>
            <a:br>
              <a:rPr lang="en-US" sz="1200" dirty="0"/>
            </a:br>
            <a:r>
              <a:rPr lang="en-US" sz="1200" dirty="0"/>
              <a:t>  then</a:t>
            </a:r>
            <a:br>
              <a:rPr lang="en-US" sz="1200" dirty="0"/>
            </a:br>
            <a:r>
              <a:rPr lang="en-US" sz="1200" dirty="0"/>
              <a:t>  NEMD_SRC=${BASH_SOURCE[0]} &amp;&amp; echo "POSIX"</a:t>
            </a:r>
            <a:br>
              <a:rPr lang="en-US" sz="1200" dirty="0"/>
            </a:br>
            <a:r>
              <a:rPr lang="en-US" sz="1200" dirty="0"/>
              <a:t>else</a:t>
            </a:r>
            <a:br>
              <a:rPr lang="en-US" sz="1200" dirty="0"/>
            </a:br>
            <a:r>
              <a:rPr lang="en-US" sz="1200" dirty="0"/>
              <a:t>  x="$(</a:t>
            </a:r>
            <a:r>
              <a:rPr lang="en-US" sz="1200" dirty="0" err="1"/>
              <a:t>lsof</a:t>
            </a:r>
            <a:r>
              <a:rPr lang="en-US" sz="1200" dirty="0"/>
              <a:t> -p $$ -Fn0 | tail -1 | tr -d "\0")" &amp;&amp; NEMD_SRC=${x#*n} &amp;&amp; echo "dash"</a:t>
            </a:r>
            <a:br>
              <a:rPr lang="en-US" sz="1200" dirty="0"/>
            </a:br>
            <a:r>
              <a:rPr lang="en-US" sz="1200" dirty="0"/>
              <a:t>fi</a:t>
            </a:r>
            <a:br>
              <a:rPr lang="en-US" sz="1200" dirty="0"/>
            </a:br>
            <a:r>
              <a:rPr lang="en-US" sz="1200" dirty="0"/>
              <a:t>[ ! -f $NEMD_SRC ] &amp;&amp; echo "Cannot locate the source root" &amp;&amp; return</a:t>
            </a:r>
            <a:br>
              <a:rPr lang="en-US" sz="1200" dirty="0"/>
            </a:br>
            <a:r>
              <a:rPr lang="en-US" sz="1200" dirty="0"/>
              <a:t>NEMD_SRC="$(</a:t>
            </a:r>
            <a:r>
              <a:rPr lang="en-US" sz="1200" dirty="0" err="1"/>
              <a:t>readlink</a:t>
            </a:r>
            <a:r>
              <a:rPr lang="en-US" sz="1200" dirty="0"/>
              <a:t> -f ${NEMD_SRC} | </a:t>
            </a:r>
            <a:r>
              <a:rPr lang="en-US" sz="1200" dirty="0" err="1"/>
              <a:t>xargs</a:t>
            </a:r>
            <a:r>
              <a:rPr lang="en-US" sz="1200" dirty="0"/>
              <a:t> </a:t>
            </a:r>
            <a:r>
              <a:rPr lang="en-US" sz="1200" dirty="0" err="1"/>
              <a:t>dirname</a:t>
            </a:r>
            <a:r>
              <a:rPr lang="en-US" sz="1200" dirty="0"/>
              <a:t>)" &amp;&amp; echo $NEMD_SRC</a:t>
            </a:r>
            <a:br>
              <a:rPr lang="en-US" sz="1200" dirty="0"/>
            </a:br>
            <a:endParaRPr lang="en-US" sz="1200" dirty="0"/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Module: NEMD, LAMMPS, and ALAMODE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() {</a:t>
            </a:r>
            <a:br>
              <a:rPr lang="en-US" sz="1200" dirty="0"/>
            </a:br>
            <a:r>
              <a:rPr lang="en-US" sz="1200" dirty="0"/>
              <a:t>  [ -d "$1" ] &amp;&amp; echo $PYTHONPATH | grep -q "$1" &amp;&amp; return</a:t>
            </a:r>
            <a:br>
              <a:rPr lang="en-US" sz="1200" dirty="0"/>
            </a:br>
            <a:r>
              <a:rPr lang="en-US" sz="1200" dirty="0"/>
              <a:t>  export PYTHONPATH="$1${PYTHONPATH:+":$PYTHONPATH"}"</a:t>
            </a:r>
            <a:br>
              <a:rPr lang="en-US" sz="1200" dirty="0"/>
            </a:br>
            <a:r>
              <a:rPr lang="en-US" sz="1200" dirty="0"/>
              <a:t>  }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 $NEMD_SRC/module</a:t>
            </a:r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Script: Shell, Workflow, Driver, and Submodule</a:t>
            </a:r>
            <a:br>
              <a:rPr lang="en-US" sz="1200" dirty="0"/>
            </a:br>
            <a:r>
              <a:rPr lang="en-US" sz="1200" dirty="0"/>
              <a:t>path() {</a:t>
            </a:r>
          </a:p>
          <a:p>
            <a:r>
              <a:rPr lang="en-US" sz="1200" dirty="0"/>
              <a:t>  [ -d "$1" ] &amp;&amp; echo $PATH | grep -q "$1”  || export PATH="$1${PATH:+":$PATH"}”</a:t>
            </a:r>
          </a:p>
          <a:p>
            <a:r>
              <a:rPr lang="en-US" sz="1200" dirty="0"/>
              <a:t>}</a:t>
            </a:r>
            <a:br>
              <a:rPr lang="en-US" sz="1200" dirty="0">
                <a:solidFill>
                  <a:srgbClr val="BCBEC4"/>
                </a:solidFill>
                <a:effectLst/>
              </a:rPr>
            </a:br>
            <a:r>
              <a:rPr lang="en-US" sz="1200" dirty="0" err="1"/>
              <a:t>add_path</a:t>
            </a:r>
            <a:r>
              <a:rPr lang="en-US" sz="1200" dirty="0"/>
              <a:t> $NEMD_SRC/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$NEMD_SRC/driver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$NEMD_SRC/workflow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$NEMD_SRC/module/alamode/alamode/tools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A906C4-08E1-5E4D-8799-D5E0343C01EC}"/>
              </a:ext>
            </a:extLst>
          </p:cNvPr>
          <p:cNvSpPr/>
          <p:nvPr/>
        </p:nvSpPr>
        <p:spPr>
          <a:xfrm>
            <a:off x="391943" y="1326363"/>
            <a:ext cx="858904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sets the environment in which source code instead of installation is used.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60B5E4-2BCF-9370-AE1C-FF1FE561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671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7CC5E-1BED-C24D-BC13-D096C522B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26673" cy="1325563"/>
          </a:xfrm>
        </p:spPr>
        <p:txBody>
          <a:bodyPr/>
          <a:lstStyle/>
          <a:p>
            <a:r>
              <a:rPr lang="en-US" dirty="0"/>
              <a:t>Testing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74C8347-FFFA-AD4D-840F-167C914D0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4171664"/>
              </p:ext>
            </p:extLst>
          </p:nvPr>
        </p:nvGraphicFramePr>
        <p:xfrm>
          <a:off x="404453" y="1591570"/>
          <a:ext cx="11383094" cy="47640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81497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1631950">
                  <a:extLst>
                    <a:ext uri="{9D8B030D-6E8A-4147-A177-3AD203B41FA5}">
                      <a16:colId xmlns:a16="http://schemas.microsoft.com/office/drawing/2014/main" val="819792391"/>
                    </a:ext>
                  </a:extLst>
                </a:gridCol>
                <a:gridCol w="4827348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  <a:gridCol w="3442299">
                  <a:extLst>
                    <a:ext uri="{9D8B030D-6E8A-4147-A177-3AD203B41FA5}">
                      <a16:colId xmlns:a16="http://schemas.microsoft.com/office/drawing/2014/main" val="1365888191"/>
                    </a:ext>
                  </a:extLst>
                </a:gridCol>
              </a:tblGrid>
              <a:tr h="548783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Command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Location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Description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Goal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823174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source </a:t>
                      </a:r>
                      <a:r>
                        <a:rPr lang="en-US" sz="1400" dirty="0" err="1"/>
                        <a:t>premake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premake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Environmental configuration allows additional utilities, strongly recommended when opening a new shell.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Use the source code instead of the installation.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test/unit/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Unit testing </a:t>
                      </a:r>
                      <a:r>
                        <a:rPr lang="en-US" sz="1400" dirty="0"/>
                        <a:t>makes sure that functions and methods are operating as expected. (Bug-free for every piece)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Free of bugs when parameterizing every piece of the code.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nemd_itest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test/integration/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</a:rPr>
                        <a:t>Integration testing</a:t>
                      </a:r>
                      <a:r>
                        <a:rPr lang="en-US" sz="1400" kern="1200" dirty="0">
                          <a:effectLst/>
                        </a:rPr>
                        <a:t> </a:t>
                      </a:r>
                      <a:r>
                        <a:rPr lang="en-US" sz="1400" dirty="0"/>
                        <a:t>makes sure that scripts run without tracebacks and yield reproducible results. 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Expected behavior and accuracy when driver and workflow combines pieces.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220872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nemd_ptest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test/performance/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>
                          <a:solidFill>
                            <a:schemeClr val="accent1"/>
                          </a:solidFill>
                        </a:rPr>
                        <a:t>Performance testing </a:t>
                      </a:r>
                      <a:r>
                        <a:rPr 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evaluates the speed, responsiveness and stability for bottleneck identification and nullification. 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Resource efficiency on scaling up.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558671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nemd_stest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test/scientific/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Scientific testing </a:t>
                      </a:r>
                      <a:r>
                        <a:rPr lang="en-US" sz="1400" dirty="0"/>
                        <a:t>ensures the repeatability, correctness and </a:t>
                      </a:r>
                      <a:r>
                        <a:rPr 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accuracy of the </a:t>
                      </a:r>
                      <a:r>
                        <a:rPr lang="en-US" sz="1400" dirty="0"/>
                        <a:t>scientific outputs. 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Physical meaning and standard deviation.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715119"/>
                  </a:ext>
                </a:extLst>
              </a:tr>
            </a:tbl>
          </a:graphicData>
        </a:graphic>
      </p:graphicFrame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0015E66D-2C0C-9840-AA50-A15CDE3BA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4679421"/>
              </p:ext>
            </p:extLst>
          </p:nvPr>
        </p:nvGraphicFramePr>
        <p:xfrm>
          <a:off x="9348619" y="183788"/>
          <a:ext cx="2438928" cy="18205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9CDA6099-73EB-5144-AB28-D91820C35B89}"/>
              </a:ext>
            </a:extLst>
          </p:cNvPr>
          <p:cNvSpPr/>
          <p:nvPr/>
        </p:nvSpPr>
        <p:spPr>
          <a:xfrm>
            <a:off x="10069832" y="1160852"/>
            <a:ext cx="982289" cy="3139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dirty="0">
                <a:solidFill>
                  <a:schemeClr val="accent4"/>
                </a:solidFill>
              </a:rPr>
              <a:t>unit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63404A-649A-19FA-498E-450E07A3F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A57C75-0530-DFBC-804F-FE681A5481B6}"/>
              </a:ext>
            </a:extLst>
          </p:cNvPr>
          <p:cNvSpPr txBox="1"/>
          <p:nvPr/>
        </p:nvSpPr>
        <p:spPr>
          <a:xfrm>
            <a:off x="422793" y="6355595"/>
            <a:ext cx="60970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i="1" dirty="0"/>
              <a:t>* source </a:t>
            </a:r>
            <a:r>
              <a:rPr lang="en-US" sz="1400" i="1" dirty="0" err="1"/>
              <a:t>premake</a:t>
            </a:r>
            <a:r>
              <a:rPr lang="en-US" sz="1400" dirty="0"/>
              <a:t> before running tests</a:t>
            </a:r>
          </a:p>
        </p:txBody>
      </p:sp>
    </p:spTree>
    <p:extLst>
      <p:ext uri="{BB962C8B-B14F-4D97-AF65-F5344CB8AC3E}">
        <p14:creationId xmlns:p14="http://schemas.microsoft.com/office/powerpoint/2010/main" val="2743858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633F-CBF3-EF3B-4E48-8D26D1F96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35031-93D8-A936-7C5B-6D1C1A5A0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231292" cy="1325563"/>
          </a:xfrm>
        </p:spPr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Unit Testing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005D0D-F223-1F94-65FC-E62DB7B92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10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0BBD2F5-7534-1CD7-43D2-6A9AEC96FA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1875880"/>
              </p:ext>
            </p:extLst>
          </p:nvPr>
        </p:nvGraphicFramePr>
        <p:xfrm>
          <a:off x="361233" y="3814120"/>
          <a:ext cx="5734767" cy="257254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70007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1504412">
                  <a:extLst>
                    <a:ext uri="{9D8B030D-6E8A-4147-A177-3AD203B41FA5}">
                      <a16:colId xmlns:a16="http://schemas.microsoft.com/office/drawing/2014/main" val="3804093500"/>
                    </a:ext>
                  </a:extLst>
                </a:gridCol>
                <a:gridCol w="961202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  <a:gridCol w="1385830">
                  <a:extLst>
                    <a:ext uri="{9D8B030D-6E8A-4147-A177-3AD203B41FA5}">
                      <a16:colId xmlns:a16="http://schemas.microsoft.com/office/drawing/2014/main" val="1365888191"/>
                    </a:ext>
                  </a:extLst>
                </a:gridCol>
                <a:gridCol w="913316">
                  <a:extLst>
                    <a:ext uri="{9D8B030D-6E8A-4147-A177-3AD203B41FA5}">
                      <a16:colId xmlns:a16="http://schemas.microsoft.com/office/drawing/2014/main" val="4111230781"/>
                    </a:ext>
                  </a:extLst>
                </a:gridCol>
              </a:tblGrid>
              <a:tr h="70791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Command</a:t>
                      </a:r>
                    </a:p>
                  </a:txBody>
                  <a:tcPr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PYTEST_ADDOPTS</a:t>
                      </a:r>
                    </a:p>
                  </a:txBody>
                  <a:tcPr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Type</a:t>
                      </a:r>
                    </a:p>
                  </a:txBody>
                  <a:tcPr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Result (</a:t>
                      </a:r>
                      <a:r>
                        <a:rPr lang="en-US" sz="1400" dirty="0" err="1"/>
                        <a:t>num|sec</a:t>
                      </a:r>
                      <a:r>
                        <a:rPr lang="en-US" sz="1400" dirty="0"/>
                        <a:t>)</a:t>
                      </a:r>
                    </a:p>
                  </a:txBody>
                  <a:tcPr marL="0" marR="0"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Avg (sec</a:t>
                      </a:r>
                      <a:r>
                        <a:rPr lang="en-US" sz="1400" dirty="0"/>
                        <a:t>)</a:t>
                      </a:r>
                    </a:p>
                  </a:txBody>
                  <a:tcPr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932314">
                <a:tc rowSpan="2">
                  <a:txBody>
                    <a:bodyPr/>
                    <a:lstStyle/>
                    <a:p>
                      <a:pPr algn="ctr"/>
                      <a:r>
                        <a:rPr lang="en-US" sz="1400" i="1" dirty="0" err="1"/>
                        <a:t>nemd_test</a:t>
                      </a:r>
                      <a:endParaRPr lang="en-US" sz="1400" i="1" dirty="0"/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i="1" dirty="0"/>
                        <a:t>"-m 'not slow'"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driver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workflow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1732 | 14.71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129 | 6.13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 43 | 4.25</a:t>
                      </a:r>
                      <a:endParaRPr lang="en-US" sz="1400" dirty="0"/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0.0132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932314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i="1" dirty="0"/>
                        <a:t>"-m slow"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driver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workflow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     1 | 20.19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   1 | 3.95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   no tests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13.49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1139EAB-FAE4-FB7B-AED3-4DD3FAC9C920}"/>
              </a:ext>
            </a:extLst>
          </p:cNvPr>
          <p:cNvSpPr txBox="1"/>
          <p:nvPr/>
        </p:nvSpPr>
        <p:spPr>
          <a:xfrm>
            <a:off x="361233" y="6386661"/>
            <a:ext cx="30718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i="1" dirty="0"/>
              <a:t>* source </a:t>
            </a:r>
            <a:r>
              <a:rPr lang="en-US" sz="1400" i="1" dirty="0" err="1"/>
              <a:t>premake</a:t>
            </a:r>
            <a:r>
              <a:rPr lang="en-US" sz="1400" dirty="0"/>
              <a:t> before running tests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7D5B4CE-5718-2280-528F-82EBFA1598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9380772"/>
              </p:ext>
            </p:extLst>
          </p:nvPr>
        </p:nvGraphicFramePr>
        <p:xfrm>
          <a:off x="6301520" y="2515701"/>
          <a:ext cx="5305333" cy="3870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96379">
                  <a:extLst>
                    <a:ext uri="{9D8B030D-6E8A-4147-A177-3AD203B41FA5}">
                      <a16:colId xmlns:a16="http://schemas.microsoft.com/office/drawing/2014/main" val="519871301"/>
                    </a:ext>
                  </a:extLst>
                </a:gridCol>
                <a:gridCol w="883450">
                  <a:extLst>
                    <a:ext uri="{9D8B030D-6E8A-4147-A177-3AD203B41FA5}">
                      <a16:colId xmlns:a16="http://schemas.microsoft.com/office/drawing/2014/main" val="3084682247"/>
                    </a:ext>
                  </a:extLst>
                </a:gridCol>
                <a:gridCol w="946500">
                  <a:extLst>
                    <a:ext uri="{9D8B030D-6E8A-4147-A177-3AD203B41FA5}">
                      <a16:colId xmlns:a16="http://schemas.microsoft.com/office/drawing/2014/main" val="2730536322"/>
                    </a:ext>
                  </a:extLst>
                </a:gridCol>
                <a:gridCol w="1172805">
                  <a:extLst>
                    <a:ext uri="{9D8B030D-6E8A-4147-A177-3AD203B41FA5}">
                      <a16:colId xmlns:a16="http://schemas.microsoft.com/office/drawing/2014/main" val="3113920103"/>
                    </a:ext>
                  </a:extLst>
                </a:gridCol>
                <a:gridCol w="1106199">
                  <a:extLst>
                    <a:ext uri="{9D8B030D-6E8A-4147-A177-3AD203B41FA5}">
                      <a16:colId xmlns:a16="http://schemas.microsoft.com/office/drawing/2014/main" val="1319148285"/>
                    </a:ext>
                  </a:extLst>
                </a:gridCol>
              </a:tblGrid>
              <a:tr h="4777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Command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PYTEST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Dirname</a:t>
                      </a:r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Type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Results</a:t>
                      </a:r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1929244"/>
                  </a:ext>
                </a:extLst>
              </a:tr>
              <a:tr h="1104681">
                <a:tc row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 err="1"/>
                        <a:t>nemd_cover</a:t>
                      </a:r>
                      <a:endParaRPr lang="en-US" sz="1400" i="1" dirty="0"/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/>
                        <a:t>"-m ''"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workflow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statements</a:t>
                      </a:r>
                    </a:p>
                    <a:p>
                      <a:pPr algn="ctr"/>
                      <a:r>
                        <a:rPr lang="en-US" sz="1400" dirty="0"/>
                        <a:t>missing</a:t>
                      </a:r>
                    </a:p>
                    <a:p>
                      <a:pPr algn="ctr"/>
                      <a:r>
                        <a:rPr lang="en-US" sz="1400" dirty="0"/>
                        <a:t>excluded</a:t>
                      </a:r>
                    </a:p>
                    <a:p>
                      <a:pPr algn="ctr"/>
                      <a:r>
                        <a:rPr lang="en-US" sz="1400" dirty="0"/>
                        <a:t>coverage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</a:t>
                      </a:r>
                    </a:p>
                    <a:p>
                      <a:pPr algn="ctr"/>
                      <a:r>
                        <a:rPr lang="en-US" sz="1400" dirty="0"/>
                        <a:t>0</a:t>
                      </a:r>
                    </a:p>
                    <a:p>
                      <a:pPr algn="ctr"/>
                      <a:r>
                        <a:rPr lang="en-US" sz="1400" dirty="0"/>
                        <a:t>8</a:t>
                      </a:r>
                    </a:p>
                    <a:p>
                      <a:pPr algn="ctr"/>
                      <a:r>
                        <a:rPr lang="en-US" sz="1400" dirty="0"/>
                        <a:t>100%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0466548"/>
                  </a:ext>
                </a:extLst>
              </a:tr>
              <a:tr h="1104681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driver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statements</a:t>
                      </a:r>
                    </a:p>
                    <a:p>
                      <a:pPr algn="ctr"/>
                      <a:r>
                        <a:rPr lang="en-US" sz="1400" dirty="0"/>
                        <a:t>missing</a:t>
                      </a:r>
                    </a:p>
                    <a:p>
                      <a:pPr algn="ctr"/>
                      <a:r>
                        <a:rPr lang="en-US" sz="1400" dirty="0"/>
                        <a:t>excluded</a:t>
                      </a:r>
                    </a:p>
                    <a:p>
                      <a:pPr algn="ctr"/>
                      <a:r>
                        <a:rPr lang="en-US" sz="1400" dirty="0"/>
                        <a:t>coverage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466</a:t>
                      </a:r>
                    </a:p>
                    <a:p>
                      <a:pPr algn="ctr"/>
                      <a:r>
                        <a:rPr lang="en-US" sz="1400" dirty="0"/>
                        <a:t>0</a:t>
                      </a:r>
                    </a:p>
                    <a:p>
                      <a:pPr algn="ctr"/>
                      <a:r>
                        <a:rPr lang="en-US" sz="1400" dirty="0"/>
                        <a:t>16</a:t>
                      </a:r>
                    </a:p>
                    <a:p>
                      <a:pPr algn="ctr"/>
                      <a:r>
                        <a:rPr lang="en-US" sz="1400" dirty="0"/>
                        <a:t>100%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0493721"/>
                  </a:ext>
                </a:extLst>
              </a:tr>
              <a:tr h="1104681">
                <a:tc vMerge="1">
                  <a:txBody>
                    <a:bodyPr/>
                    <a:lstStyle/>
                    <a:p>
                      <a:pPr algn="just"/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just"/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module</a:t>
                      </a:r>
                    </a:p>
                    <a:p>
                      <a:pPr algn="ctr"/>
                      <a:endParaRPr lang="en-US" sz="1400" dirty="0"/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statements</a:t>
                      </a:r>
                    </a:p>
                    <a:p>
                      <a:pPr algn="ctr"/>
                      <a:r>
                        <a:rPr lang="en-US" sz="1400" dirty="0"/>
                        <a:t>missing</a:t>
                      </a:r>
                    </a:p>
                    <a:p>
                      <a:pPr algn="ctr"/>
                      <a:r>
                        <a:rPr lang="en-US" sz="1400" dirty="0"/>
                        <a:t>excluded</a:t>
                      </a:r>
                    </a:p>
                    <a:p>
                      <a:pPr algn="ctr"/>
                      <a:r>
                        <a:rPr lang="en-US" sz="1400" dirty="0"/>
                        <a:t>coverage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6088</a:t>
                      </a:r>
                    </a:p>
                    <a:p>
                      <a:pPr algn="ctr"/>
                      <a:r>
                        <a:rPr lang="en-US" sz="1400" dirty="0"/>
                        <a:t>0</a:t>
                      </a:r>
                    </a:p>
                    <a:p>
                      <a:pPr algn="ctr"/>
                      <a:r>
                        <a:rPr lang="en-US" sz="1400" dirty="0"/>
                        <a:t>164</a:t>
                      </a:r>
                    </a:p>
                    <a:p>
                      <a:pPr algn="ctr"/>
                      <a:r>
                        <a:rPr lang="en-US" sz="1400" dirty="0"/>
                        <a:t>100%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9559036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D44CE8A1-94B7-AA2F-211C-76BBBE531409}"/>
              </a:ext>
            </a:extLst>
          </p:cNvPr>
          <p:cNvSpPr txBox="1"/>
          <p:nvPr/>
        </p:nvSpPr>
        <p:spPr>
          <a:xfrm>
            <a:off x="361233" y="1679020"/>
            <a:ext cx="55864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 unit tests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DDD0116-5DFF-79FB-A652-1E32A9A868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7193985"/>
              </p:ext>
            </p:extLst>
          </p:nvPr>
        </p:nvGraphicFramePr>
        <p:xfrm>
          <a:off x="287092" y="2284237"/>
          <a:ext cx="5734767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46724">
                  <a:extLst>
                    <a:ext uri="{9D8B030D-6E8A-4147-A177-3AD203B41FA5}">
                      <a16:colId xmlns:a16="http://schemas.microsoft.com/office/drawing/2014/main" val="2111335203"/>
                    </a:ext>
                  </a:extLst>
                </a:gridCol>
                <a:gridCol w="3188043">
                  <a:extLst>
                    <a:ext uri="{9D8B030D-6E8A-4147-A177-3AD203B41FA5}">
                      <a16:colId xmlns:a16="http://schemas.microsoft.com/office/drawing/2014/main" val="2492083346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lang="en-US" sz="1400" i="1" kern="1200" dirty="0" err="1">
                          <a:solidFill>
                            <a:schemeClr val="tx1"/>
                          </a:solidFill>
                        </a:rPr>
                        <a:t>nemd_test</a:t>
                      </a:r>
                      <a:endParaRPr lang="en-US" sz="1400" i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kern="1200" dirty="0">
                          <a:solidFill>
                            <a:schemeClr val="tx1"/>
                          </a:solidFill>
                        </a:rPr>
                        <a:t>$NEMD_SRC/test/unit in parallel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983503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lang="en-US" sz="1400" i="1" kern="1200" dirty="0" err="1">
                          <a:solidFill>
                            <a:schemeClr val="tx1"/>
                          </a:solidFill>
                        </a:rPr>
                        <a:t>nemd_test</a:t>
                      </a:r>
                      <a:r>
                        <a:rPr lang="en-US" sz="1400" i="1" kern="1200" dirty="0">
                          <a:solidFill>
                            <a:schemeClr val="tx1"/>
                          </a:solidFill>
                        </a:rPr>
                        <a:t> [file1 file2...]</a:t>
                      </a:r>
                      <a:endParaRPr lang="en-US" sz="1400" i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specific 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tests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93504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lang="en-US" sz="1400" i="1" kern="1200" dirty="0" err="1">
                          <a:solidFill>
                            <a:schemeClr val="tx1"/>
                          </a:solidFill>
                        </a:rPr>
                        <a:t>nemd_test</a:t>
                      </a:r>
                      <a:r>
                        <a:rPr lang="en-US" sz="1400" i="1" kern="1200" dirty="0">
                          <a:solidFill>
                            <a:schemeClr val="tx1"/>
                          </a:solidFill>
                        </a:rPr>
                        <a:t> -s -v [file1 file2...]</a:t>
                      </a:r>
                      <a:endParaRPr lang="en-US" sz="1400" i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screen and verbose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729843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lang="en-US" sz="1400" i="1" kern="1200" dirty="0" err="1">
                          <a:solidFill>
                            <a:schemeClr val="tx1"/>
                          </a:solidFill>
                        </a:rPr>
                        <a:t>nemd_test</a:t>
                      </a:r>
                      <a:r>
                        <a:rPr lang="en-US" sz="1400" i="1" kern="1200" dirty="0">
                          <a:solidFill>
                            <a:schemeClr val="tx1"/>
                          </a:solidFill>
                        </a:rPr>
                        <a:t> -m slow [file1 file2...]</a:t>
                      </a:r>
                      <a:endParaRPr lang="en-US" sz="1400" i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selected tests marked with slow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0218751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2368FDEB-1B1A-36FF-5EC9-7040891164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0213107"/>
              </p:ext>
            </p:extLst>
          </p:nvPr>
        </p:nvGraphicFramePr>
        <p:xfrm>
          <a:off x="6091539" y="853913"/>
          <a:ext cx="5890054" cy="143738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209063">
                  <a:extLst>
                    <a:ext uri="{9D8B030D-6E8A-4147-A177-3AD203B41FA5}">
                      <a16:colId xmlns:a16="http://schemas.microsoft.com/office/drawing/2014/main" val="3331805810"/>
                    </a:ext>
                  </a:extLst>
                </a:gridCol>
                <a:gridCol w="2680991">
                  <a:extLst>
                    <a:ext uri="{9D8B030D-6E8A-4147-A177-3AD203B41FA5}">
                      <a16:colId xmlns:a16="http://schemas.microsoft.com/office/drawing/2014/main" val="1422148830"/>
                    </a:ext>
                  </a:extLst>
                </a:gridCol>
              </a:tblGrid>
              <a:tr h="359346">
                <a:tc>
                  <a:txBody>
                    <a:bodyPr/>
                    <a:lstStyle/>
                    <a:p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nemd_cover</a:t>
                      </a:r>
                      <a:endParaRPr lang="en-US" sz="1300" i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run analysis, create html, open browser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0872081"/>
                  </a:ext>
                </a:extLst>
              </a:tr>
              <a:tr h="359346">
                <a:tc>
                  <a:txBody>
                    <a:bodyPr/>
                    <a:lstStyle/>
                    <a:p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nemd_cover</a:t>
                      </a:r>
                      <a:r>
                        <a:rPr lang="en-US" sz="1300" i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driver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analyze all driver tests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3310005"/>
                  </a:ext>
                </a:extLst>
              </a:tr>
              <a:tr h="359346">
                <a:tc>
                  <a:txBody>
                    <a:bodyPr/>
                    <a:lstStyle/>
                    <a:p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nemd_cover</a:t>
                      </a:r>
                      <a:r>
                        <a:rPr lang="en-US" sz="1300" i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workflow </a:t>
                      </a:r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test_workflow_test.py</a:t>
                      </a:r>
                      <a:endParaRPr lang="en-US" sz="1300" i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analyze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test_workflow_test.py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only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3814008"/>
                  </a:ext>
                </a:extLst>
              </a:tr>
              <a:tr h="359346">
                <a:tc>
                  <a:txBody>
                    <a:bodyPr/>
                    <a:lstStyle/>
                    <a:p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nemd_cover</a:t>
                      </a:r>
                      <a:r>
                        <a:rPr lang="en-US" sz="1300" i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module </a:t>
                      </a:r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cru_test.py</a:t>
                      </a:r>
                      <a:r>
                        <a:rPr lang="en-US" sz="1300" i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osutils_test.py</a:t>
                      </a:r>
                      <a:endParaRPr lang="en-US" sz="1300" i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analyze multiple specific tests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007649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6A96FABA-B7F8-19BB-7F66-729319E7CC40}"/>
              </a:ext>
            </a:extLst>
          </p:cNvPr>
          <p:cNvSpPr txBox="1"/>
          <p:nvPr/>
        </p:nvSpPr>
        <p:spPr>
          <a:xfrm>
            <a:off x="6227805" y="290983"/>
            <a:ext cx="54616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 coverage analysis and generate report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5D73A7-D2DF-1EC9-CEE2-6582208A7EC9}"/>
              </a:ext>
            </a:extLst>
          </p:cNvPr>
          <p:cNvSpPr txBox="1"/>
          <p:nvPr/>
        </p:nvSpPr>
        <p:spPr>
          <a:xfrm>
            <a:off x="6301520" y="6385023"/>
            <a:ext cx="35895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Excluded: </a:t>
            </a:r>
            <a:r>
              <a:rPr lang="en-US" sz="1400" b="0" i="0" dirty="0">
                <a:solidFill>
                  <a:schemeClr val="bg1">
                    <a:lumMod val="50000"/>
                  </a:schemeClr>
                </a:solidFill>
                <a:effectLst/>
                <a:latin typeface="SFMono-Regular"/>
              </a:rPr>
              <a:t>__main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FMono-Regular"/>
              </a:rPr>
              <a:t>__,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FMono-Regular"/>
              </a:rPr>
              <a:t>numba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FMono-Regular"/>
              </a:rPr>
              <a:t>, platform-specific</a:t>
            </a:r>
          </a:p>
        </p:txBody>
      </p:sp>
    </p:spTree>
    <p:extLst>
      <p:ext uri="{BB962C8B-B14F-4D97-AF65-F5344CB8AC3E}">
        <p14:creationId xmlns:p14="http://schemas.microsoft.com/office/powerpoint/2010/main" val="3561220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081"/>
            <a:ext cx="4298004" cy="1325563"/>
          </a:xfrm>
        </p:spPr>
        <p:txBody>
          <a:bodyPr/>
          <a:lstStyle/>
          <a:p>
            <a:r>
              <a:rPr lang="en-US" dirty="0"/>
              <a:t>Integration Test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D2B87E6-6F62-754F-B76D-621DDC49B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8920770"/>
              </p:ext>
            </p:extLst>
          </p:nvPr>
        </p:nvGraphicFramePr>
        <p:xfrm>
          <a:off x="6473375" y="431766"/>
          <a:ext cx="5268686" cy="152705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884324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4384362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effectLst/>
                        </a:rPr>
                        <a:t>cmd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effectLst/>
                        </a:rPr>
                        <a:t>Shell commands to run drivers and workflows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check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Shell commands to check the results against expectations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 t</a:t>
                      </a: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ags </a:t>
                      </a: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 shell syntax  </a:t>
                      </a: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(e.g., name, cost)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Parametrize one command into multiples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718043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1FD4C4C-D4CF-5C43-82EA-6B4469CA3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144051"/>
              </p:ext>
            </p:extLst>
          </p:nvPr>
        </p:nvGraphicFramePr>
        <p:xfrm>
          <a:off x="6473375" y="2078219"/>
          <a:ext cx="5268685" cy="21336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592285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436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Check Command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i="1" kern="1200" dirty="0">
                          <a:effectLst/>
                        </a:rPr>
                        <a:t>general shell </a:t>
                      </a:r>
                      <a:r>
                        <a:rPr lang="en-US" sz="1400" i="1" kern="1200" dirty="0" err="1">
                          <a:effectLst/>
                        </a:rPr>
                        <a:t>cmd</a:t>
                      </a:r>
                      <a:endParaRPr lang="en-US" sz="14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echo, [ -f file ], &amp;&amp;, ||, ( grep pattern file ),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i="1" kern="1200" dirty="0" err="1">
                          <a:effectLst/>
                        </a:rPr>
                        <a:t>nemd_check</a:t>
                      </a:r>
                      <a:r>
                        <a:rPr lang="en-US" sz="1400" i="1" kern="1200" dirty="0">
                          <a:effectLst/>
                        </a:rPr>
                        <a:t> exist</a:t>
                      </a:r>
                      <a:endParaRPr lang="en-US" sz="14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 existence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i="1" kern="1200" dirty="0" err="1">
                          <a:effectLst/>
                        </a:rPr>
                        <a:t>nemd_check</a:t>
                      </a:r>
                      <a:r>
                        <a:rPr lang="en-US" sz="1400" i="1" kern="1200" dirty="0">
                          <a:effectLst/>
                        </a:rPr>
                        <a:t> glob</a:t>
                      </a:r>
                      <a:endParaRPr lang="en-US" sz="14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Match number from pattern expansion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9994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i="1" kern="1200" dirty="0" err="1">
                          <a:effectLst/>
                        </a:rPr>
                        <a:t>nemd_check</a:t>
                      </a:r>
                      <a:r>
                        <a:rPr lang="en-US" sz="1400" i="1" kern="1200" dirty="0">
                          <a:effectLst/>
                        </a:rPr>
                        <a:t> has</a:t>
                      </a:r>
                      <a:endParaRPr lang="en-US" sz="14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Specific strings in file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069821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i="1" kern="1200" dirty="0" err="1">
                          <a:effectLst/>
                        </a:rPr>
                        <a:t>nemd_check</a:t>
                      </a:r>
                      <a:r>
                        <a:rPr lang="en-US" sz="1400" i="1" kern="1200" dirty="0">
                          <a:effectLst/>
                        </a:rPr>
                        <a:t> </a:t>
                      </a:r>
                      <a:r>
                        <a:rPr lang="en-US" sz="1400" i="1" kern="1200" dirty="0" err="1">
                          <a:effectLst/>
                        </a:rPr>
                        <a:t>cmp</a:t>
                      </a:r>
                      <a:endParaRPr lang="en-US" sz="14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Content comparison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06109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i="1" kern="1200" dirty="0" err="1">
                          <a:effectLst/>
                        </a:rPr>
                        <a:t>nemd_check</a:t>
                      </a:r>
                      <a:r>
                        <a:rPr lang="en-US" sz="1400" i="1" kern="1200" dirty="0">
                          <a:effectLst/>
                        </a:rPr>
                        <a:t> </a:t>
                      </a:r>
                      <a:r>
                        <a:rPr lang="en-US" sz="1400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 information from log files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358391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6607B0D-9816-0842-8455-A2FFD625CB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4019824"/>
              </p:ext>
            </p:extLst>
          </p:nvPr>
        </p:nvGraphicFramePr>
        <p:xfrm>
          <a:off x="6473375" y="4334400"/>
          <a:ext cx="5268685" cy="1006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8629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4120056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5084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Tag Key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15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label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script name (-NAME in the .log)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5084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slow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time cost on execution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0B77A13E-679A-C04C-9081-AA8837EE12E7}"/>
              </a:ext>
            </a:extLst>
          </p:cNvPr>
          <p:cNvSpPr/>
          <p:nvPr/>
        </p:nvSpPr>
        <p:spPr>
          <a:xfrm>
            <a:off x="504827" y="1281054"/>
            <a:ext cx="6055630" cy="5124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500" i="1" dirty="0" err="1"/>
              <a:t>nemd_itest</a:t>
            </a:r>
            <a:r>
              <a:rPr lang="en-US" sz="1500" dirty="0"/>
              <a:t> runs examples in </a:t>
            </a:r>
            <a:r>
              <a:rPr lang="en-US" sz="1500" dirty="0">
                <a:solidFill>
                  <a:schemeClr val="dk1"/>
                </a:solidFill>
              </a:rPr>
              <a:t>test/integration/</a:t>
            </a:r>
          </a:p>
          <a:p>
            <a:pPr algn="just"/>
            <a:endParaRPr lang="en-US" sz="1500" dirty="0">
              <a:solidFill>
                <a:schemeClr val="dk1"/>
              </a:solidFill>
            </a:endParaRP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Each test contains one </a:t>
            </a:r>
            <a:r>
              <a:rPr lang="en-US" sz="1500" dirty="0" err="1">
                <a:solidFill>
                  <a:schemeClr val="dk1"/>
                </a:solidFill>
              </a:rPr>
              <a:t>cmd</a:t>
            </a:r>
            <a:r>
              <a:rPr lang="en-US" sz="1500" dirty="0">
                <a:solidFill>
                  <a:schemeClr val="dk1"/>
                </a:solidFill>
              </a:rPr>
              <a:t> file, one check file, and one optional tag file.</a:t>
            </a: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The four-digit </a:t>
            </a:r>
            <a:r>
              <a:rPr lang="en-US" sz="1500" dirty="0" err="1">
                <a:solidFill>
                  <a:schemeClr val="dk1"/>
                </a:solidFill>
              </a:rPr>
              <a:t>dirname</a:t>
            </a:r>
            <a:r>
              <a:rPr lang="en-US" sz="1500" dirty="0">
                <a:solidFill>
                  <a:schemeClr val="dk1"/>
                </a:solidFill>
              </a:rPr>
              <a:t> is the test id.</a:t>
            </a:r>
          </a:p>
          <a:p>
            <a:endParaRPr lang="en-US" sz="1500" dirty="0"/>
          </a:p>
          <a:p>
            <a:r>
              <a:rPr lang="en-US" sz="1400" i="1" dirty="0"/>
              <a:t>cd test/integration/0049; head </a:t>
            </a:r>
            <a:r>
              <a:rPr lang="en-US" sz="1400" i="1" dirty="0" err="1"/>
              <a:t>cmd</a:t>
            </a:r>
            <a:r>
              <a:rPr lang="en-US" sz="1400" i="1" dirty="0"/>
              <a:t> check tag param</a:t>
            </a:r>
          </a:p>
          <a:p>
            <a:endParaRPr lang="en-US" sz="1400" dirty="0"/>
          </a:p>
          <a:p>
            <a:r>
              <a:rPr lang="en-US" sz="1400" dirty="0"/>
              <a:t>==&gt; </a:t>
            </a:r>
            <a:r>
              <a:rPr lang="en-US" sz="1400" dirty="0" err="1"/>
              <a:t>cmd</a:t>
            </a:r>
            <a:r>
              <a:rPr lang="en-US" sz="1400" dirty="0"/>
              <a:t> &lt;==</a:t>
            </a:r>
          </a:p>
          <a:p>
            <a:r>
              <a:rPr lang="en-US" sz="1400" dirty="0"/>
              <a:t># Performance: [</a:t>
            </a:r>
            <a:r>
              <a:rPr lang="en-US" sz="1400" dirty="0" err="1"/>
              <a:t>Ar</a:t>
            </a:r>
            <a:r>
              <a:rPr lang="en-US" sz="1400" dirty="0"/>
              <a:t>] Amorphous Builder</a:t>
            </a:r>
          </a:p>
          <a:p>
            <a:r>
              <a:rPr lang="en-US" sz="1400" i="1" dirty="0" err="1"/>
              <a:t>nemd_run</a:t>
            </a:r>
            <a:r>
              <a:rPr lang="en-US" sz="1400" i="1" dirty="0"/>
              <a:t> </a:t>
            </a:r>
            <a:r>
              <a:rPr lang="en-US" sz="1400" i="1" dirty="0" err="1"/>
              <a:t>amorp_bldr_driver.py</a:t>
            </a:r>
            <a:r>
              <a:rPr lang="en-US" sz="1400" i="1" dirty="0"/>
              <a:t> [</a:t>
            </a:r>
            <a:r>
              <a:rPr lang="en-US" sz="1400" i="1" dirty="0" err="1"/>
              <a:t>Ar</a:t>
            </a:r>
            <a:r>
              <a:rPr lang="en-US" sz="1400" i="1" dirty="0"/>
              <a:t>] -method grid -</a:t>
            </a:r>
            <a:r>
              <a:rPr lang="en-US" sz="1400" i="1" dirty="0" err="1"/>
              <a:t>mol_num</a:t>
            </a:r>
            <a:r>
              <a:rPr lang="en-US" sz="1400" i="1" dirty="0"/>
              <a:t> $param -seed 1</a:t>
            </a:r>
          </a:p>
          <a:p>
            <a:endParaRPr lang="en-US" sz="1400" dirty="0"/>
          </a:p>
          <a:p>
            <a:r>
              <a:rPr lang="en-US" sz="1400" dirty="0"/>
              <a:t>==&gt; check &lt;==</a:t>
            </a:r>
          </a:p>
          <a:p>
            <a:r>
              <a:rPr lang="en-US" sz="1400" i="1" dirty="0" err="1"/>
              <a:t>nemd_check</a:t>
            </a:r>
            <a:r>
              <a:rPr lang="en-US" sz="1400" i="1" dirty="0"/>
              <a:t> collect </a:t>
            </a:r>
            <a:r>
              <a:rPr lang="en-US" sz="1400" i="1" dirty="0" err="1"/>
              <a:t>task_time</a:t>
            </a:r>
            <a:r>
              <a:rPr lang="en-US" sz="1400" i="1" dirty="0"/>
              <a:t> memory</a:t>
            </a:r>
          </a:p>
          <a:p>
            <a:r>
              <a:rPr lang="en-US" sz="1400" i="1" dirty="0" err="1"/>
              <a:t>nemd_check</a:t>
            </a:r>
            <a:r>
              <a:rPr lang="en-US" sz="1400" i="1" dirty="0"/>
              <a:t> exist </a:t>
            </a:r>
            <a:r>
              <a:rPr lang="en-US" sz="1400" i="1" dirty="0" err="1"/>
              <a:t>collect.csv</a:t>
            </a:r>
            <a:r>
              <a:rPr lang="en-US" sz="1400" i="1" dirty="0"/>
              <a:t> </a:t>
            </a:r>
            <a:r>
              <a:rPr lang="en-US" sz="1400" i="1" dirty="0" err="1"/>
              <a:t>collect.png</a:t>
            </a:r>
            <a:endParaRPr lang="en-US" sz="1400" i="1" dirty="0"/>
          </a:p>
          <a:p>
            <a:endParaRPr lang="en-US" sz="1400" dirty="0"/>
          </a:p>
          <a:p>
            <a:r>
              <a:rPr lang="en-US" sz="1400" dirty="0"/>
              <a:t>==&gt; tag &lt;==</a:t>
            </a:r>
          </a:p>
          <a:p>
            <a:r>
              <a:rPr lang="en-US" sz="1400" dirty="0"/>
              <a:t>slow 100.0 00:00:04 50000.0 00:00:05</a:t>
            </a:r>
          </a:p>
          <a:p>
            <a:r>
              <a:rPr lang="en-US" sz="1400" dirty="0"/>
              <a:t>label </a:t>
            </a:r>
            <a:r>
              <a:rPr lang="en-US" sz="1400" dirty="0" err="1"/>
              <a:t>number_of_molecules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==&gt; param &lt;==</a:t>
            </a:r>
          </a:p>
          <a:p>
            <a:r>
              <a:rPr lang="en-US" sz="1400" dirty="0"/>
              <a:t># Number of Molecules</a:t>
            </a:r>
          </a:p>
          <a:p>
            <a:r>
              <a:rPr lang="en-US" sz="1400" dirty="0"/>
              <a:t>100</a:t>
            </a:r>
          </a:p>
          <a:p>
            <a:r>
              <a:rPr lang="en-US" sz="1400" dirty="0"/>
              <a:t>50000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208E74-6968-1DAB-A24A-74B381B34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11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44E2AD1-5186-F2C1-2AF8-715D405196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2872198"/>
              </p:ext>
            </p:extLst>
          </p:nvPr>
        </p:nvGraphicFramePr>
        <p:xfrm>
          <a:off x="6473375" y="5469752"/>
          <a:ext cx="5268684" cy="92354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52292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4216392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9342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Param Format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859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comment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The str after # names the parameter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934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parameter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i="1" dirty="0"/>
                        <a:t>Replace the $param in </a:t>
                      </a:r>
                      <a:r>
                        <a:rPr lang="en-US" sz="1400" i="1" dirty="0" err="1"/>
                        <a:t>cmd</a:t>
                      </a:r>
                      <a:r>
                        <a:rPr lang="en-US" sz="1400" i="1" dirty="0"/>
                        <a:t> 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to generate command(s)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2191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0AB48-4D0B-7282-1FF0-0E7F73043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3CF70-0072-42F8-CA2A-26EFF1100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65081"/>
            <a:ext cx="7052734" cy="1325563"/>
          </a:xfrm>
        </p:spPr>
        <p:txBody>
          <a:bodyPr/>
          <a:lstStyle/>
          <a:p>
            <a:r>
              <a:rPr lang="en-US" dirty="0" err="1"/>
              <a:t>test_workflow.py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29FC4E-A5C6-5829-9B82-9B625439D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12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FDE4EC0-08D4-966E-FA72-011021835E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6605370"/>
              </p:ext>
            </p:extLst>
          </p:nvPr>
        </p:nvGraphicFramePr>
        <p:xfrm>
          <a:off x="1066800" y="1130301"/>
          <a:ext cx="9963150" cy="521208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061362">
                  <a:extLst>
                    <a:ext uri="{9D8B030D-6E8A-4147-A177-3AD203B41FA5}">
                      <a16:colId xmlns:a16="http://schemas.microsoft.com/office/drawing/2014/main" val="746965002"/>
                    </a:ext>
                  </a:extLst>
                </a:gridCol>
                <a:gridCol w="5901788">
                  <a:extLst>
                    <a:ext uri="{9D8B030D-6E8A-4147-A177-3AD203B41FA5}">
                      <a16:colId xmlns:a16="http://schemas.microsoft.com/office/drawing/2014/main" val="295673291"/>
                    </a:ext>
                  </a:extLst>
                </a:gridCol>
              </a:tblGrid>
              <a:tr h="2102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effectLst/>
                        </a:rPr>
                        <a:t>Supported arguments</a:t>
                      </a:r>
                      <a:endParaRPr lang="en-U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691384"/>
                  </a:ext>
                </a:extLst>
              </a:tr>
              <a:tr h="420449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-name {</a:t>
                      </a:r>
                      <a:r>
                        <a:rPr lang="en-US" sz="1400" kern="1200" dirty="0" err="1">
                          <a:solidFill>
                            <a:schemeClr val="accent6"/>
                          </a:solidFill>
                          <a:effectLst/>
                        </a:rPr>
                        <a:t>integration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1"/>
                          </a:solidFill>
                          <a:effectLst/>
                        </a:rPr>
                        <a:t>performance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2"/>
                          </a:solidFill>
                          <a:effectLst/>
                        </a:rPr>
                        <a:t>scientific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</a:rPr>
                        <a:t>integration: reproducibility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performance: resource efficiency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scientific: physical meaning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7890681"/>
                  </a:ext>
                </a:extLst>
              </a:tr>
              <a:tr h="1751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ID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of these ids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858068"/>
                  </a:ext>
                </a:extLst>
              </a:tr>
              <a:tr h="1751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dirname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DIRNAME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Search test(s) under this directory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223070"/>
                  </a:ext>
                </a:extLst>
              </a:tr>
              <a:tr h="1751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-slow SECOND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Skip (sub)tests marked with time longer than this criteria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525047"/>
                  </a:ext>
                </a:extLst>
              </a:tr>
              <a:tr h="1751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-label LABEL [LABEL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marked with the given labels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447737"/>
                  </a:ext>
                </a:extLst>
              </a:tr>
              <a:tr h="42044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-task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cmd,check,tag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: run the commands in the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file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check: check &amp; collect the results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tag: update the tag file (e.g., time, name)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7666738"/>
                  </a:ext>
                </a:extLst>
              </a:tr>
              <a:tr h="2978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task: run tasks and register outputs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aggregator: collect results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033399"/>
                  </a:ext>
                </a:extLst>
              </a:tr>
              <a:tr h="2978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CPU [CPU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Total number of CPUs [the CPUs for one task]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Each task uses 1 CPU If per-task CPUs not provided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8141949"/>
                  </a:ext>
                </a:extLst>
              </a:tr>
              <a:tr h="1751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off,serial,parallel,job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, parallelization progress, and job details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0231954"/>
                  </a:ext>
                </a:extLst>
              </a:tr>
              <a:tr h="3015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True,False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True: enable debug mode for the workflow and sub-jobs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False: disable the mode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284571"/>
                  </a:ext>
                </a:extLst>
              </a:tr>
              <a:tr h="1751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-copy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Copy test data into the working directory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60770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7957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931D7-45C9-A74A-92AA-A7925BC28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312023"/>
            <a:ext cx="6024664" cy="6324866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sz="4100" dirty="0"/>
              <a:t>Builder</a:t>
            </a:r>
            <a:endParaRPr lang="en-US" sz="4100" i="1" dirty="0"/>
          </a:p>
          <a:p>
            <a:pPr marL="0" indent="0" algn="just">
              <a:buNone/>
            </a:pPr>
            <a:endParaRPr lang="en-US" sz="1500" i="1" dirty="0"/>
          </a:p>
          <a:p>
            <a:pPr marL="0" indent="0" algn="just">
              <a:buNone/>
            </a:pPr>
            <a:r>
              <a:rPr lang="en-US" sz="1500" i="1" dirty="0" err="1"/>
              <a:t>amorp_bldr_driver.py</a:t>
            </a:r>
            <a:r>
              <a:rPr lang="en-US" sz="1500" dirty="0"/>
              <a:t> builds polymers from constitutional repeat units, and packs molecules into an amorphous cell.</a:t>
            </a:r>
          </a:p>
          <a:p>
            <a:pPr marL="342900" indent="-342900">
              <a:buSzPct val="100000"/>
              <a:buFont typeface="Arial" panose="020B0604020202020204" pitchFamily="34" charset="0"/>
              <a:buAutoNum type="arabicParenR"/>
            </a:pPr>
            <a:r>
              <a:rPr lang="en-US" sz="1300" dirty="0"/>
              <a:t>-method grid: grid the space and put molecules into sub-cells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pack: randomly rotate and translate molecules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grow: grow molecules from the smallest rigid fragments</a:t>
            </a:r>
          </a:p>
          <a:p>
            <a:pPr marL="0" indent="0">
              <a:buNone/>
            </a:pPr>
            <a:endParaRPr lang="en-US" sz="1000" i="1" dirty="0"/>
          </a:p>
          <a:p>
            <a:pPr marL="0" indent="0">
              <a:buNone/>
            </a:pPr>
            <a:r>
              <a:rPr lang="en-US" sz="1500" dirty="0" err="1"/>
              <a:t>mol_bldr_driver.py</a:t>
            </a:r>
            <a:r>
              <a:rPr lang="en-US" sz="1500" dirty="0"/>
              <a:t> builds single polymer or molecule via the grid method</a:t>
            </a:r>
            <a:r>
              <a:rPr lang="en-US" sz="1500" i="1" dirty="0"/>
              <a:t>.</a:t>
            </a:r>
            <a:endParaRPr lang="en-US" sz="1500" dirty="0"/>
          </a:p>
          <a:p>
            <a:pPr marL="342900" indent="-342900">
              <a:buFont typeface="+mj-lt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substruct</a:t>
            </a:r>
            <a:r>
              <a:rPr lang="en-US" sz="1300" dirty="0"/>
              <a:t> SMILES (VALUE): set or measure the substructure geometry</a:t>
            </a:r>
          </a:p>
          <a:p>
            <a:pPr marL="342900" indent="-342900">
              <a:buFont typeface="+mj-lt"/>
              <a:buAutoNum type="arabicParenR"/>
            </a:pPr>
            <a:endParaRPr lang="en-US" sz="1000" dirty="0"/>
          </a:p>
          <a:p>
            <a:pPr marL="0" indent="0" algn="just">
              <a:buNone/>
            </a:pPr>
            <a:r>
              <a:rPr lang="en-US" sz="1500" i="1" dirty="0" err="1"/>
              <a:t>xtal_bldr_driver.py</a:t>
            </a:r>
            <a:r>
              <a:rPr lang="en-US" sz="1500" i="1" dirty="0"/>
              <a:t> </a:t>
            </a:r>
            <a:r>
              <a:rPr lang="en-US" sz="1500" dirty="0"/>
              <a:t>generates crystal supercell with scaled lattice vectors.</a:t>
            </a:r>
          </a:p>
          <a:p>
            <a:pPr marL="342900" indent="-342900">
              <a:buAutoNum type="arabicParenR"/>
            </a:pPr>
            <a:r>
              <a:rPr lang="en-US" sz="1300" dirty="0"/>
              <a:t>-name Si: diamond cubic structure (space group 227)</a:t>
            </a:r>
          </a:p>
          <a:p>
            <a:pPr marL="342900" indent="-342900">
              <a:buAutoNum type="arabicParenR"/>
            </a:pPr>
            <a:r>
              <a:rPr lang="en-US" sz="1300" dirty="0"/>
              <a:t>-dimension [DIMENSION ...] : duplicate by these factors to generate the supercell</a:t>
            </a:r>
          </a:p>
          <a:p>
            <a:pPr marL="342900" indent="-342900">
              <a:buAutoNum type="arabicParenR"/>
            </a:pPr>
            <a:r>
              <a:rPr lang="en-US" sz="1300" dirty="0"/>
              <a:t>Only Stillinger-Weber potential supported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500" dirty="0"/>
              <a:t>Integration test</a:t>
            </a:r>
          </a:p>
          <a:p>
            <a:pPr marL="342900" indent="-342900">
              <a:buAutoNum type="arabicParenR"/>
            </a:pPr>
            <a:r>
              <a:rPr lang="en-US" sz="1300" dirty="0"/>
              <a:t>single molecule or polymer (with part of the geometry set or measured)</a:t>
            </a:r>
          </a:p>
          <a:p>
            <a:pPr marL="342900" indent="-342900">
              <a:buAutoNum type="arabicParenR"/>
            </a:pPr>
            <a:r>
              <a:rPr lang="en-US" sz="1300" dirty="0"/>
              <a:t>multiple molecules and (or) polymers at target or reduced densities</a:t>
            </a:r>
          </a:p>
          <a:p>
            <a:pPr marL="342900" indent="-342900">
              <a:buAutoNum type="arabicParenR"/>
            </a:pPr>
            <a:r>
              <a:rPr lang="en-US" sz="1300" dirty="0"/>
              <a:t>various structures and long polymers</a:t>
            </a:r>
          </a:p>
          <a:p>
            <a:pPr marL="342900" indent="-342900">
              <a:buAutoNum type="arabicParenR"/>
            </a:pPr>
            <a:r>
              <a:rPr lang="en-US" sz="1300" dirty="0"/>
              <a:t>Crystal structure with scaled lattice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1D83D3-035A-084E-AE46-1D65A74479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86285"/>
              </p:ext>
            </p:extLst>
          </p:nvPr>
        </p:nvGraphicFramePr>
        <p:xfrm>
          <a:off x="6327263" y="117318"/>
          <a:ext cx="5640294" cy="631617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909300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863175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1166276">
                  <a:extLst>
                    <a:ext uri="{9D8B030D-6E8A-4147-A177-3AD203B41FA5}">
                      <a16:colId xmlns:a16="http://schemas.microsoft.com/office/drawing/2014/main" val="1529396667"/>
                    </a:ext>
                  </a:extLst>
                </a:gridCol>
                <a:gridCol w="1462087">
                  <a:extLst>
                    <a:ext uri="{9D8B030D-6E8A-4147-A177-3AD203B41FA5}">
                      <a16:colId xmlns:a16="http://schemas.microsoft.com/office/drawing/2014/main" val="699767921"/>
                    </a:ext>
                  </a:extLst>
                </a:gridCol>
                <a:gridCol w="1239456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Integration Test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method/driver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Molecule/Polymer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Structure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Comment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grid</a:t>
                      </a:r>
                      <a:endParaRPr lang="en-US" sz="950" b="0" i="0" u="none" strike="noStrike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CC(C)O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Single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2</a:t>
                      </a:r>
                      <a:endParaRPr lang="en-US" sz="950" b="0" i="0" u="none" strike="noStrike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i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</a:rPr>
                        <a:t>mol_bldr</a:t>
                      </a:r>
                      <a:endParaRPr lang="en-US" sz="950" b="0" i="0" u="none" strike="noStrike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2(2)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CCCC (120)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Set Geom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3</a:t>
                      </a:r>
                      <a:endParaRPr lang="en-US" sz="950" b="0" i="0" u="none" strike="noStrike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i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</a:rPr>
                        <a:t>mol_bldr</a:t>
                      </a:r>
                      <a:endParaRPr lang="en-US" sz="950" b="0" i="0" u="none" strike="noStrike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1(3)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CCC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Measure 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4</a:t>
                      </a:r>
                      <a:endParaRPr lang="en-US" sz="950" b="0" i="0" u="none" strike="noStrike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1 | 10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CCCCCC(C)O [Ar]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Mol | Mol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5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5</a:t>
                      </a:r>
                      <a:endParaRPr lang="en-US" sz="950" b="0" i="0" u="none" strike="noStrike" dirty="0">
                        <a:solidFill>
                          <a:schemeClr val="accent5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5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Pack</a:t>
                      </a:r>
                      <a:endParaRPr lang="en-US" sz="950" b="0" i="0" u="none" strike="noStrike" dirty="0">
                        <a:solidFill>
                          <a:schemeClr val="accent5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CC(=O)O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Single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5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6</a:t>
                      </a:r>
                      <a:endParaRPr lang="en-US" sz="950" b="0" i="0" u="none" strike="noStrike" dirty="0">
                        <a:solidFill>
                          <a:schemeClr val="accent5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11(6)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*CC*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Polym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5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7</a:t>
                      </a:r>
                      <a:endParaRPr lang="en-US" sz="950" b="0" i="0" u="none" strike="noStrike" dirty="0">
                        <a:solidFill>
                          <a:schemeClr val="accent5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11(6)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*CC*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Reduced Density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Grow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10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C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Mol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9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 | 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O CCCO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Mol | Mol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10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3(5)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*CC(O)*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Polym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5(3) | 15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*CC(*)C(=O)O CN(C)C=O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Polym | Mol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12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5(5)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*CC*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Relocation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13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 | 10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[</a:t>
                      </a:r>
                      <a:r>
                        <a:rPr lang="en-US" sz="9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Ar</a:t>
                      </a:r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] CCCC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Failed Initialization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1(200)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*CC*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Single Long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10(100)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*CC(*)C(=O)O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Multi Long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TIP3P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48150519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17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SPCE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132977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SPC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714508979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19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561245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20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17439923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CC(=O)C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1568889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CCC(=O)CC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13536668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23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CC(C)(C)C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952674631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24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CC(C)CC(=O)C(C)(C)C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75757874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25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 | 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O CCCO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3713123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10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[Li+].[F-]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033712642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27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10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[Na+].[Cl-]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28369525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5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[Br-].[Mg+2].[Br-]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3638560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29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10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[K+].[Br-]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822504574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30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5 | 5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[</a:t>
                      </a:r>
                      <a:r>
                        <a:rPr lang="en-US" sz="950" u="none" strike="noStrike" dirty="0" err="1">
                          <a:effectLst/>
                          <a:latin typeface="+mn-lt"/>
                        </a:rPr>
                        <a:t>Rb</a:t>
                      </a:r>
                      <a:r>
                        <a:rPr lang="en-US" sz="950" u="none" strike="noStrike" dirty="0">
                          <a:effectLst/>
                          <a:latin typeface="+mn-lt"/>
                        </a:rPr>
                        <a:t>+].[Cl-] [Cs+].[Br-]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452337688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31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5 | 5 | 5 | 5 | 5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[He] [Ne] [</a:t>
                      </a:r>
                      <a:r>
                        <a:rPr lang="en-US" sz="950" u="none" strike="noStrike" dirty="0" err="1">
                          <a:effectLst/>
                          <a:latin typeface="+mn-lt"/>
                        </a:rPr>
                        <a:t>Ar</a:t>
                      </a:r>
                      <a:r>
                        <a:rPr lang="en-US" sz="950" u="none" strike="noStrike" dirty="0">
                          <a:effectLst/>
                          <a:latin typeface="+mn-lt"/>
                        </a:rPr>
                        <a:t>] [Kr] [Xe]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72848920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32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 | 1| 1| 6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[Ca+2] [Sr+2] [Ba+2] [Cl-]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301322427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i="1" dirty="0" err="1">
                          <a:solidFill>
                            <a:schemeClr val="accent6"/>
                          </a:solidFill>
                          <a:latin typeface="+mn-lt"/>
                        </a:rPr>
                        <a:t>xtal_bldr</a:t>
                      </a:r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1x2x3 supercell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Si (face centered-cubic)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Scale Factor 0.95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633238104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"C*.*CC*.C*"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inr</a:t>
                      </a:r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, mono, </a:t>
                      </a:r>
                      <a:r>
                        <a:rPr lang="en-US" sz="9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ter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631782551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"[*:1]C([*:1])([*:1]).*C*"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inr</a:t>
                      </a:r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with multiple stars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239140001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"*C"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terminator only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706581777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"[*:1]C([*:1])[*:1]"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initiator only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54529324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"[*:1]C([*:1])[*:1].C*"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initiator, terminator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32911340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No Relaxation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8696637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49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[</a:t>
                      </a:r>
                      <a:r>
                        <a:rPr lang="en-US" sz="9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Ar</a:t>
                      </a:r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]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Performance (mol num)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581497169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[</a:t>
                      </a:r>
                      <a:r>
                        <a:rPr lang="en-US" sz="9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Ar</a:t>
                      </a:r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]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Performance (Press)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06503931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2C52ADCC-16B5-524D-B96F-54E333917F4F}"/>
              </a:ext>
            </a:extLst>
          </p:cNvPr>
          <p:cNvSpPr/>
          <p:nvPr/>
        </p:nvSpPr>
        <p:spPr>
          <a:xfrm>
            <a:off x="6337538" y="6418388"/>
            <a:ext cx="5534998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i="1" dirty="0" err="1">
                <a:solidFill>
                  <a:schemeClr val="bg1">
                    <a:lumMod val="50000"/>
                  </a:schemeClr>
                </a:solidFill>
              </a:rPr>
              <a:t>amorp_bldr_driver.py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1100" dirty="0"/>
              <a:t>as driver unless noted otherwise</a:t>
            </a:r>
          </a:p>
          <a:p>
            <a:r>
              <a:rPr lang="en-US" sz="1100" dirty="0"/>
              <a:t>composition separated by |, repeat unit number inside (), polymerization capping atoms as *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F48F8-F6BA-4A6C-4E85-361BC29B6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03434" y="6356350"/>
            <a:ext cx="1050365" cy="365125"/>
          </a:xfrm>
        </p:spPr>
        <p:txBody>
          <a:bodyPr/>
          <a:lstStyle/>
          <a:p>
            <a:fld id="{CF79FC58-3559-EC47-B32E-5EF128B06581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00264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0EF3FB5-AC66-9447-8D17-5430181F0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323" y="387651"/>
            <a:ext cx="6133288" cy="617940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4400" dirty="0"/>
              <a:t>Molecular Dynamics</a:t>
            </a:r>
            <a:endParaRPr lang="en-US" sz="4400" i="1" dirty="0"/>
          </a:p>
          <a:p>
            <a:pPr marL="0" indent="0" algn="just">
              <a:buNone/>
            </a:pPr>
            <a:r>
              <a:rPr lang="en-US" sz="1500" i="1" dirty="0" err="1"/>
              <a:t>lammps_driver.py</a:t>
            </a:r>
            <a:r>
              <a:rPr lang="en-US" sz="1500" i="1" dirty="0"/>
              <a:t> </a:t>
            </a:r>
            <a:r>
              <a:rPr lang="en-US" sz="1500" dirty="0"/>
              <a:t>runs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GPU auto-detection.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cpu</a:t>
            </a:r>
            <a:r>
              <a:rPr lang="en-US" sz="1300" dirty="0"/>
              <a:t> NUM: multiple CPU threads via OPENMP.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300" dirty="0"/>
          </a:p>
          <a:p>
            <a:pPr marL="0" indent="0">
              <a:buNone/>
            </a:pPr>
            <a:r>
              <a:rPr lang="en-US" sz="1500" i="1" dirty="0" err="1"/>
              <a:t>lmp_log_driver.py</a:t>
            </a:r>
            <a:r>
              <a:rPr lang="en-US" sz="1500" dirty="0"/>
              <a:t> analyzes the log from previous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temperature , pairwise energy, molecular energy, total energy, pressure, volume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lmp_traj_driver.py</a:t>
            </a:r>
            <a:r>
              <a:rPr lang="en-US" sz="1500" i="1" dirty="0"/>
              <a:t> </a:t>
            </a:r>
            <a:r>
              <a:rPr lang="en-US" sz="1500" dirty="0"/>
              <a:t>analyzes the trajectory from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radial distribution function (RDF), density, clash, XYZ, diffusion coefficient via mean squared displacement (MSD), and visualization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-PYTHON {0,1,2}    0: native python; 1: compiled </a:t>
            </a:r>
            <a:r>
              <a:rPr lang="en-US" sz="1300" dirty="0" err="1"/>
              <a:t>Numba</a:t>
            </a:r>
            <a:r>
              <a:rPr lang="en-US" sz="1300" dirty="0"/>
              <a:t>; 2: the cached </a:t>
            </a:r>
            <a:r>
              <a:rPr lang="en-US" sz="1300" dirty="0" err="1"/>
              <a:t>Numba</a:t>
            </a:r>
            <a:endParaRPr lang="en-US" sz="13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4400" dirty="0"/>
              <a:t>Solid Physics</a:t>
            </a:r>
            <a:endParaRPr lang="en-US" sz="44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500" i="1" dirty="0" err="1">
                <a:solidFill>
                  <a:srgbClr val="000000"/>
                </a:solidFill>
                <a:latin typeface="Calibri" panose="020F0502020204030204" pitchFamily="34" charset="0"/>
              </a:rPr>
              <a:t>recip_sp_driver.py</a:t>
            </a:r>
            <a:r>
              <a:rPr lang="en-US" sz="1500" i="1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alibri" panose="020F0502020204030204" pitchFamily="34" charset="0"/>
              </a:rPr>
              <a:t>plots direct and reciprocal lattice of Hexagon (graphene).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</a:t>
            </a:r>
            <a:r>
              <a:rPr lang="en-US" sz="1300" dirty="0" err="1"/>
              <a:t>miller_indices</a:t>
            </a:r>
            <a:r>
              <a:rPr lang="en-US" sz="1300" dirty="0"/>
              <a:t>  [...]: Miller Indices defines the plane and norm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dispersion_driver.py</a:t>
            </a:r>
            <a:r>
              <a:rPr lang="en-US" sz="1500" i="1" dirty="0"/>
              <a:t> </a:t>
            </a:r>
            <a:r>
              <a:rPr lang="en-US" sz="1500" dirty="0"/>
              <a:t>calculates and plots phonon dispersion.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-name {Si} : Name to retrieve the crystal structure from the database</a:t>
            </a: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D0C6FC-6847-BE4F-A9CD-0337C98BE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696683"/>
              </p:ext>
            </p:extLst>
          </p:nvPr>
        </p:nvGraphicFramePr>
        <p:xfrm>
          <a:off x="6334298" y="3058204"/>
          <a:ext cx="5544589" cy="328605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915789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1137455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3491345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Integration Test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u="none" strike="noStrike" dirty="0">
                          <a:solidFill>
                            <a:schemeClr val="accent1"/>
                          </a:solidFill>
                          <a:effectLst/>
                        </a:rPr>
                        <a:t>Driver</a:t>
                      </a:r>
                      <a:r>
                        <a:rPr lang="en-US" sz="1100" u="none" strike="noStrike" dirty="0">
                          <a:effectLst/>
                        </a:rPr>
                        <a:t>/</a:t>
                      </a:r>
                      <a:r>
                        <a:rPr lang="en-US" sz="1100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Workflow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Comment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/>
                        <a:t>Single GPU on Ubuntu;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Multiple CPUs</a:t>
                      </a:r>
                      <a:r>
                        <a:rPr lang="en-US" sz="1100" dirty="0"/>
                        <a:t> on </a:t>
                      </a:r>
                      <a:r>
                        <a:rPr lang="en-US" sz="1100" dirty="0" err="1"/>
                        <a:t>macOs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3080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35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Serial Driver Jobs: Molecular Dynamics, Log Analyzer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Thermodynamic Data </a:t>
                      </a:r>
                      <a:r>
                        <a:rPr lang="en-US" sz="1100" u="none" strike="noStrike" dirty="0">
                          <a:effectLst/>
                        </a:rPr>
                        <a:t>Analyzer</a:t>
                      </a: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lmp_traj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RDF, Density, Clash, XYZ, MSD and visualization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datafile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81509147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All-pair RDF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Original Python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Cached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Uncompiled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recip_sp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Real Space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Plane 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Norm = 2</a:t>
                      </a:r>
                      <a:r>
                        <a:rPr lang="el-G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π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/ Reciprocal Vector Summation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dispersion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Primitive Cell, Symmetry, Force Constant, and K-Path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ab_lmp_traj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Ar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Amorphous, Berendsen NPT, Density (2 replica)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Single atom and Single frame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15782957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 energy hypersurface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Geometry measurement  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cb_lmp_log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Energy vs Scale Factor 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</a:tbl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E26658-ADBD-2242-A148-21A827C98FE7}"/>
              </a:ext>
            </a:extLst>
          </p:cNvPr>
          <p:cNvSpPr txBox="1">
            <a:spLocks/>
          </p:cNvSpPr>
          <p:nvPr/>
        </p:nvSpPr>
        <p:spPr>
          <a:xfrm>
            <a:off x="6313072" y="121487"/>
            <a:ext cx="5544589" cy="293956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3900" dirty="0"/>
              <a:t>Decentralized Automation </a:t>
            </a: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From different seeds, </a:t>
            </a:r>
            <a:r>
              <a:rPr lang="en-US" sz="1400" i="1" dirty="0" err="1">
                <a:latin typeface="Calibri" panose="020F0502020204030204" pitchFamily="34" charset="0"/>
              </a:rPr>
              <a:t>ab_lmp_traj_workflow.py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amorphous structure, runs simulation, and analyzes the trajectory.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i="1" dirty="0" err="1">
                <a:latin typeface="Calibri" panose="020F0502020204030204" pitchFamily="34" charset="0"/>
              </a:rPr>
              <a:t>mb_lmp_log</a:t>
            </a:r>
            <a:r>
              <a:rPr lang="en-US" sz="1400" i="1" dirty="0">
                <a:latin typeface="Calibri" panose="020F0502020204030204" pitchFamily="34" charset="0"/>
              </a:rPr>
              <a:t> _</a:t>
            </a:r>
            <a:r>
              <a:rPr lang="en-US" sz="1400" i="1" dirty="0" err="1">
                <a:latin typeface="Calibri" panose="020F0502020204030204" pitchFamily="34" charset="0"/>
              </a:rPr>
              <a:t>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molecules with different geometries, calculates single point energy, and analyzes the log file.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With lattice vectors scaled differently, </a:t>
            </a:r>
            <a:r>
              <a:rPr lang="en-US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cb_lmp_log_workflow.py</a:t>
            </a:r>
            <a:r>
              <a:rPr lang="en-US" sz="1400" dirty="0">
                <a:solidFill>
                  <a:srgbClr val="000000"/>
                </a:solidFill>
                <a:latin typeface="Calibri" panose="020F0502020204030204" pitchFamily="34" charset="0"/>
              </a:rPr>
              <a:t> builds crystal structure, run simulations, and </a:t>
            </a:r>
            <a:r>
              <a:rPr lang="en-US" sz="1400" dirty="0">
                <a:latin typeface="Calibri" panose="020F0502020204030204" pitchFamily="34" charset="0"/>
              </a:rPr>
              <a:t>analyzes the log file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EE2520-E813-389E-1C17-A2B04EC4A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001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Scientific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888FE3-FC9F-C19C-4839-C34F1FAD5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5535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Test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BFBF89-8989-C94F-A095-43490545E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277533"/>
            <a:ext cx="5715000" cy="3429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AF2FC8-16B7-B849-97E5-38D3BF84EF6D}"/>
              </a:ext>
            </a:extLst>
          </p:cNvPr>
          <p:cNvSpPr/>
          <p:nvPr/>
        </p:nvSpPr>
        <p:spPr>
          <a:xfrm>
            <a:off x="1751651" y="5952067"/>
            <a:ext cx="31684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1.4 GHz Quad-Core Intel Core i5</a:t>
            </a:r>
          </a:p>
          <a:p>
            <a:pPr algn="ctr"/>
            <a:r>
              <a:rPr lang="en-US" dirty="0"/>
              <a:t>16 GB 2133 MHz LPDDR3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05FCFF-324F-61E7-69CC-7DEA8AB91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5368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C344A-6936-3292-7B0A-CEBF0C369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Command-Line Arguments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B0EB9-B9FD-2DC2-79C0-D12E70D80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17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67DFA66-50BE-1E11-024B-05226D2C6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216063"/>
              </p:ext>
            </p:extLst>
          </p:nvPr>
        </p:nvGraphicFramePr>
        <p:xfrm>
          <a:off x="947990" y="1449442"/>
          <a:ext cx="10076429" cy="259588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60344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16931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9154">
                  <a:extLst>
                    <a:ext uri="{9D8B030D-6E8A-4147-A177-3AD203B41FA5}">
                      <a16:colId xmlns:a16="http://schemas.microsoft.com/office/drawing/2014/main" val="23342118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Script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-seed 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random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Randomize coordinate, velocity, sequence, selection,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651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-JOBNAME JOBNAME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Name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Jobname[_type].{log, csv, data,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npz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parquet, etc.}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-INTERACTIVE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Pause for user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Zoom in / out figure, set initial guess,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-PYTHON {-1,0,1,2}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0: native; 1: compiled; 2: cached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 performance compiled python.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CPU [CPU ...]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number of CPUs [num for one task]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Limit the total resource and max single consumption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397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Surfaces the issues instead of prioritizing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C97128-65D5-F9CE-8A26-7A7EF3F7A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8900205"/>
              </p:ext>
            </p:extLst>
          </p:nvPr>
        </p:nvGraphicFramePr>
        <p:xfrm>
          <a:off x="947992" y="4133528"/>
          <a:ext cx="10076428" cy="214884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52919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31728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1781">
                  <a:extLst>
                    <a:ext uri="{9D8B030D-6E8A-4147-A177-3AD203B41FA5}">
                      <a16:colId xmlns:a16="http://schemas.microsoft.com/office/drawing/2014/main" val="26242478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Workflow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 handles calculations and registers files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Aggregator collects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High-cost tasks and light-weight aggregators can run either serially or separately.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-clean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Clean previous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on top of previous results or from scratches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parallelization progress, and job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batch script silently or with selected printing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 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[{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True,False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}]</a:t>
                      </a:r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or let the sub-jobs set the debug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BCC9C4-DC60-1158-2C05-E55902CF670E}"/>
              </a:ext>
            </a:extLst>
          </p:cNvPr>
          <p:cNvSpPr txBox="1"/>
          <p:nvPr/>
        </p:nvSpPr>
        <p:spPr>
          <a:xfrm>
            <a:off x="947990" y="6328788"/>
            <a:ext cx="79788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export SHALLOW=1</a:t>
            </a:r>
            <a:r>
              <a:rPr lang="en-US" sz="1400" dirty="0"/>
              <a:t> increases the performance at the sacrifice of stability. (e.g. shallow copy, unclean build)</a:t>
            </a:r>
          </a:p>
        </p:txBody>
      </p:sp>
    </p:spTree>
    <p:extLst>
      <p:ext uri="{BB962C8B-B14F-4D97-AF65-F5344CB8AC3E}">
        <p14:creationId xmlns:p14="http://schemas.microsoft.com/office/powerpoint/2010/main" val="31990987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6F0F3-2CAE-174E-A141-B83E10C0D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896DA-3023-5D45-B407-2EEA49AF3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598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Before reading more literatures on force field development: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Structure Generation: supported structures</a:t>
            </a:r>
          </a:p>
          <a:p>
            <a:r>
              <a:rPr lang="en-US" sz="2400" dirty="0"/>
              <a:t>DFT Calculation: accuracy vs cost</a:t>
            </a:r>
          </a:p>
          <a:p>
            <a:r>
              <a:rPr lang="en-US" sz="2400" dirty="0"/>
              <a:t>Force Constant Fit: Energy + Formula </a:t>
            </a:r>
            <a:r>
              <a:rPr lang="en-US" sz="2400" dirty="0">
                <a:sym typeface="Wingdings" pitchFamily="2" charset="2"/>
              </a:rPr>
              <a:t></a:t>
            </a:r>
            <a:r>
              <a:rPr lang="en-US" sz="2400" dirty="0"/>
              <a:t> Parameters</a:t>
            </a:r>
          </a:p>
          <a:p>
            <a:r>
              <a:rPr lang="en-US" sz="2400" dirty="0" err="1"/>
              <a:t>Typer</a:t>
            </a:r>
            <a:r>
              <a:rPr lang="en-US" sz="2400" dirty="0"/>
              <a:t>: Type the atoms by matches, bonding, and neighbors</a:t>
            </a:r>
          </a:p>
          <a:p>
            <a:r>
              <a:rPr lang="en-US" sz="2400" dirty="0"/>
              <a:t>Assignment: assign parameters based on the types</a:t>
            </a:r>
          </a:p>
          <a:p>
            <a:endParaRPr lang="en-US" sz="2400" dirty="0"/>
          </a:p>
          <a:p>
            <a:endParaRPr lang="en-US" sz="2400" dirty="0"/>
          </a:p>
          <a:p>
            <a:pPr marL="0" indent="0">
              <a:buNone/>
            </a:pPr>
            <a:r>
              <a:rPr lang="en-US" sz="1500" dirty="0"/>
              <a:t>https://</a:t>
            </a:r>
            <a:r>
              <a:rPr lang="en-US" sz="1500" dirty="0" err="1"/>
              <a:t>mattermodeling.stackexchange.com</a:t>
            </a:r>
            <a:r>
              <a:rPr lang="en-US" sz="1500" dirty="0"/>
              <a:t>/questions/8932/what-are-some-open-source-codes-that-can-generate-potentials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2191C-5B22-9DD7-8FD0-F269496A5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181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11763</TotalTime>
  <Words>4047</Words>
  <Application>Microsoft Macintosh PowerPoint</Application>
  <PresentationFormat>Widescreen</PresentationFormat>
  <Paragraphs>775</Paragraphs>
  <Slides>18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SFMono-Regular</vt:lpstr>
      <vt:lpstr>Arial</vt:lpstr>
      <vt:lpstr>Calibri</vt:lpstr>
      <vt:lpstr>Calibri Light</vt:lpstr>
      <vt:lpstr>Times New Roman</vt:lpstr>
      <vt:lpstr>Wingdings</vt:lpstr>
      <vt:lpstr>Office Theme</vt:lpstr>
      <vt:lpstr>Molecular Simulation Toolkit</vt:lpstr>
      <vt:lpstr>BSD 3-Clause License</vt:lpstr>
      <vt:lpstr>Installation</vt:lpstr>
      <vt:lpstr>setup.py</vt:lpstr>
      <vt:lpstr>Structure</vt:lpstr>
      <vt:lpstr>Architecture</vt:lpstr>
      <vt:lpstr>Architecture</vt:lpstr>
      <vt:lpstr>Environmental Configuration</vt:lpstr>
      <vt:lpstr>Testing</vt:lpstr>
      <vt:lpstr>Unit Testing</vt:lpstr>
      <vt:lpstr>Integration Test</vt:lpstr>
      <vt:lpstr>test_workflow.py</vt:lpstr>
      <vt:lpstr>PowerPoint Presentation</vt:lpstr>
      <vt:lpstr>PowerPoint Presentation</vt:lpstr>
      <vt:lpstr>Scientific Test</vt:lpstr>
      <vt:lpstr>Performance Test</vt:lpstr>
      <vt:lpstr>Command-Line Arguments</vt:lpstr>
      <vt:lpstr>Thoughts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Information of the NEMD Toolkit</dc:title>
  <dc:creator>Microsoft Office User</dc:creator>
  <cp:lastModifiedBy>Teng Zhang</cp:lastModifiedBy>
  <cp:revision>403</cp:revision>
  <dcterms:created xsi:type="dcterms:W3CDTF">2024-07-22T15:38:28Z</dcterms:created>
  <dcterms:modified xsi:type="dcterms:W3CDTF">2025-09-12T00:04:51Z</dcterms:modified>
</cp:coreProperties>
</file>