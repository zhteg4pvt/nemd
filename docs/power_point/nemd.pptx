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63" r:id="rId11"/>
    <p:sldId id="262" r:id="rId12"/>
    <p:sldId id="271" r:id="rId13"/>
    <p:sldId id="268" r:id="rId14"/>
    <p:sldId id="267" r:id="rId15"/>
    <p:sldId id="272" r:id="rId16"/>
    <p:sldId id="26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6186"/>
  </p:normalViewPr>
  <p:slideViewPr>
    <p:cSldViewPr snapToGrid="0" snapToObjects="1">
      <p:cViewPr varScale="1">
        <p:scale>
          <a:sx n="179" d="100"/>
          <a:sy n="179" d="100"/>
        </p:scale>
        <p:origin x="216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Accurate </a:t>
          </a:r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Efficient </a:t>
          </a:r>
          <a:r>
            <a:rPr lang="en-US" dirty="0">
              <a:solidFill>
                <a:schemeClr val="accent1"/>
              </a:solidFill>
            </a:rPr>
            <a:t>Performance</a:t>
          </a:r>
          <a:endParaRPr lang="en-US" dirty="0"/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Physical </a:t>
          </a:r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dirty="0"/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Accurate </a:t>
          </a: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Efficient </a:t>
          </a:r>
          <a:r>
            <a:rPr lang="en-US" sz="1200" kern="1200" dirty="0">
              <a:solidFill>
                <a:schemeClr val="accent1"/>
              </a:solidFill>
            </a:rPr>
            <a:t>Performance</a:t>
          </a:r>
          <a:endParaRPr lang="en-US" sz="1200" kern="1200" dirty="0"/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Physical </a:t>
          </a: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sz="1200" kern="1200" dirty="0"/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2/10/25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9230D-D256-FE47-99BF-6F642436F56E}" type="datetime1">
              <a:rPr lang="en-US" smtClean="0"/>
              <a:t>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860A-5855-1941-A1E0-F1AE52EC854D}" type="datetime1">
              <a:rPr lang="en-US" smtClean="0"/>
              <a:t>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74B4C-42F5-E24E-B25F-613EC7F4AF0D}" type="datetime1">
              <a:rPr lang="en-US" smtClean="0"/>
              <a:t>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BCD20-0178-0C41-9D8E-10FA267A6CCC}" type="datetime1">
              <a:rPr lang="en-US" smtClean="0"/>
              <a:t>2/10/25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58456-60EB-6840-BCEB-E4C2678C039E}" type="datetime1">
              <a:rPr lang="en-US" smtClean="0"/>
              <a:t>2/10/25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FCD94-1F0D-3948-A9F0-DB82F9AAC2D3}" type="datetime1">
              <a:rPr lang="en-US" smtClean="0"/>
              <a:t>2/10/25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92FAC-AC21-0848-AC27-426B7BF29104}" type="datetime1">
              <a:rPr lang="en-US" smtClean="0"/>
              <a:t>2/10/25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F56F3-8608-FF4D-9C26-AE6D473095CB}" type="datetime1">
              <a:rPr lang="en-US" smtClean="0"/>
              <a:t>2/10/25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C49A9-C646-2345-B4A7-439457175566}" type="datetime1">
              <a:rPr lang="en-US" smtClean="0"/>
              <a:t>2/10/25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AC849-5CEB-3846-9265-8D72BE481A70}" type="datetime1">
              <a:rPr lang="en-US" smtClean="0"/>
              <a:t>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BBDEB-BEE0-FD44-AAFC-27969F9541FD}" type="datetime1">
              <a:rPr lang="en-US" smtClean="0"/>
              <a:t>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6C8CC-C3CD-B94B-94D6-0913487DB5E5}" type="datetime1">
              <a:rPr lang="en-US" smtClean="0"/>
              <a:t>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lammps.org/pair_sw.html#stillinger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92B7D-AF88-FE97-F8F3-696A7F8F3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/tree/main/LICENSE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F44F-EF16-7C56-017A-21B581865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730" y="1378905"/>
            <a:ext cx="6752041" cy="712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1)* </a:t>
            </a:r>
            <a:r>
              <a:rPr lang="en-US" sz="1500" i="1" dirty="0">
                <a:solidFill>
                  <a:schemeClr val="accent2"/>
                </a:solidFill>
              </a:rPr>
              <a:t>bash -c "$(curl 'https://</a:t>
            </a:r>
            <a:r>
              <a:rPr lang="en-US" sz="1500" i="1" dirty="0" err="1">
                <a:solidFill>
                  <a:schemeClr val="accent2"/>
                </a:solidFill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</a:rPr>
              <a:t>nemd</a:t>
            </a:r>
            <a:r>
              <a:rPr lang="en-US" sz="1500" i="1" dirty="0">
                <a:solidFill>
                  <a:schemeClr val="accent2"/>
                </a:solidFill>
              </a:rPr>
              <a:t>/main/setup')"</a:t>
            </a:r>
          </a:p>
          <a:p>
            <a:pPr marL="0" indent="0">
              <a:buNone/>
            </a:pPr>
            <a:r>
              <a:rPr lang="en-US" sz="1500" dirty="0"/>
              <a:t>2) </a:t>
            </a:r>
            <a:r>
              <a:rPr lang="en-US" sz="1500" i="1" dirty="0">
                <a:solidFill>
                  <a:schemeClr val="accent1"/>
                </a:solidFill>
              </a:rPr>
              <a:t>cd ~/git/</a:t>
            </a:r>
            <a:r>
              <a:rPr lang="en-US" sz="1500" i="1" dirty="0" err="1">
                <a:solidFill>
                  <a:schemeClr val="accent1"/>
                </a:solidFill>
              </a:rPr>
              <a:t>nemd</a:t>
            </a:r>
            <a:r>
              <a:rPr lang="en-US" sz="1500" i="1" dirty="0">
                <a:solidFill>
                  <a:schemeClr val="accent1"/>
                </a:solidFill>
              </a:rPr>
              <a:t>; pip3.10 install . –v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7149772" y="189336"/>
            <a:ext cx="4644498" cy="4401205"/>
          </a:xfrm>
          <a:prstGeom prst="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</a:t>
            </a:r>
            <a:r>
              <a:rPr lang="en-US" sz="1400" dirty="0" err="1"/>
              <a:t>gh</a:t>
            </a:r>
            <a:r>
              <a:rPr lang="en-US" sz="1400" dirty="0"/>
              <a:t> git vim python@3.10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 ;;</a:t>
            </a:r>
            <a:br>
              <a:rPr lang="en-US" sz="1400" dirty="0"/>
            </a:br>
            <a:r>
              <a:rPr lang="en-US" sz="1400" dirty="0" err="1"/>
              <a:t>esac</a:t>
            </a:r>
            <a:endParaRPr lang="en-US" sz="1400" dirty="0"/>
          </a:p>
          <a:p>
            <a:endParaRPr lang="en-US" sz="1400" dirty="0">
              <a:solidFill>
                <a:schemeClr val="accent2"/>
              </a:solidFill>
            </a:endParaRPr>
          </a:p>
          <a:p>
            <a:r>
              <a:rPr lang="en-US" sz="1400" dirty="0">
                <a:solidFill>
                  <a:schemeClr val="accent2"/>
                </a:solidFill>
              </a:rPr>
              <a:t># Login </a:t>
            </a:r>
            <a:r>
              <a:rPr lang="en-US" sz="1400" dirty="0" err="1">
                <a:solidFill>
                  <a:schemeClr val="accent2"/>
                </a:solidFill>
              </a:rPr>
              <a:t>Github</a:t>
            </a:r>
            <a:r>
              <a:rPr lang="en-US" sz="1400" dirty="0">
                <a:solidFill>
                  <a:schemeClr val="accent2"/>
                </a:solidFill>
              </a:rPr>
              <a:t> and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 </a:t>
            </a:r>
            <a:r>
              <a:rPr lang="en-US" sz="1400" dirty="0">
                <a:solidFill>
                  <a:schemeClr val="accent2"/>
                </a:solidFill>
              </a:rPr>
              <a:t>and ask for reboot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16261" y="2127923"/>
            <a:ext cx="6561822" cy="24688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numCol="2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ffectLst/>
              </a:rPr>
              <a:t>class Distribution: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r>
              <a:rPr lang="en-US" sz="1400" dirty="0">
                <a:solidFill>
                  <a:schemeClr val="tx1"/>
                </a:solidFill>
                <a:effectLst/>
              </a:rPr>
              <a:t>def run(self):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Install packages</a:t>
            </a:r>
            <a:br>
              <a:rPr lang="en-US" sz="1400" i="1" dirty="0">
                <a:solidFill>
                  <a:srgbClr val="5F826B"/>
                </a:solidFill>
                <a:effectLst/>
              </a:rPr>
            </a:br>
            <a:r>
              <a:rPr lang="en-US" sz="14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self.prereq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    # Compile binaries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self.compile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Distribute shell, python, and data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self.setup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 err="1">
                <a:solidFill>
                  <a:schemeClr val="tx1"/>
                </a:solidFill>
              </a:rPr>
              <a:t>prereq</a:t>
            </a:r>
            <a:r>
              <a:rPr lang="en-US" sz="1200" dirty="0">
                <a:solidFill>
                  <a:schemeClr val="tx1"/>
                </a:solidFill>
              </a:rPr>
              <a:t>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</a:t>
            </a:r>
            <a:r>
              <a:rPr lang="en-US" sz="1200" dirty="0" err="1">
                <a:solidFill>
                  <a:schemeClr val="tx1"/>
                </a:solidFill>
              </a:rPr>
              <a:t>.run</a:t>
            </a:r>
            <a:r>
              <a:rPr lang="en-US" sz="1200" dirty="0">
                <a:solidFill>
                  <a:schemeClr val="tx1"/>
                </a:solidFill>
              </a:rPr>
              <a:t>('brew install –q </a:t>
            </a:r>
            <a:r>
              <a:rPr lang="en-US" sz="1200" dirty="0" err="1">
                <a:solidFill>
                  <a:schemeClr val="tx1"/>
                </a:solidFill>
              </a:rPr>
              <a:t>gcc</a:t>
            </a:r>
            <a:r>
              <a:rPr lang="en-US" sz="1200" dirty="0">
                <a:solidFill>
                  <a:schemeClr val="tx1"/>
                </a:solidFill>
              </a:rPr>
              <a:t>', shell=True</a:t>
            </a:r>
            <a:r>
              <a:rPr lang="en-US" sz="1200" dirty="0">
                <a:solidFill>
                  <a:schemeClr val="tx1"/>
                </a:solidFill>
                <a:effectLst/>
              </a:rPr>
              <a:t>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  <a:effectLst/>
              </a:rPr>
              <a:t>def compile(self):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subprocess.run</a:t>
            </a:r>
            <a:r>
              <a:rPr lang="en-US" sz="1200" dirty="0">
                <a:solidFill>
                  <a:schemeClr val="tx1"/>
                </a:solidFill>
                <a:effectLst/>
              </a:rPr>
              <a:t>('bash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install.sh</a:t>
            </a:r>
            <a:r>
              <a:rPr lang="en-US" sz="1200" dirty="0">
                <a:solidFill>
                  <a:schemeClr val="tx1"/>
                </a:solidFill>
                <a:effectLst/>
              </a:rPr>
              <a:t>', shell=True)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>
                <a:solidFill>
                  <a:schemeClr val="tx1"/>
                </a:solidFill>
                <a:effectLst/>
              </a:rPr>
              <a:t>setup(self):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    </a:t>
            </a:r>
            <a:r>
              <a:rPr lang="en-US" sz="1200" dirty="0" err="1">
                <a:solidFill>
                  <a:schemeClr val="tx1"/>
                </a:solidFill>
              </a:rPr>
              <a:t>setuptools.setup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packages=[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, alamode],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package_dir</a:t>
            </a:r>
            <a:r>
              <a:rPr lang="en-US" sz="1200" dirty="0">
                <a:solidFill>
                  <a:schemeClr val="tx1"/>
                </a:solidFill>
              </a:rPr>
              <a:t>=[module/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package_data</a:t>
            </a:r>
            <a:r>
              <a:rPr lang="en-US" sz="1200" dirty="0">
                <a:solidFill>
                  <a:schemeClr val="tx1"/>
                </a:solidFill>
              </a:rPr>
              <a:t>={</a:t>
            </a:r>
            <a:r>
              <a:rPr lang="en-US" sz="1200" dirty="0" err="1">
                <a:solidFill>
                  <a:schemeClr val="tx1"/>
                </a:solidFill>
              </a:rPr>
              <a:t>lammps</a:t>
            </a:r>
            <a:r>
              <a:rPr lang="en-US" sz="1200" dirty="0">
                <a:solidFill>
                  <a:schemeClr val="tx1"/>
                </a:solidFill>
              </a:rPr>
              <a:t>: [build/</a:t>
            </a:r>
            <a:r>
              <a:rPr lang="en-US" sz="1200" dirty="0" err="1">
                <a:solidFill>
                  <a:schemeClr val="tx1"/>
                </a:solidFill>
              </a:rPr>
              <a:t>lmp</a:t>
            </a:r>
            <a:r>
              <a:rPr lang="en-US" sz="1200" dirty="0">
                <a:solidFill>
                  <a:schemeClr val="tx1"/>
                </a:solidFill>
              </a:rPr>
              <a:t>]},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scripts= =[</a:t>
            </a:r>
            <a:r>
              <a:rPr lang="en-US" sz="1200" dirty="0" err="1">
                <a:solidFill>
                  <a:schemeClr val="tx1"/>
                </a:solidFill>
              </a:rPr>
              <a:t>sh</a:t>
            </a:r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nemd_run</a:t>
            </a:r>
            <a:r>
              <a:rPr lang="en-US" sz="1200" dirty="0">
                <a:solidFill>
                  <a:schemeClr val="tx1"/>
                </a:solidFill>
              </a:rPr>
              <a:t>])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772067" y="189336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970243" y="4221209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67D5D4F-D237-7B43-FF06-8B534EC30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424877"/>
              </p:ext>
            </p:extLst>
          </p:nvPr>
        </p:nvGraphicFramePr>
        <p:xfrm>
          <a:off x="416261" y="4764878"/>
          <a:ext cx="11378010" cy="15576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367957">
                  <a:extLst>
                    <a:ext uri="{9D8B030D-6E8A-4147-A177-3AD203B41FA5}">
                      <a16:colId xmlns:a16="http://schemas.microsoft.com/office/drawing/2014/main" val="2763857822"/>
                    </a:ext>
                  </a:extLst>
                </a:gridCol>
                <a:gridCol w="1782816">
                  <a:extLst>
                    <a:ext uri="{9D8B030D-6E8A-4147-A177-3AD203B41FA5}">
                      <a16:colId xmlns:a16="http://schemas.microsoft.com/office/drawing/2014/main" val="2887983121"/>
                    </a:ext>
                  </a:extLst>
                </a:gridCol>
                <a:gridCol w="1886724">
                  <a:extLst>
                    <a:ext uri="{9D8B030D-6E8A-4147-A177-3AD203B41FA5}">
                      <a16:colId xmlns:a16="http://schemas.microsoft.com/office/drawing/2014/main" val="2591759842"/>
                    </a:ext>
                  </a:extLst>
                </a:gridCol>
                <a:gridCol w="1739433">
                  <a:extLst>
                    <a:ext uri="{9D8B030D-6E8A-4147-A177-3AD203B41FA5}">
                      <a16:colId xmlns:a16="http://schemas.microsoft.com/office/drawing/2014/main" val="559988772"/>
                    </a:ext>
                  </a:extLst>
                </a:gridCol>
                <a:gridCol w="1350218">
                  <a:extLst>
                    <a:ext uri="{9D8B030D-6E8A-4147-A177-3AD203B41FA5}">
                      <a16:colId xmlns:a16="http://schemas.microsoft.com/office/drawing/2014/main" val="1438456063"/>
                    </a:ext>
                  </a:extLst>
                </a:gridCol>
                <a:gridCol w="1195805">
                  <a:extLst>
                    <a:ext uri="{9D8B030D-6E8A-4147-A177-3AD203B41FA5}">
                      <a16:colId xmlns:a16="http://schemas.microsoft.com/office/drawing/2014/main" val="2787923875"/>
                    </a:ext>
                  </a:extLst>
                </a:gridCol>
                <a:gridCol w="1002979">
                  <a:extLst>
                    <a:ext uri="{9D8B030D-6E8A-4147-A177-3AD203B41FA5}">
                      <a16:colId xmlns:a16="http://schemas.microsoft.com/office/drawing/2014/main" val="2670914110"/>
                    </a:ext>
                  </a:extLst>
                </a:gridCol>
                <a:gridCol w="1052078">
                  <a:extLst>
                    <a:ext uri="{9D8B030D-6E8A-4147-A177-3AD203B41FA5}">
                      <a16:colId xmlns:a16="http://schemas.microsoft.com/office/drawing/2014/main" val="3057274228"/>
                    </a:ext>
                  </a:extLst>
                </a:gridCol>
              </a:tblGrid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Memory (GB)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/>
                          </a:solidFill>
                          <a:effectLst/>
                        </a:rPr>
                        <a:t>setup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1"/>
                          </a:solidFill>
                          <a:effectLst/>
                        </a:rPr>
                        <a:t>pip (min)</a:t>
                      </a:r>
                      <a:endParaRPr lang="en-US" sz="1400" b="1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</a:rPr>
                        <a:t>test (min)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38683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 Mini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Sonoma 14.6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8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3.94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5.11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84939"/>
                  </a:ext>
                </a:extLst>
              </a:tr>
              <a:tr h="5647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Lenovo Y710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Ubuntu 22.04.5 LTS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Intel® Core™ i7-6700 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GeForce GTX 1080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6.15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20.27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9585665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MacBook Pro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Sequoia 15.2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Core i5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Iris Plus 645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6.67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10.25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1.22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22576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8B83A-C0C3-3D60-F99A-63ADB307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28832D-2287-F4AC-CF85-B0B344177870}"/>
              </a:ext>
            </a:extLst>
          </p:cNvPr>
          <p:cNvSpPr txBox="1"/>
          <p:nvPr/>
        </p:nvSpPr>
        <p:spPr>
          <a:xfrm>
            <a:off x="416261" y="6349846"/>
            <a:ext cx="807438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dirty="0">
                <a:effectLst/>
              </a:rPr>
              <a:t>* Ubuntu: 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bash &lt;(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wget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 -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qO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- https://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nemd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/main/setup)</a:t>
            </a:r>
            <a:endParaRPr lang="en-US" sz="1500" i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D2B1B2-4396-513B-10FF-3C1E6D7763A1}"/>
              </a:ext>
            </a:extLst>
          </p:cNvPr>
          <p:cNvSpPr txBox="1"/>
          <p:nvPr/>
        </p:nvSpPr>
        <p:spPr>
          <a:xfrm>
            <a:off x="478418" y="731520"/>
            <a:ext cx="11430000" cy="5669280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r>
              <a:rPr lang="en-US" sz="1300" dirty="0">
                <a:effectLst/>
              </a:rPr>
              <a:t>class Darwin: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macOS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Install the packages required by compilation.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if not </a:t>
            </a:r>
            <a:r>
              <a:rPr lang="en-US" sz="1300" dirty="0" err="1">
                <a:effectLst/>
              </a:rPr>
              <a:t>self.lmp_exe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</a:t>
            </a:r>
            <a:r>
              <a:rPr lang="en-US" sz="1300" dirty="0" err="1">
                <a:effectLst/>
              </a:rPr>
              <a:t>self.LMP_PKGS</a:t>
            </a:r>
            <a:br>
              <a:rPr lang="en-US" sz="1300" dirty="0"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 = ' '.join(</a:t>
            </a:r>
            <a:r>
              <a:rPr lang="en-US" sz="1300" dirty="0" err="1">
                <a:effectLst/>
              </a:rPr>
              <a:t>self.INSTALL</a:t>
            </a:r>
            <a:r>
              <a:rPr lang="en-US" sz="1300" dirty="0">
                <a:effectLst/>
              </a:rPr>
              <a:t> + pkgs)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</a:t>
            </a:r>
            <a:r>
              <a:rPr lang="en-US" sz="1300" dirty="0" err="1">
                <a:effectLst/>
              </a:rPr>
              <a:t>f"echo</a:t>
            </a:r>
            <a:r>
              <a:rPr lang="en-US" sz="1300" dirty="0">
                <a:effectLst/>
              </a:rPr>
              <a:t>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};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}",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compile</a:t>
            </a:r>
            <a:r>
              <a:rPr lang="en-US" sz="1300" dirty="0">
                <a:effectLst/>
              </a:rPr>
              <a:t>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Compile the binaries.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('bash </a:t>
            </a:r>
            <a:r>
              <a:rPr lang="en-US" sz="1300" dirty="0" err="1">
                <a:effectLst/>
              </a:rPr>
              <a:t>install.sh</a:t>
            </a:r>
            <a:r>
              <a:rPr lang="en-US" sz="1300" dirty="0">
                <a:effectLst/>
              </a:rPr>
              <a:t>',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r>
              <a:rPr lang="en-US" sz="1300" dirty="0">
                <a:effectLst/>
              </a:rPr>
              <a:t>class Linux(Darwin):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Linux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6AAB73"/>
                </a:solidFill>
                <a:effectLst/>
              </a:rPr>
            </a:br>
            <a:br>
              <a:rPr lang="en-US" sz="1300" dirty="0">
                <a:solidFill>
                  <a:srgbClr val="6AAB73"/>
                </a:solidFill>
                <a:effectLst/>
              </a:rPr>
            </a:br>
            <a:r>
              <a:rPr lang="en-US" sz="1300" dirty="0">
                <a:solidFill>
                  <a:srgbClr val="6AAB73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Customize the prerequisites for Linux machine.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info =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</a:t>
            </a:r>
            <a:r>
              <a:rPr lang="en-US" sz="1300" dirty="0" err="1">
                <a:effectLst/>
              </a:rPr>
              <a:t>nvidia-smi</a:t>
            </a:r>
            <a:r>
              <a:rPr lang="en-US" sz="1300" dirty="0">
                <a:effectLst/>
              </a:rPr>
              <a:t> | grep NVIDIA')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if not </a:t>
            </a:r>
            <a:r>
              <a:rPr lang="en-US" sz="1300" dirty="0" err="1">
                <a:effectLst/>
              </a:rPr>
              <a:t>info.returncode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('</a:t>
            </a:r>
            <a:r>
              <a:rPr lang="en-US" sz="1300" dirty="0" err="1">
                <a:effectLst/>
              </a:rPr>
              <a:t>nvidia</a:t>
            </a:r>
            <a:r>
              <a:rPr lang="en-US" sz="1300" dirty="0">
                <a:effectLst/>
              </a:rPr>
              <a:t>-</a:t>
            </a:r>
            <a:r>
              <a:rPr lang="en-US" sz="1300" dirty="0" err="1">
                <a:effectLst/>
              </a:rPr>
              <a:t>cuda</a:t>
            </a:r>
            <a:r>
              <a:rPr lang="en-US" sz="1300" dirty="0">
                <a:effectLst/>
              </a:rPr>
              <a:t>-toolkit’, 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super().</a:t>
            </a:r>
            <a:r>
              <a:rPr lang="en-US" sz="1300" dirty="0" err="1">
                <a:effectLst/>
              </a:rPr>
              <a:t>prereq</a:t>
            </a:r>
            <a:r>
              <a:rPr lang="en-US" sz="1300" dirty="0">
                <a:effectLst/>
              </a:rPr>
              <a:t>(*pkgs)</a:t>
            </a:r>
            <a:endParaRPr lang="en-US" sz="1300" dirty="0"/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</a:endParaRPr>
          </a:p>
          <a:p>
            <a:r>
              <a:rPr lang="en-US" sz="1300" dirty="0">
                <a:effectLst/>
              </a:rPr>
              <a:t>Installer = {'</a:t>
            </a:r>
            <a:r>
              <a:rPr lang="en-US" sz="1300" dirty="0" err="1">
                <a:effectLst/>
              </a:rPr>
              <a:t>darwin</a:t>
            </a:r>
            <a:r>
              <a:rPr lang="en-US" sz="1300" dirty="0">
                <a:effectLst/>
              </a:rPr>
              <a:t>': Darwin, '</a:t>
            </a:r>
            <a:r>
              <a:rPr lang="en-US" sz="1300" dirty="0" err="1">
                <a:effectLst/>
              </a:rPr>
              <a:t>linux</a:t>
            </a:r>
            <a:r>
              <a:rPr lang="en-US" sz="1300" dirty="0">
                <a:effectLst/>
              </a:rPr>
              <a:t>': Linux}[</a:t>
            </a:r>
            <a:r>
              <a:rPr lang="en-US" sz="1300" dirty="0" err="1">
                <a:effectLst/>
              </a:rPr>
              <a:t>sys.platform</a:t>
            </a:r>
            <a:r>
              <a:rPr lang="en-US" sz="1300" dirty="0">
                <a:effectLst/>
              </a:rPr>
              <a:t>]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effectLst/>
              </a:rPr>
              <a:t>class</a:t>
            </a:r>
            <a:r>
              <a:rPr lang="en-US" sz="1300" dirty="0">
                <a:solidFill>
                  <a:srgbClr val="CF8E6D"/>
                </a:solidFill>
                <a:effectLst/>
              </a:rPr>
              <a:t> </a:t>
            </a:r>
            <a:r>
              <a:rPr lang="en-US" sz="1300" dirty="0">
                <a:effectLst/>
              </a:rPr>
              <a:t>Distribution(Installer):</a:t>
            </a:r>
            <a:br>
              <a:rPr lang="en-US" sz="1300" dirty="0"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Distribute the scripts, packages and data.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b="1" dirty="0">
                <a:effectLst/>
              </a:rPr>
              <a:t>def run(self):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Main method to install and distribute.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</a:t>
            </a:r>
            <a:r>
              <a:rPr lang="en-US" sz="1300" i="1" dirty="0">
                <a:solidFill>
                  <a:srgbClr val="00B0F0"/>
                </a:solidFill>
                <a:effectLst/>
              </a:rPr>
              <a:t>       </a:t>
            </a:r>
            <a:r>
              <a:rPr lang="en-US" sz="1300" dirty="0" err="1">
                <a:solidFill>
                  <a:srgbClr val="00B0F0"/>
                </a:solidFill>
              </a:rPr>
              <a:t>self.prereq</a:t>
            </a:r>
            <a:r>
              <a:rPr lang="en-US" sz="1300" dirty="0"/>
              <a:t>()</a:t>
            </a:r>
          </a:p>
          <a:p>
            <a:r>
              <a:rPr lang="en-US" sz="1300" dirty="0">
                <a:solidFill>
                  <a:srgbClr val="00B0F0"/>
                </a:solidFill>
              </a:rPr>
              <a:t>        </a:t>
            </a:r>
            <a:r>
              <a:rPr lang="en-US" sz="1300" dirty="0" err="1">
                <a:solidFill>
                  <a:srgbClr val="00B0F0"/>
                </a:solidFill>
              </a:rPr>
              <a:t>self.compile</a:t>
            </a:r>
            <a:r>
              <a:rPr lang="en-US" sz="1300" dirty="0"/>
              <a:t>()</a:t>
            </a:r>
            <a:br>
              <a:rPr lang="en-US" sz="1300" dirty="0"/>
            </a:br>
            <a:r>
              <a:rPr lang="en-US" sz="1300" dirty="0"/>
              <a:t>        </a:t>
            </a:r>
            <a:r>
              <a:rPr lang="en-US" sz="1300" dirty="0" err="1">
                <a:solidFill>
                  <a:schemeClr val="accent2"/>
                </a:solidFill>
              </a:rPr>
              <a:t>self.setup</a:t>
            </a:r>
            <a:r>
              <a:rPr lang="en-US" sz="1300" dirty="0"/>
              <a:t>()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78419" y="1555933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python3.10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92695"/>
              </p:ext>
            </p:extLst>
          </p:nvPr>
        </p:nvGraphicFramePr>
        <p:xfrm>
          <a:off x="5163591" y="3954001"/>
          <a:ext cx="429768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337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144307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4365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 err="1">
                          <a:solidFill>
                            <a:schemeClr val="accent2"/>
                          </a:solidFill>
                          <a:effectLst/>
                        </a:rPr>
                        <a:t>setuptools</a:t>
                      </a:r>
                      <a:r>
                        <a:rPr lang="en-US" sz="1400" b="0" dirty="0" err="1">
                          <a:solidFill>
                            <a:schemeClr val="accent2"/>
                          </a:solidFill>
                        </a:rPr>
                        <a:t>.setup</a:t>
                      </a:r>
                      <a:endParaRPr 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files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Non-python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lammps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[build/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lmp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]},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Scripts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scripts=[</a:t>
                      </a:r>
                      <a:r>
                        <a:rPr lang="en-US" sz="1400" dirty="0" err="1"/>
                        <a:t>sh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nemd_run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install_requires</a:t>
                      </a:r>
                      <a:r>
                        <a:rPr lang="en-US" sz="1400" dirty="0"/>
                        <a:t>=[</a:t>
                      </a:r>
                      <a:r>
                        <a:rPr lang="en-US" sz="1400" dirty="0" err="1"/>
                        <a:t>numpy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scipy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Metadata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classifiers=[Status ::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C3A045-037E-395D-3D4C-73000FD8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4</a:t>
            </a:fld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9472D82-6278-FB6C-1597-341A55663B49}"/>
              </a:ext>
            </a:extLst>
          </p:cNvPr>
          <p:cNvSpPr/>
          <p:nvPr/>
        </p:nvSpPr>
        <p:spPr>
          <a:xfrm>
            <a:off x="9579769" y="4379118"/>
            <a:ext cx="171450" cy="728662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1B17EF-607B-61CF-F81A-13E8B5D4E6E1}"/>
              </a:ext>
            </a:extLst>
          </p:cNvPr>
          <p:cNvCxnSpPr/>
          <p:nvPr/>
        </p:nvCxnSpPr>
        <p:spPr>
          <a:xfrm>
            <a:off x="9579769" y="5350668"/>
            <a:ext cx="1714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6889AD6-ADD5-77C7-137F-7D0A47FDB098}"/>
              </a:ext>
            </a:extLst>
          </p:cNvPr>
          <p:cNvSpPr/>
          <p:nvPr/>
        </p:nvSpPr>
        <p:spPr>
          <a:xfrm>
            <a:off x="9869717" y="4558783"/>
            <a:ext cx="16102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04D04F-FFE5-4139-C4AB-BF0DD7D66638}"/>
              </a:ext>
            </a:extLst>
          </p:cNvPr>
          <p:cNvSpPr/>
          <p:nvPr/>
        </p:nvSpPr>
        <p:spPr>
          <a:xfrm>
            <a:off x="9928515" y="5137426"/>
            <a:ext cx="14840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bin/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2840913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Executions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D48-6892-EA3D-B212-225AC155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798996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12637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56748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594742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509DB-62AA-1C0D-B5B8-3ECA6A6F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6C03E0-F379-569F-EBC3-7B95466F6999}"/>
              </a:ext>
            </a:extLst>
          </p:cNvPr>
          <p:cNvSpPr/>
          <p:nvPr/>
        </p:nvSpPr>
        <p:spPr>
          <a:xfrm>
            <a:off x="168928" y="5822182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744577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196446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468431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643132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6253832" y="2276800"/>
            <a:ext cx="16513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assignment (</a:t>
            </a:r>
            <a:r>
              <a:rPr lang="en-US" sz="1400" dirty="0" err="1"/>
              <a:t>oplsua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7191485" y="3746582"/>
            <a:ext cx="166898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lammpsin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11005813" y="2272848"/>
            <a:ext cx="110860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molecule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6161977" y="293869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4919455" y="3333245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4954329" y="3742854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C948FC-462B-754D-9753-C9DD615D9B10}"/>
              </a:ext>
            </a:extLst>
          </p:cNvPr>
          <p:cNvSpPr txBox="1"/>
          <p:nvPr/>
        </p:nvSpPr>
        <p:spPr>
          <a:xfrm>
            <a:off x="7946546" y="3336492"/>
            <a:ext cx="1563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 err="1"/>
              <a:t>sw</a:t>
            </a:r>
            <a:r>
              <a:rPr lang="en-US" sz="1400" dirty="0"/>
              <a:t> data (</a:t>
            </a:r>
            <a:r>
              <a:rPr lang="en-US" sz="1400" dirty="0" err="1"/>
              <a:t>stillinger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169864" y="4183643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188434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51660" y="4648543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456996" y="3747543"/>
            <a:ext cx="149778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cell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746057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791170" y="3325769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E968D6B-323C-314E-B6DF-80413BCDFF2F}"/>
              </a:ext>
            </a:extLst>
          </p:cNvPr>
          <p:cNvSpPr/>
          <p:nvPr/>
        </p:nvSpPr>
        <p:spPr>
          <a:xfrm>
            <a:off x="6198556" y="2598713"/>
            <a:ext cx="18277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force fields (forcefield)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576798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     environmental variables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    commands (</a:t>
            </a:r>
            <a:r>
              <a:rPr lang="en-US" sz="1400" dirty="0" err="1">
                <a:solidFill>
                  <a:schemeClr val="tx1"/>
                </a:solidFill>
              </a:rPr>
              <a:t>lammpsfix</a:t>
            </a:r>
            <a:r>
              <a:rPr lang="en-US" sz="1400" dirty="0">
                <a:solidFill>
                  <a:schemeClr val="tx1"/>
                </a:solidFill>
              </a:rPr>
              <a:t>)     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    hardcoded constants (symbols)          </a:t>
            </a:r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           </a:t>
            </a:r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     constants(constants)                             </a:t>
            </a:r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          points (geometry)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112510" y="933881"/>
            <a:ext cx="1925469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F7D7D12-8447-BB49-BBCE-2FCE6E78AB51}"/>
              </a:ext>
            </a:extLst>
          </p:cNvPr>
          <p:cNvSpPr txBox="1"/>
          <p:nvPr/>
        </p:nvSpPr>
        <p:spPr>
          <a:xfrm>
            <a:off x="6306581" y="1952802"/>
            <a:ext cx="14716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type atom </a:t>
            </a:r>
            <a:r>
              <a:rPr lang="en-US" sz="1400" dirty="0"/>
              <a:t>(</a:t>
            </a:r>
            <a:r>
              <a:rPr lang="en-US" sz="1400" dirty="0" err="1"/>
              <a:t>typer</a:t>
            </a:r>
            <a:r>
              <a:rPr lang="en-US" sz="1400" dirty="0"/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634949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993582" y="1294180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222955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440587" y="657207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99532" y="671655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282269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209615" y="663300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0D54CCC-5181-EC42-8EC6-5D07F2DD613D}"/>
              </a:ext>
            </a:extLst>
          </p:cNvPr>
          <p:cNvCxnSpPr>
            <a:cxnSpLocks/>
          </p:cNvCxnSpPr>
          <p:nvPr/>
        </p:nvCxnSpPr>
        <p:spPr>
          <a:xfrm>
            <a:off x="6845521" y="221738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697AD97-2476-1342-B225-591341AC3CBD}"/>
              </a:ext>
            </a:extLst>
          </p:cNvPr>
          <p:cNvCxnSpPr>
            <a:cxnSpLocks/>
          </p:cNvCxnSpPr>
          <p:nvPr/>
        </p:nvCxnSpPr>
        <p:spPr>
          <a:xfrm>
            <a:off x="6844124" y="253435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703324" y="320906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729712" y="4191867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9508" y="4191752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960224" y="3337431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968524" y="3262874"/>
            <a:ext cx="0" cy="920769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1279928" y="3334974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>
            <a:off x="8182834" y="3113590"/>
            <a:ext cx="2865726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388921" y="3268525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605348" y="327070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388922" y="326927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6841361" y="320506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379276" y="364337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FA627E8-B105-754C-B3B5-F71A0BC79912}"/>
              </a:ext>
            </a:extLst>
          </p:cNvPr>
          <p:cNvCxnSpPr>
            <a:cxnSpLocks/>
          </p:cNvCxnSpPr>
          <p:nvPr/>
        </p:nvCxnSpPr>
        <p:spPr>
          <a:xfrm>
            <a:off x="8685274" y="3701116"/>
            <a:ext cx="26685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967589FD-AD7D-794F-A692-026751B959B4}"/>
              </a:ext>
            </a:extLst>
          </p:cNvPr>
          <p:cNvCxnSpPr>
            <a:cxnSpLocks/>
          </p:cNvCxnSpPr>
          <p:nvPr/>
        </p:nvCxnSpPr>
        <p:spPr>
          <a:xfrm>
            <a:off x="8685274" y="363631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E3DE2A6-655F-CB4B-B973-CA4473783585}"/>
              </a:ext>
            </a:extLst>
          </p:cNvPr>
          <p:cNvCxnSpPr>
            <a:cxnSpLocks/>
          </p:cNvCxnSpPr>
          <p:nvPr/>
        </p:nvCxnSpPr>
        <p:spPr>
          <a:xfrm>
            <a:off x="10018828" y="363791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H="1">
            <a:off x="10018499" y="370496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379276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353800" y="3262874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667097" y="320461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00044" y="3111201"/>
            <a:ext cx="1205632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794176" y="2960748"/>
            <a:ext cx="19373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(box)</a:t>
            </a: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21D6DE39-900F-A642-8879-3312DC9805EE}"/>
              </a:ext>
            </a:extLst>
          </p:cNvPr>
          <p:cNvCxnSpPr>
            <a:cxnSpLocks/>
          </p:cNvCxnSpPr>
          <p:nvPr/>
        </p:nvCxnSpPr>
        <p:spPr>
          <a:xfrm rot="5400000" flipH="1">
            <a:off x="7956101" y="343392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416C88BD-64D6-A846-B55B-00C80378E874}"/>
              </a:ext>
            </a:extLst>
          </p:cNvPr>
          <p:cNvCxnSpPr>
            <a:cxnSpLocks/>
          </p:cNvCxnSpPr>
          <p:nvPr/>
        </p:nvCxnSpPr>
        <p:spPr>
          <a:xfrm rot="16200000" flipH="1">
            <a:off x="6432430" y="343581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0B588961-8B60-BB4C-AC94-F82CAB6C540E}"/>
              </a:ext>
            </a:extLst>
          </p:cNvPr>
          <p:cNvCxnSpPr>
            <a:cxnSpLocks/>
          </p:cNvCxnSpPr>
          <p:nvPr/>
        </p:nvCxnSpPr>
        <p:spPr>
          <a:xfrm>
            <a:off x="7575233" y="4075054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467858" y="3343065"/>
            <a:ext cx="149756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datafile</a:t>
            </a:r>
            <a:r>
              <a:rPr lang="en-US" sz="1400" dirty="0"/>
              <a:t> (</a:t>
            </a:r>
            <a:r>
              <a:rPr lang="en-US" sz="1400" dirty="0" err="1"/>
              <a:t>lmpdata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18581" y="3302702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64641" y="3901861"/>
            <a:ext cx="168999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28F3566E-4891-CD40-A5DF-2B4AAF4101E4}"/>
              </a:ext>
            </a:extLst>
          </p:cNvPr>
          <p:cNvCxnSpPr>
            <a:cxnSpLocks/>
          </p:cNvCxnSpPr>
          <p:nvPr/>
        </p:nvCxnSpPr>
        <p:spPr>
          <a:xfrm flipV="1">
            <a:off x="5529469" y="3742854"/>
            <a:ext cx="2994576" cy="3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B5EE8B01-B3B5-D047-8C7E-BD87FA6084E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529469" y="362875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4A83404-54BB-5945-A56E-C7164E27DC79}"/>
              </a:ext>
            </a:extLst>
          </p:cNvPr>
          <p:cNvCxnSpPr>
            <a:cxnSpLocks/>
          </p:cNvCxnSpPr>
          <p:nvPr/>
        </p:nvCxnSpPr>
        <p:spPr>
          <a:xfrm rot="10800000" flipH="1">
            <a:off x="8528478" y="362888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FE017328-8507-6344-918D-CB3EA1E05C72}"/>
              </a:ext>
            </a:extLst>
          </p:cNvPr>
          <p:cNvCxnSpPr>
            <a:cxnSpLocks/>
          </p:cNvCxnSpPr>
          <p:nvPr/>
        </p:nvCxnSpPr>
        <p:spPr>
          <a:xfrm>
            <a:off x="7575233" y="373986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749419" y="343353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701244" y="361063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407904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401514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401674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4087382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>
            <a:off x="5362825" y="4597056"/>
            <a:ext cx="65988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62826" y="4492624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961689" y="453279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6846772" y="287523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556931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49303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49463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56527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495145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543105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Right Brace 188">
            <a:extLst>
              <a:ext uri="{FF2B5EF4-FFF2-40B4-BE49-F238E27FC236}">
                <a16:creationId xmlns:a16="http://schemas.microsoft.com/office/drawing/2014/main" id="{CA91F78D-6678-F342-BEC9-CBC5BAC2852B}"/>
              </a:ext>
            </a:extLst>
          </p:cNvPr>
          <p:cNvSpPr/>
          <p:nvPr/>
        </p:nvSpPr>
        <p:spPr>
          <a:xfrm rot="10800000">
            <a:off x="4908190" y="4712047"/>
            <a:ext cx="109728" cy="21259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68343" y="475198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22266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5812557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</a:t>
            </a:r>
            <a:r>
              <a:rPr lang="en-US" sz="1400" dirty="0" err="1">
                <a:solidFill>
                  <a:schemeClr val="tx1"/>
                </a:solidFill>
              </a:rPr>
              <a:t>builer</a:t>
            </a:r>
            <a:r>
              <a:rPr lang="en-US" sz="1400" dirty="0">
                <a:solidFill>
                  <a:schemeClr val="tx1"/>
                </a:solidFill>
              </a:rPr>
              <a:t>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labels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208705" y="1708921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131618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8458" y="2260954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2" y="1969615"/>
            <a:ext cx="2438485" cy="939670"/>
          </a:xfrm>
          <a:prstGeom prst="roundRect">
            <a:avLst>
              <a:gd name="adj" fmla="val 21938"/>
            </a:avLst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  <a:p>
            <a:r>
              <a:rPr lang="en-US" sz="1200" dirty="0">
                <a:solidFill>
                  <a:srgbClr val="7030A0"/>
                </a:solidFill>
              </a:rPr>
              <a:t>             </a:t>
            </a:r>
            <a:r>
              <a:rPr lang="en-US" sz="1200" dirty="0">
                <a:solidFill>
                  <a:schemeClr val="tx1"/>
                </a:solidFill>
              </a:rPr>
              <a:t>depends on any modules</a:t>
            </a:r>
          </a:p>
        </p:txBody>
      </p:sp>
      <p:sp>
        <p:nvSpPr>
          <p:cNvPr id="223" name="Right Brace 222">
            <a:extLst>
              <a:ext uri="{FF2B5EF4-FFF2-40B4-BE49-F238E27FC236}">
                <a16:creationId xmlns:a16="http://schemas.microsoft.com/office/drawing/2014/main" id="{97D93D61-7C9E-AB4A-AEDC-3B2C928F245D}"/>
              </a:ext>
            </a:extLst>
          </p:cNvPr>
          <p:cNvSpPr/>
          <p:nvPr/>
        </p:nvSpPr>
        <p:spPr>
          <a:xfrm rot="5400000">
            <a:off x="482346" y="2647057"/>
            <a:ext cx="109728" cy="3504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9401153" y="333671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F612E1D-12F9-5344-8796-24225E09D6EA}"/>
              </a:ext>
            </a:extLst>
          </p:cNvPr>
          <p:cNvCxnSpPr>
            <a:cxnSpLocks/>
          </p:cNvCxnSpPr>
          <p:nvPr/>
        </p:nvCxnSpPr>
        <p:spPr>
          <a:xfrm>
            <a:off x="11353800" y="362955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53800" y="5126189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13616" y="5819324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04911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D6BA2C4-480D-39D7-BEAA-99FFCBF58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429485" y="1963691"/>
            <a:ext cx="11206992" cy="4524315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200" dirty="0"/>
              <a:t># /bin/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/>
              <a:t>: '</a:t>
            </a:r>
            <a:br>
              <a:rPr lang="en-US" sz="1200" dirty="0"/>
            </a:br>
            <a:r>
              <a:rPr lang="en-US" sz="1200" dirty="0"/>
              <a:t>Set up the environment for the module, </a:t>
            </a:r>
            <a:r>
              <a:rPr lang="en-US" sz="1200" dirty="0" err="1"/>
              <a:t>sh</a:t>
            </a:r>
            <a:r>
              <a:rPr lang="en-US" sz="1200" dirty="0"/>
              <a:t>, driver, workflow, and submodule directories.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Usage:</a:t>
            </a:r>
            <a:br>
              <a:rPr lang="en-US" sz="1200" dirty="0"/>
            </a:br>
            <a:r>
              <a:rPr lang="en-US" sz="1200" dirty="0"/>
              <a:t>  .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  source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‘</a:t>
            </a:r>
          </a:p>
          <a:p>
            <a:br>
              <a:rPr lang="en-US" sz="1200" dirty="0"/>
            </a:b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Type and Root Directory</a:t>
            </a:r>
            <a:br>
              <a:rPr lang="en-US" sz="1200" dirty="0"/>
            </a:br>
            <a:r>
              <a:rPr lang="en-US" sz="1200" dirty="0"/>
              <a:t>if [ $(</a:t>
            </a:r>
            <a:r>
              <a:rPr lang="en-US" sz="1200" dirty="0" err="1"/>
              <a:t>basename</a:t>
            </a:r>
            <a:r>
              <a:rPr lang="en-US" sz="1200" dirty="0"/>
              <a:t> $0) = '</a:t>
            </a:r>
            <a:r>
              <a:rPr lang="en-US" sz="1200" dirty="0" err="1"/>
              <a:t>premake</a:t>
            </a:r>
            <a:r>
              <a:rPr lang="en-US" sz="1200" dirty="0"/>
              <a:t>' ]</a:t>
            </a:r>
            <a:br>
              <a:rPr lang="en-US" sz="1200" dirty="0"/>
            </a:br>
            <a:r>
              <a:rPr lang="en-US" sz="1200" dirty="0"/>
              <a:t>then</a:t>
            </a:r>
            <a:br>
              <a:rPr lang="en-US" sz="1200" dirty="0"/>
            </a:br>
            <a:r>
              <a:rPr lang="en-US" sz="1200" dirty="0"/>
              <a:t>  NEMD_SRC="$0" &amp;&amp; echo "</a:t>
            </a:r>
            <a:r>
              <a:rPr lang="en-US" sz="1200" dirty="0" err="1"/>
              <a:t>zsh</a:t>
            </a:r>
            <a:r>
              <a:rPr lang="en-US" sz="1200" dirty="0"/>
              <a:t>"</a:t>
            </a:r>
            <a:br>
              <a:rPr lang="en-US" sz="1200" dirty="0"/>
            </a:br>
            <a:r>
              <a:rPr lang="en-US" sz="1200" dirty="0" err="1"/>
              <a:t>elif</a:t>
            </a:r>
            <a:r>
              <a:rPr lang="en-US" sz="1200" dirty="0"/>
              <a:t> [ $BASH_SOURCE ]</a:t>
            </a:r>
            <a:br>
              <a:rPr lang="en-US" sz="1200" dirty="0"/>
            </a:br>
            <a:r>
              <a:rPr lang="en-US" sz="1200" dirty="0"/>
              <a:t>  then</a:t>
            </a:r>
            <a:br>
              <a:rPr lang="en-US" sz="1200" dirty="0"/>
            </a:br>
            <a:r>
              <a:rPr lang="en-US" sz="1200" dirty="0"/>
              <a:t>  NEMD_SRC=${BASH_SOURCE[0]} &amp;&amp; echo "POSIX"</a:t>
            </a:r>
            <a:br>
              <a:rPr lang="en-US" sz="1200" dirty="0"/>
            </a:br>
            <a:r>
              <a:rPr lang="en-US" sz="1200" dirty="0"/>
              <a:t>else</a:t>
            </a:r>
            <a:br>
              <a:rPr lang="en-US" sz="1200" dirty="0"/>
            </a:br>
            <a:r>
              <a:rPr lang="en-US" sz="1200" dirty="0"/>
              <a:t>  x="$(</a:t>
            </a:r>
            <a:r>
              <a:rPr lang="en-US" sz="1200" dirty="0" err="1"/>
              <a:t>lsof</a:t>
            </a:r>
            <a:r>
              <a:rPr lang="en-US" sz="1200" dirty="0"/>
              <a:t> -p $$ -Fn0 | tail -1 | tr -d "\0")" &amp;&amp; NEMD_SRC=${x#*n} &amp;&amp; echo "dash"</a:t>
            </a:r>
            <a:br>
              <a:rPr lang="en-US" sz="1200" dirty="0"/>
            </a:br>
            <a:r>
              <a:rPr lang="en-US" sz="1200" dirty="0"/>
              <a:t>fi</a:t>
            </a:r>
            <a:br>
              <a:rPr lang="en-US" sz="1200" dirty="0"/>
            </a:br>
            <a:r>
              <a:rPr lang="en-US" sz="1200" dirty="0"/>
              <a:t>[ ! -f $NEMD_SRC ] &amp;&amp; echo "Cannot locate the source root" &amp;&amp; return</a:t>
            </a:r>
            <a:br>
              <a:rPr lang="en-US" sz="1200" dirty="0"/>
            </a:br>
            <a:r>
              <a:rPr lang="en-US" sz="1200" dirty="0"/>
              <a:t>NEMD_SRC="$(</a:t>
            </a:r>
            <a:r>
              <a:rPr lang="en-US" sz="1200" dirty="0" err="1"/>
              <a:t>readlink</a:t>
            </a:r>
            <a:r>
              <a:rPr lang="en-US" sz="1200" dirty="0"/>
              <a:t> -f ${NEMD_SRC} | </a:t>
            </a:r>
            <a:r>
              <a:rPr lang="en-US" sz="1200" dirty="0" err="1"/>
              <a:t>xargs</a:t>
            </a:r>
            <a:r>
              <a:rPr lang="en-US" sz="1200" dirty="0"/>
              <a:t> </a:t>
            </a:r>
            <a:r>
              <a:rPr lang="en-US" sz="1200" dirty="0" err="1"/>
              <a:t>dirname</a:t>
            </a:r>
            <a:r>
              <a:rPr lang="en-US" sz="1200" dirty="0"/>
              <a:t>)" &amp;&amp; echo $NEMD_SRC</a:t>
            </a:r>
            <a:br>
              <a:rPr lang="en-US" sz="1200" dirty="0"/>
            </a:br>
            <a:endParaRPr lang="en-US" sz="1200" dirty="0"/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Module: NEMD, LAMMPS, and ALAMODE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() {</a:t>
            </a:r>
            <a:br>
              <a:rPr lang="en-US" sz="1200" dirty="0"/>
            </a:br>
            <a:r>
              <a:rPr lang="en-US" sz="1200" dirty="0"/>
              <a:t>  [ -d "$1" ] &amp;&amp; echo $PYTHONPATH | grep -q "$1" &amp;&amp; return</a:t>
            </a:r>
            <a:br>
              <a:rPr lang="en-US" sz="1200" dirty="0"/>
            </a:br>
            <a:r>
              <a:rPr lang="en-US" sz="1200" dirty="0"/>
              <a:t>  export PYTHONPATH="$1${PYTHONPATH:+":$PYTHONPATH"}"</a:t>
            </a:r>
            <a:br>
              <a:rPr lang="en-US" sz="1200" dirty="0"/>
            </a:br>
            <a:r>
              <a:rPr lang="en-US" sz="1200" dirty="0"/>
              <a:t>  }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 $NEMD_SRC/module</a:t>
            </a:r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Script: Shell, Workflow, Driver, and Submodule</a:t>
            </a:r>
            <a:br>
              <a:rPr lang="en-US" sz="1200" dirty="0"/>
            </a:br>
            <a:r>
              <a:rPr lang="en-US" sz="1200" dirty="0"/>
              <a:t>path() {</a:t>
            </a:r>
          </a:p>
          <a:p>
            <a:r>
              <a:rPr lang="en-US" sz="1200" dirty="0"/>
              <a:t>  [ -d "$1" ] &amp;&amp; echo $PATH | grep -q "$1”  || export PATH="$1${PATH:+":$PATH"}”</a:t>
            </a:r>
          </a:p>
          <a:p>
            <a:r>
              <a:rPr lang="en-US" sz="1200" dirty="0"/>
              <a:t>}</a:t>
            </a:r>
            <a:br>
              <a:rPr lang="en-US" sz="1200" dirty="0">
                <a:solidFill>
                  <a:srgbClr val="BCBEC4"/>
                </a:solidFill>
                <a:effectLst/>
              </a:rPr>
            </a:br>
            <a:r>
              <a:rPr lang="en-US" sz="1200" dirty="0" err="1"/>
              <a:t>add_path</a:t>
            </a:r>
            <a:r>
              <a:rPr lang="en-US" sz="1200" dirty="0"/>
              <a:t> $NEMD_SRC/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$NEMD_SRC/driver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$NEMD_SRC/workflow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$NEMD_SRC/module/alamode/alamode/tools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391943" y="1326363"/>
            <a:ext cx="8589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source code instead of installation is used.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0B5E4-2BCF-9370-AE1C-FF1FE561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451668"/>
              </p:ext>
            </p:extLst>
          </p:nvPr>
        </p:nvGraphicFramePr>
        <p:xfrm>
          <a:off x="714893" y="1591570"/>
          <a:ext cx="10753965" cy="47640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54136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2111828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6788001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</a:tblGrid>
              <a:tr h="548783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3174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source </a:t>
                      </a:r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nemd_test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test/unit/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800" dirty="0"/>
                        <a:t>makes sure that functions and methods are operating as expected.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nemd_itest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800" kern="1200" dirty="0">
                          <a:effectLst/>
                        </a:rPr>
                        <a:t> </a:t>
                      </a:r>
                      <a:r>
                        <a:rPr lang="en-US" sz="1800" dirty="0"/>
                        <a:t>makes sure that scripts run without tracebacks and yield reproducible results.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nemd_stest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800" dirty="0"/>
                        <a:t>ensures the repeatability, correctness and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800" dirty="0"/>
                        <a:t>scientific outputs.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nemd_ptest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2328772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976504"/>
              </p:ext>
            </p:extLst>
          </p:nvPr>
        </p:nvGraphicFramePr>
        <p:xfrm>
          <a:off x="8977745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9724536" y="1084119"/>
            <a:ext cx="982289" cy="4893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/>
              <a:t>Bug-free</a:t>
            </a:r>
          </a:p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7BE624-C351-E947-A83D-174C1415950F}"/>
              </a:ext>
            </a:extLst>
          </p:cNvPr>
          <p:cNvSpPr/>
          <p:nvPr/>
        </p:nvSpPr>
        <p:spPr>
          <a:xfrm>
            <a:off x="2881745" y="569325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before running tests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3404A-649A-19FA-498E-450E07A3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081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743047"/>
              </p:ext>
            </p:extLst>
          </p:nvPr>
        </p:nvGraphicFramePr>
        <p:xfrm>
          <a:off x="6845438" y="431766"/>
          <a:ext cx="4841736" cy="15270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12662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4029074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Shell syntax </a:t>
                      </a: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to check the results against expectations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 the execution 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Parametrize one command into multiple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71804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268348"/>
              </p:ext>
            </p:extLst>
          </p:nvPr>
        </p:nvGraphicFramePr>
        <p:xfrm>
          <a:off x="6845438" y="2078219"/>
          <a:ext cx="4841735" cy="2133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126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800473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436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in check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shell syntax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echo, [ -f file ], &amp;&amp;, ||, ( grep pattern file ),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existence of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glob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match number by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in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Specific string in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cmp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 of multiples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collect_log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 information from log files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58391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512327"/>
              </p:ext>
            </p:extLst>
          </p:nvPr>
        </p:nvGraphicFramePr>
        <p:xfrm>
          <a:off x="6845440" y="4334400"/>
          <a:ext cx="4841734" cy="1006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554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78618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084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keys in tag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15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of driver or workflow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084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682915" y="1281054"/>
            <a:ext cx="5847585" cy="512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nemd_itest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 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endParaRPr lang="en-US" sz="1500" dirty="0"/>
          </a:p>
          <a:p>
            <a:r>
              <a:rPr lang="en-US" sz="1400" i="1" dirty="0"/>
              <a:t>cd test/integration/0049; head </a:t>
            </a:r>
            <a:r>
              <a:rPr lang="en-US" sz="1400" i="1" dirty="0" err="1"/>
              <a:t>cmd</a:t>
            </a:r>
            <a:r>
              <a:rPr lang="en-US" sz="1400" i="1" dirty="0"/>
              <a:t> check tag param</a:t>
            </a:r>
          </a:p>
          <a:p>
            <a:endParaRPr lang="en-US" sz="1400" dirty="0"/>
          </a:p>
          <a:p>
            <a:r>
              <a:rPr lang="en-US" sz="1400" i="1" dirty="0"/>
              <a:t>==&gt; </a:t>
            </a:r>
            <a:r>
              <a:rPr lang="en-US" sz="1400" i="1" dirty="0" err="1"/>
              <a:t>cmd</a:t>
            </a:r>
            <a:r>
              <a:rPr lang="en-US" sz="1400" i="1" dirty="0"/>
              <a:t> &lt;==</a:t>
            </a:r>
          </a:p>
          <a:p>
            <a:r>
              <a:rPr lang="en-US" sz="1400" i="1" dirty="0"/>
              <a:t># Performance: [</a:t>
            </a:r>
            <a:r>
              <a:rPr lang="en-US" sz="1400" i="1" dirty="0" err="1"/>
              <a:t>Ar</a:t>
            </a:r>
            <a:r>
              <a:rPr lang="en-US" sz="1400" i="1" dirty="0"/>
              <a:t>] Amorphous Builder</a:t>
            </a:r>
          </a:p>
          <a:p>
            <a:r>
              <a:rPr lang="en-US" sz="1400" i="1" dirty="0" err="1"/>
              <a:t>nemd_run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[</a:t>
            </a:r>
            <a:r>
              <a:rPr lang="en-US" sz="1400" i="1" dirty="0" err="1"/>
              <a:t>Ar</a:t>
            </a:r>
            <a:r>
              <a:rPr lang="en-US" sz="1400" i="1" dirty="0"/>
              <a:t>] -method grid -</a:t>
            </a:r>
            <a:r>
              <a:rPr lang="en-US" sz="1400" i="1" dirty="0" err="1"/>
              <a:t>mol_num</a:t>
            </a:r>
            <a:r>
              <a:rPr lang="en-US" sz="1400" i="1" dirty="0"/>
              <a:t> $param -seed 1</a:t>
            </a:r>
          </a:p>
          <a:p>
            <a:endParaRPr lang="en-US" sz="1400" i="1" dirty="0"/>
          </a:p>
          <a:p>
            <a:r>
              <a:rPr lang="en-US" sz="1400" i="1" dirty="0"/>
              <a:t>==&gt; check &lt;==</a:t>
            </a:r>
          </a:p>
          <a:p>
            <a:r>
              <a:rPr lang="en-US" sz="1400" i="1" dirty="0" err="1"/>
              <a:t>collect_log</a:t>
            </a:r>
            <a:r>
              <a:rPr lang="en-US" sz="1400" i="1" dirty="0"/>
              <a:t>(</a:t>
            </a:r>
            <a:r>
              <a:rPr lang="en-US" sz="1400" i="1" dirty="0" err="1"/>
              <a:t>time,memory</a:t>
            </a:r>
            <a:r>
              <a:rPr lang="en-US" sz="1400" i="1" dirty="0"/>
              <a:t>) &amp;&amp; exist(0049.csv, 0049_time_memory.png)</a:t>
            </a:r>
          </a:p>
          <a:p>
            <a:endParaRPr lang="en-US" sz="1400" i="1" dirty="0"/>
          </a:p>
          <a:p>
            <a:r>
              <a:rPr lang="en-US" sz="1400" i="1" dirty="0"/>
              <a:t>==&gt; tag &lt;==</a:t>
            </a:r>
          </a:p>
          <a:p>
            <a:r>
              <a:rPr lang="en-US" sz="1400" i="1" dirty="0"/>
              <a:t>label(</a:t>
            </a:r>
            <a:r>
              <a:rPr lang="en-US" sz="1400" i="1" dirty="0" err="1"/>
              <a:t>amorp_bldr,wa</a:t>
            </a:r>
            <a:r>
              <a:rPr lang="en-US" sz="1400" i="1" dirty="0"/>
              <a:t>)</a:t>
            </a:r>
          </a:p>
          <a:p>
            <a:r>
              <a:rPr lang="en-US" sz="1400" i="1" dirty="0"/>
              <a:t>slow(100, 00:00:01)</a:t>
            </a:r>
          </a:p>
          <a:p>
            <a:r>
              <a:rPr lang="en-US" sz="1400" i="1" dirty="0"/>
              <a:t>slow(50000, 00:00:04)</a:t>
            </a:r>
          </a:p>
          <a:p>
            <a:endParaRPr lang="en-US" sz="1400" i="1" dirty="0"/>
          </a:p>
          <a:p>
            <a:r>
              <a:rPr lang="en-US" sz="1400" i="1" dirty="0"/>
              <a:t>==&gt; param &lt;==</a:t>
            </a:r>
          </a:p>
          <a:p>
            <a:r>
              <a:rPr lang="en-US" sz="1400" i="1" dirty="0"/>
              <a:t># Number of Molecules</a:t>
            </a:r>
          </a:p>
          <a:p>
            <a:r>
              <a:rPr lang="en-US" sz="1400" i="1" dirty="0"/>
              <a:t>100</a:t>
            </a:r>
          </a:p>
          <a:p>
            <a:r>
              <a:rPr lang="en-US" sz="1400" i="1" dirty="0"/>
              <a:t>50000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08E74-6968-1DAB-A24A-74B381B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4E2AD1-5186-F2C1-2AF8-715D40519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985189"/>
              </p:ext>
            </p:extLst>
          </p:nvPr>
        </p:nvGraphicFramePr>
        <p:xfrm>
          <a:off x="6845439" y="5469752"/>
          <a:ext cx="4841734" cy="92354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6701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87471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9342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Tag file format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85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comment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The str after # symbol is the label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934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parameter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Replace the $param in </a:t>
                      </a:r>
                      <a:r>
                        <a:rPr lang="en-US" sz="1400" i="1" dirty="0" err="1"/>
                        <a:t>cmd</a:t>
                      </a:r>
                      <a:r>
                        <a:rPr lang="en-US" sz="1400" i="1" dirty="0"/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to generate command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as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grow: grow molecules from the smallest rigid fragments</a:t>
            </a:r>
          </a:p>
          <a:p>
            <a:pPr marL="0" indent="0">
              <a:buNone/>
            </a:pPr>
            <a:endParaRPr lang="en-US" sz="1000" i="1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scalable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force_field</a:t>
            </a:r>
            <a:r>
              <a:rPr lang="en-US" sz="1300" dirty="0"/>
              <a:t> SW: (w style computes a 3-body </a:t>
            </a:r>
            <a:r>
              <a:rPr lang="en-US" sz="13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Stillinger-Weber</a:t>
            </a:r>
            <a:r>
              <a:rPr lang="en-US" sz="1300" dirty="0"/>
              <a:t> potential)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8864928"/>
              </p:ext>
            </p:extLst>
          </p:nvPr>
        </p:nvGraphicFramePr>
        <p:xfrm>
          <a:off x="6257428" y="312022"/>
          <a:ext cx="5551251" cy="606893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894945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49548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47864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98060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160834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Integration Test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method/driver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Molecule/Polymer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Structure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Comment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grid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Single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2(2)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 (120)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Set Geom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1(3)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Measure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 | 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CCCCCC(C)O [Ar]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(1.12)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Grow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*CC(O)*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5(3) | 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 CN(C)C=O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7(4)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1(200)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 Long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10(100)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Multi Long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TIP3P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CCC(=O)CC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CC(C)CC(=O)C(C)(C)C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[Li+].[F-]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[Na+].[Cl-]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[Br-].[Mg+2].[Br-]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[K+].[Br-]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 | 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</a:t>
                      </a:r>
                      <a:r>
                        <a:rPr lang="en-US" sz="1000" u="none" strike="noStrike" dirty="0" err="1">
                          <a:effectLst/>
                        </a:rPr>
                        <a:t>Rb</a:t>
                      </a:r>
                      <a:r>
                        <a:rPr lang="en-US" sz="1000" u="none" strike="noStrike" dirty="0">
                          <a:effectLst/>
                        </a:rPr>
                        <a:t>+].[Cl-] [Cs+].[Br-]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 | 5 | 5 | 5 | 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[He] [Ne] [Ar] [Kr] [Xe]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1| 1| 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[Ca+2] [Sr+2] [Ba+2] 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xtal_bldr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187521" y="6368766"/>
            <a:ext cx="219643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molecule numbers separated by |</a:t>
            </a:r>
          </a:p>
          <a:p>
            <a:r>
              <a:rPr lang="en-US" sz="1100" dirty="0"/>
              <a:t>repeat unit number noted inside ()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98B0F-98F1-6F4F-96E8-C56F7460FC25}"/>
              </a:ext>
            </a:extLst>
          </p:cNvPr>
          <p:cNvSpPr/>
          <p:nvPr/>
        </p:nvSpPr>
        <p:spPr>
          <a:xfrm>
            <a:off x="8401330" y="6364223"/>
            <a:ext cx="265008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* are the capping atoms for polymerization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F48F8-F6BA-4A6C-4E85-361BC29B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120263"/>
              </p:ext>
            </p:extLst>
          </p:nvPr>
        </p:nvGraphicFramePr>
        <p:xfrm>
          <a:off x="6334298" y="3399495"/>
          <a:ext cx="5544589" cy="29395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25972" y="82851"/>
            <a:ext cx="5544589" cy="3191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Using different geometries, </a:t>
            </a: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E2520-E813-389E-1C17-A2B04EC4A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888FE3-FC9F-C19C-4839-C34F1FA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5FCFF-324F-61E7-69CC-7DEA8AB9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344A-6936-3292-7B0A-CEBF0C369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Command-Line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B0EB9-B9FD-2DC2-79C0-D12E70D8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15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7DFA66-50BE-1E11-024B-05226D2C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216063"/>
              </p:ext>
            </p:extLst>
          </p:nvPr>
        </p:nvGraphicFramePr>
        <p:xfrm>
          <a:off x="947990" y="1449442"/>
          <a:ext cx="10076429" cy="25958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60344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16931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9154">
                  <a:extLst>
                    <a:ext uri="{9D8B030D-6E8A-4147-A177-3AD203B41FA5}">
                      <a16:colId xmlns:a16="http://schemas.microsoft.com/office/drawing/2014/main" val="23342118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Script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-seed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random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Randomize coordinate, velocity, sequence, selection,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65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-JOBNAME JOBNAME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Name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Jobname[_type].{log, csv, data,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npz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parquet, etc.}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-INTERACTIVE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Pause for user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Zoom in / out figure, set initial guess,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-PYTHON {-1,0,1,2}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0: native; 1: compiled; 2: cached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 performance compiled python.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CPU [CPU ...]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number of CPUs [num for one task]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Limit the total resource and max single consumption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39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Surfaces the issues instead of prioritizing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C97128-65D5-F9CE-8A26-7A7EF3F7A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404363"/>
              </p:ext>
            </p:extLst>
          </p:nvPr>
        </p:nvGraphicFramePr>
        <p:xfrm>
          <a:off x="947992" y="4133528"/>
          <a:ext cx="10076428" cy="2148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52919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31728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1781">
                  <a:extLst>
                    <a:ext uri="{9D8B030D-6E8A-4147-A177-3AD203B41FA5}">
                      <a16:colId xmlns:a16="http://schemas.microsoft.com/office/drawing/2014/main" val="2624247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Workflow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 handles calculations and registers files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Aggregator collects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High-cost tasks and light-weight aggregators can run either serially or separately.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Clean previous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on top of previous results or from scratches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parallelization progress, and job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batch script silently or with selected printing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on,off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or let the sub-jobs set the debug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BCC9C4-DC60-1158-2C05-E55902CF670E}"/>
              </a:ext>
            </a:extLst>
          </p:cNvPr>
          <p:cNvSpPr txBox="1"/>
          <p:nvPr/>
        </p:nvSpPr>
        <p:spPr>
          <a:xfrm>
            <a:off x="947990" y="6328788"/>
            <a:ext cx="7978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export SHALLOW=1</a:t>
            </a:r>
            <a:r>
              <a:rPr lang="en-US" sz="1400" dirty="0"/>
              <a:t> increases the performance at the sacrifice of stability. (e.g. shallow copy, unclean build)</a:t>
            </a:r>
          </a:p>
        </p:txBody>
      </p:sp>
    </p:spTree>
    <p:extLst>
      <p:ext uri="{BB962C8B-B14F-4D97-AF65-F5344CB8AC3E}">
        <p14:creationId xmlns:p14="http://schemas.microsoft.com/office/powerpoint/2010/main" val="31990987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191C-5B22-9DD7-8FD0-F269496A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9239</TotalTime>
  <Words>3468</Words>
  <Application>Microsoft Macintosh PowerPoint</Application>
  <PresentationFormat>Widescreen</PresentationFormat>
  <Paragraphs>609</Paragraphs>
  <Slides>16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Integration Test</vt:lpstr>
      <vt:lpstr>PowerPoint Presentation</vt:lpstr>
      <vt:lpstr>PowerPoint Presentation</vt:lpstr>
      <vt:lpstr>Scientific Test</vt:lpstr>
      <vt:lpstr>Performance Test</vt:lpstr>
      <vt:lpstr>Command-Line Arguments</vt:lpstr>
      <vt:lpstr>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Teng Zhang</cp:lastModifiedBy>
  <cp:revision>311</cp:revision>
  <dcterms:created xsi:type="dcterms:W3CDTF">2024-07-22T15:38:28Z</dcterms:created>
  <dcterms:modified xsi:type="dcterms:W3CDTF">2025-02-10T17:39:57Z</dcterms:modified>
</cp:coreProperties>
</file>