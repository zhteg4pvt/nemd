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75" r:id="rId11"/>
    <p:sldId id="263" r:id="rId12"/>
    <p:sldId id="273" r:id="rId13"/>
    <p:sldId id="262" r:id="rId14"/>
    <p:sldId id="271" r:id="rId15"/>
    <p:sldId id="267" r:id="rId16"/>
    <p:sldId id="276" r:id="rId17"/>
    <p:sldId id="277" r:id="rId18"/>
    <p:sldId id="278" r:id="rId19"/>
    <p:sldId id="268" r:id="rId20"/>
    <p:sldId id="272" r:id="rId21"/>
    <p:sldId id="26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086"/>
    <p:restoredTop sz="95619"/>
  </p:normalViewPr>
  <p:slideViewPr>
    <p:cSldViewPr snapToGrid="0" snapToObjects="1">
      <p:cViewPr varScale="1">
        <p:scale>
          <a:sx n="170" d="100"/>
          <a:sy n="170" d="100"/>
        </p:scale>
        <p:origin x="184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1"/>
              </a:solidFill>
            </a:rPr>
            <a:t>Performance</a:t>
          </a:r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1"/>
              </a:solidFill>
            </a:rPr>
            <a:t>Performance</a:t>
          </a:r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9/12/25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0F25D-A23E-4E2D-F308-5821D856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6B69F-1E68-6633-928C-A970FFA81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3ECE-C349-54BB-88B1-CB632DDD2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DB290-8F75-3992-14A6-2350E4215B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669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220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9/12/25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9/12/25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9/12/25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9/12/25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9/12/25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9/12/25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auth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auth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72D66-DA66-8C86-7389-06DDFABFFC57}"/>
              </a:ext>
            </a:extLst>
          </p:cNvPr>
          <p:cNvSpPr txBox="1"/>
          <p:nvPr/>
        </p:nvSpPr>
        <p:spPr>
          <a:xfrm>
            <a:off x="8912514" y="6346067"/>
            <a:ext cx="157941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i="1" dirty="0"/>
              <a:t>after factory reset</a:t>
            </a: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5548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294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28024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294270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87525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builder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tags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2064" y="266429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6690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138589" y="3176770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>
            <a:off x="6793889" y="3320262"/>
            <a:ext cx="347266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BF6F02-8466-A426-51D1-E6B4089706B6}"/>
              </a:ext>
            </a:extLst>
          </p:cNvPr>
          <p:cNvCxnSpPr>
            <a:cxnSpLocks/>
          </p:cNvCxnSpPr>
          <p:nvPr/>
        </p:nvCxnSpPr>
        <p:spPr>
          <a:xfrm>
            <a:off x="6705411" y="1536732"/>
            <a:ext cx="0" cy="13716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171664"/>
              </p:ext>
            </p:extLst>
          </p:nvPr>
        </p:nvGraphicFramePr>
        <p:xfrm>
          <a:off x="404453" y="1591570"/>
          <a:ext cx="11383094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149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631950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4827348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3442299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Goal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source </a:t>
                      </a:r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Use the source code instead of the installation.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test/unit/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400" dirty="0"/>
                        <a:t>makes sure that functions and methods are operating as expected. (Bug-free for every piece)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Free of bugs when parameterizing every piece of the code.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nemd_itest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400" kern="1200" dirty="0">
                          <a:effectLst/>
                        </a:rPr>
                        <a:t> </a:t>
                      </a:r>
                      <a:r>
                        <a:rPr lang="en-US" sz="1400" dirty="0"/>
                        <a:t>makes sure that scripts run without tracebacks and yield reproducible results.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Expected behavior and accuracy when driver and workflow combines pieces.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nemd_ptest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 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Resource efficiency on scaling up.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nemd_stest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400" dirty="0"/>
                        <a:t>ensures the repeatability, correctness and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400" dirty="0"/>
                        <a:t>scientific outputs.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Physical meaning and standard deviation.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679421"/>
              </p:ext>
            </p:extLst>
          </p:nvPr>
        </p:nvGraphicFramePr>
        <p:xfrm>
          <a:off x="9348619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10069832" y="1160852"/>
            <a:ext cx="982289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57C75-0530-DFBC-804F-FE681A5481B6}"/>
              </a:ext>
            </a:extLst>
          </p:cNvPr>
          <p:cNvSpPr txBox="1"/>
          <p:nvPr/>
        </p:nvSpPr>
        <p:spPr>
          <a:xfrm>
            <a:off x="422793" y="6355595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633F-CBF3-EF3B-4E48-8D26D1F9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5031-93D8-A936-7C5B-6D1C1A5A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31292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Unit Testing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005D0D-F223-1F94-65FC-E62DB7B92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BBD2F5-7534-1CD7-43D2-6A9AEC96F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875880"/>
              </p:ext>
            </p:extLst>
          </p:nvPr>
        </p:nvGraphicFramePr>
        <p:xfrm>
          <a:off x="361233" y="3814120"/>
          <a:ext cx="5734767" cy="257254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000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504412">
                  <a:extLst>
                    <a:ext uri="{9D8B030D-6E8A-4147-A177-3AD203B41FA5}">
                      <a16:colId xmlns:a16="http://schemas.microsoft.com/office/drawing/2014/main" val="3804093500"/>
                    </a:ext>
                  </a:extLst>
                </a:gridCol>
                <a:gridCol w="961202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1385830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  <a:gridCol w="913316">
                  <a:extLst>
                    <a:ext uri="{9D8B030D-6E8A-4147-A177-3AD203B41FA5}">
                      <a16:colId xmlns:a16="http://schemas.microsoft.com/office/drawing/2014/main" val="4111230781"/>
                    </a:ext>
                  </a:extLst>
                </a:gridCol>
              </a:tblGrid>
              <a:tr h="70791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PYTEST_ADDOPTS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Type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 (</a:t>
                      </a:r>
                      <a:r>
                        <a:rPr lang="en-US" sz="1400" dirty="0" err="1"/>
                        <a:t>num|sec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0" marR="0"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Avg (sec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932314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i="1" dirty="0" err="1"/>
                        <a:t>nemd_test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'not slow'"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1732 | 14.71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129 | 6.13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43 | 4.25</a:t>
                      </a:r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0.0132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93231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slow"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  1 | 20.19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1 | 3.95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no tests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13.49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1139EAB-FAE4-FB7B-AED3-4DD3FAC9C920}"/>
              </a:ext>
            </a:extLst>
          </p:cNvPr>
          <p:cNvSpPr txBox="1"/>
          <p:nvPr/>
        </p:nvSpPr>
        <p:spPr>
          <a:xfrm>
            <a:off x="361233" y="6386661"/>
            <a:ext cx="3071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7D5B4CE-5718-2280-528F-82EBFA159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380772"/>
              </p:ext>
            </p:extLst>
          </p:nvPr>
        </p:nvGraphicFramePr>
        <p:xfrm>
          <a:off x="6301520" y="2515701"/>
          <a:ext cx="5305333" cy="3870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6379">
                  <a:extLst>
                    <a:ext uri="{9D8B030D-6E8A-4147-A177-3AD203B41FA5}">
                      <a16:colId xmlns:a16="http://schemas.microsoft.com/office/drawing/2014/main" val="519871301"/>
                    </a:ext>
                  </a:extLst>
                </a:gridCol>
                <a:gridCol w="883450">
                  <a:extLst>
                    <a:ext uri="{9D8B030D-6E8A-4147-A177-3AD203B41FA5}">
                      <a16:colId xmlns:a16="http://schemas.microsoft.com/office/drawing/2014/main" val="3084682247"/>
                    </a:ext>
                  </a:extLst>
                </a:gridCol>
                <a:gridCol w="946500">
                  <a:extLst>
                    <a:ext uri="{9D8B030D-6E8A-4147-A177-3AD203B41FA5}">
                      <a16:colId xmlns:a16="http://schemas.microsoft.com/office/drawing/2014/main" val="2730536322"/>
                    </a:ext>
                  </a:extLst>
                </a:gridCol>
                <a:gridCol w="1172805">
                  <a:extLst>
                    <a:ext uri="{9D8B030D-6E8A-4147-A177-3AD203B41FA5}">
                      <a16:colId xmlns:a16="http://schemas.microsoft.com/office/drawing/2014/main" val="3113920103"/>
                    </a:ext>
                  </a:extLst>
                </a:gridCol>
                <a:gridCol w="1106199">
                  <a:extLst>
                    <a:ext uri="{9D8B030D-6E8A-4147-A177-3AD203B41FA5}">
                      <a16:colId xmlns:a16="http://schemas.microsoft.com/office/drawing/2014/main" val="1319148285"/>
                    </a:ext>
                  </a:extLst>
                </a:gridCol>
              </a:tblGrid>
              <a:tr h="4777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Dirname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Results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929244"/>
                  </a:ext>
                </a:extLst>
              </a:tr>
              <a:tr h="1104681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 err="1"/>
                        <a:t>nemd_cover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/>
                        <a:t>"-m ''"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8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0466548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driver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466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493721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module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6088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164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955903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44CE8A1-94B7-AA2F-211C-76BBBE531409}"/>
              </a:ext>
            </a:extLst>
          </p:cNvPr>
          <p:cNvSpPr txBox="1"/>
          <p:nvPr/>
        </p:nvSpPr>
        <p:spPr>
          <a:xfrm>
            <a:off x="361233" y="1679020"/>
            <a:ext cx="5586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unit tests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DD0116-5DFF-79FB-A652-1E32A9A86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193985"/>
              </p:ext>
            </p:extLst>
          </p:nvPr>
        </p:nvGraphicFramePr>
        <p:xfrm>
          <a:off x="287092" y="2284237"/>
          <a:ext cx="5734767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46724">
                  <a:extLst>
                    <a:ext uri="{9D8B030D-6E8A-4147-A177-3AD203B41FA5}">
                      <a16:colId xmlns:a16="http://schemas.microsoft.com/office/drawing/2014/main" val="2111335203"/>
                    </a:ext>
                  </a:extLst>
                </a:gridCol>
                <a:gridCol w="3188043">
                  <a:extLst>
                    <a:ext uri="{9D8B030D-6E8A-4147-A177-3AD203B41FA5}">
                      <a16:colId xmlns:a16="http://schemas.microsoft.com/office/drawing/2014/main" val="249208334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kern="1200" dirty="0">
                          <a:solidFill>
                            <a:schemeClr val="tx1"/>
                          </a:solidFill>
                        </a:rPr>
                        <a:t>$NEMD_SRC/test/unit in parallel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83503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specific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tests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3504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-s -v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screen and verbose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729843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-m slow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selected tests marked with slow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8751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368FDEB-1B1A-36FF-5EC9-704089116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213107"/>
              </p:ext>
            </p:extLst>
          </p:nvPr>
        </p:nvGraphicFramePr>
        <p:xfrm>
          <a:off x="6091539" y="853913"/>
          <a:ext cx="5890054" cy="1437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09063">
                  <a:extLst>
                    <a:ext uri="{9D8B030D-6E8A-4147-A177-3AD203B41FA5}">
                      <a16:colId xmlns:a16="http://schemas.microsoft.com/office/drawing/2014/main" val="3331805810"/>
                    </a:ext>
                  </a:extLst>
                </a:gridCol>
                <a:gridCol w="2680991">
                  <a:extLst>
                    <a:ext uri="{9D8B030D-6E8A-4147-A177-3AD203B41FA5}">
                      <a16:colId xmlns:a16="http://schemas.microsoft.com/office/drawing/2014/main" val="1422148830"/>
                    </a:ext>
                  </a:extLst>
                </a:gridCol>
              </a:tblGrid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endParaRPr lang="en-US" sz="1300" i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run analysis, create html, open browser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0872081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driver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all driver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310005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workflow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only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3814008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module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cru_test.py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osutils_test.py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multiple specific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7649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A96FABA-B7F8-19BB-7F66-729319E7CC40}"/>
              </a:ext>
            </a:extLst>
          </p:cNvPr>
          <p:cNvSpPr txBox="1"/>
          <p:nvPr/>
        </p:nvSpPr>
        <p:spPr>
          <a:xfrm>
            <a:off x="6227805" y="290983"/>
            <a:ext cx="54616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coverage analysis and generate report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5D73A7-D2DF-1EC9-CEE2-6582208A7EC9}"/>
              </a:ext>
            </a:extLst>
          </p:cNvPr>
          <p:cNvSpPr txBox="1"/>
          <p:nvPr/>
        </p:nvSpPr>
        <p:spPr>
          <a:xfrm>
            <a:off x="6301520" y="6385023"/>
            <a:ext cx="3589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Excluded: </a:t>
            </a:r>
            <a:r>
              <a:rPr lang="en-US" sz="1400" b="0" i="0" dirty="0">
                <a:solidFill>
                  <a:schemeClr val="bg1">
                    <a:lumMod val="50000"/>
                  </a:schemeClr>
                </a:solidFill>
                <a:effectLst/>
                <a:latin typeface="SFMono-Regular"/>
              </a:rPr>
              <a:t>__main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FMono-Regular"/>
              </a:rPr>
              <a:t>__,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FMono-Regular"/>
              </a:rPr>
              <a:t>numba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FMono-Regular"/>
              </a:rPr>
              <a:t>, platform-specific</a:t>
            </a:r>
          </a:p>
        </p:txBody>
      </p:sp>
    </p:spTree>
    <p:extLst>
      <p:ext uri="{BB962C8B-B14F-4D97-AF65-F5344CB8AC3E}">
        <p14:creationId xmlns:p14="http://schemas.microsoft.com/office/powerpoint/2010/main" val="356122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920770"/>
              </p:ext>
            </p:extLst>
          </p:nvPr>
        </p:nvGraphicFramePr>
        <p:xfrm>
          <a:off x="6473375" y="431766"/>
          <a:ext cx="526868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84324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384362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commands to check the results against expectations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 t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ags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 shell syntax 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44051"/>
              </p:ext>
            </p:extLst>
          </p:nvPr>
        </p:nvGraphicFramePr>
        <p:xfrm>
          <a:off x="6473375" y="2078219"/>
          <a:ext cx="526868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5922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Check Command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>
                          <a:effectLst/>
                        </a:rPr>
                        <a:t>general shell </a:t>
                      </a:r>
                      <a:r>
                        <a:rPr lang="en-US" sz="1400" i="1" kern="1200" dirty="0" err="1">
                          <a:effectLst/>
                        </a:rPr>
                        <a:t>cmd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exist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 existence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glob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Match number from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has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strings in file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</a:t>
                      </a:r>
                      <a:r>
                        <a:rPr lang="en-US" sz="1400" i="1" kern="1200" dirty="0" err="1">
                          <a:effectLst/>
                        </a:rPr>
                        <a:t>cmp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</a:t>
                      </a:r>
                      <a:r>
                        <a:rPr lang="en-US" sz="140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4019824"/>
              </p:ext>
            </p:extLst>
          </p:nvPr>
        </p:nvGraphicFramePr>
        <p:xfrm>
          <a:off x="6473375" y="4334400"/>
          <a:ext cx="5268685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62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120056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Key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(-NAME in the .log)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504827" y="1281054"/>
            <a:ext cx="6055630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test/integration/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</a:t>
            </a: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dirty="0"/>
              <a:t>==&gt; </a:t>
            </a:r>
            <a:r>
              <a:rPr lang="en-US" sz="1400" dirty="0" err="1"/>
              <a:t>cmd</a:t>
            </a:r>
            <a:r>
              <a:rPr lang="en-US" sz="1400" dirty="0"/>
              <a:t> &lt;==</a:t>
            </a:r>
          </a:p>
          <a:p>
            <a:r>
              <a:rPr lang="en-US" sz="1400" dirty="0"/>
              <a:t># Performance: [</a:t>
            </a:r>
            <a:r>
              <a:rPr lang="en-US" sz="1400" dirty="0" err="1"/>
              <a:t>Ar</a:t>
            </a:r>
            <a:r>
              <a:rPr lang="en-US" sz="1400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dirty="0"/>
          </a:p>
          <a:p>
            <a:r>
              <a:rPr lang="en-US" sz="1400" dirty="0"/>
              <a:t>==&gt; check &lt;==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collect </a:t>
            </a:r>
            <a:r>
              <a:rPr lang="en-US" sz="1400" i="1" dirty="0" err="1"/>
              <a:t>task_time</a:t>
            </a:r>
            <a:r>
              <a:rPr lang="en-US" sz="1400" i="1" dirty="0"/>
              <a:t> memory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exist </a:t>
            </a:r>
            <a:r>
              <a:rPr lang="en-US" sz="1400" i="1" dirty="0" err="1"/>
              <a:t>collect.csv</a:t>
            </a:r>
            <a:r>
              <a:rPr lang="en-US" sz="1400" i="1" dirty="0"/>
              <a:t> </a:t>
            </a:r>
            <a:r>
              <a:rPr lang="en-US" sz="1400" i="1" dirty="0" err="1"/>
              <a:t>collect.png</a:t>
            </a:r>
            <a:endParaRPr lang="en-US" sz="1400" i="1" dirty="0"/>
          </a:p>
          <a:p>
            <a:endParaRPr lang="en-US" sz="1400" dirty="0"/>
          </a:p>
          <a:p>
            <a:r>
              <a:rPr lang="en-US" sz="1400" dirty="0"/>
              <a:t>==&gt; tag &lt;==</a:t>
            </a:r>
          </a:p>
          <a:p>
            <a:r>
              <a:rPr lang="en-US" sz="1400" dirty="0"/>
              <a:t>slow 100.0 00:00:04 50000.0 00:00:05</a:t>
            </a:r>
          </a:p>
          <a:p>
            <a:r>
              <a:rPr lang="en-US" sz="1400" dirty="0"/>
              <a:t>label </a:t>
            </a:r>
            <a:r>
              <a:rPr lang="en-US" sz="1400" dirty="0" err="1"/>
              <a:t>number_of_molecules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==&gt; param &lt;==</a:t>
            </a:r>
          </a:p>
          <a:p>
            <a:r>
              <a:rPr lang="en-US" sz="1400" dirty="0"/>
              <a:t># Number of Molecules</a:t>
            </a:r>
          </a:p>
          <a:p>
            <a:r>
              <a:rPr lang="en-US" sz="1400" dirty="0"/>
              <a:t>100</a:t>
            </a:r>
          </a:p>
          <a:p>
            <a:r>
              <a:rPr lang="en-US" sz="1400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2872198"/>
              </p:ext>
            </p:extLst>
          </p:nvPr>
        </p:nvGraphicFramePr>
        <p:xfrm>
          <a:off x="6473375" y="5469752"/>
          <a:ext cx="526868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522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216392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Param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names the parameter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command(s)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605370"/>
              </p:ext>
            </p:extLst>
          </p:nvPr>
        </p:nvGraphicFramePr>
        <p:xfrm>
          <a:off x="1066800" y="1130301"/>
          <a:ext cx="9963150" cy="52120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061362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5901788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2102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42044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reproducibility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efficiency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of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dirname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DIRNAME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223070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4204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297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 tasks and register outputs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297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per-task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off,serial,parallel,job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3015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True: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False: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-copy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test data into the working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077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into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CRU: initiator, monomer, terminator, and regular molecule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-grow: grow molecules from the smallest rigid fragments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scaled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Only Stillinger-Weber potential supported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3619986"/>
              </p:ext>
            </p:extLst>
          </p:nvPr>
        </p:nvGraphicFramePr>
        <p:xfrm>
          <a:off x="6327263" y="117318"/>
          <a:ext cx="5640294" cy="631617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09300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6317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66276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62087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239456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Integration Test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method/driver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Molecule/Polymer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Structure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Comment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grid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Single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mol_bldr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2(2)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CCCC (120)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Set Geom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3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mol_bldr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1(3)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Measure 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 | 10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CCCCCC(C)O [Ar]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Pack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CC(=O)O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Single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6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11(6)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7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11(6)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Reduced Density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Grow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O CCCO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3(5)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*CC(O)*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5(3) | 15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*CC(*)C(=O)O CN(C)C=O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12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5(5)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Relocation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13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| 10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Failed Initialization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1(200)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Single Long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10(100)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*CC(*)C(=O)O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Multi Long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TIP3P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17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SPCE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SPC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CC(=O)C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CCC(=O)CC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23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CC(C)(C)C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24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CC(C)CC(=O)C(C)(C)C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25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 CCCO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[Li+].[F-]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27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[Na+].[Cl-]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[Br-].[Mg+2].[Br-]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[K+].[Br-]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 | 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</a:t>
                      </a:r>
                      <a:r>
                        <a:rPr lang="en-US" sz="950" u="none" strike="noStrike" dirty="0" err="1">
                          <a:effectLst/>
                          <a:latin typeface="+mn-lt"/>
                        </a:rPr>
                        <a:t>Rb</a:t>
                      </a:r>
                      <a:r>
                        <a:rPr lang="en-US" sz="950" u="none" strike="noStrike" dirty="0">
                          <a:effectLst/>
                          <a:latin typeface="+mn-lt"/>
                        </a:rPr>
                        <a:t>+].[Cl-] [Cs+].[Br-]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31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5 | 5 | 5 | 5 | 5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[He] [Ne] [</a:t>
                      </a:r>
                      <a:r>
                        <a:rPr lang="en-US" sz="950" u="none" strike="noStrike" dirty="0" err="1">
                          <a:effectLst/>
                          <a:latin typeface="+mn-lt"/>
                        </a:rPr>
                        <a:t>Ar</a:t>
                      </a:r>
                      <a:r>
                        <a:rPr lang="en-US" sz="950" u="none" strike="noStrike" dirty="0">
                          <a:effectLst/>
                          <a:latin typeface="+mn-lt"/>
                        </a:rPr>
                        <a:t>] [Kr] [Xe]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32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1| 1| 6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[Ca+2] [Sr+2] [Ba+2] [Cl-]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xtal_bldr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"C*.*CC*.C*"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, mono, 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63178255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"[*:1]C([*:1])([*:1]).*C*"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with multiple stars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23914000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"*C"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terminator only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06581777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"[*:1]C([*:1])[*:1]"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initiator only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5452932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"[*:1]C([*:1])[*:1].C*"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initiator, terminator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3291134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No Relaxation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8696637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Performance (mol num)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5814971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Performance (Press)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0650393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337538" y="6418388"/>
            <a:ext cx="553499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i="1" dirty="0" err="1">
                <a:solidFill>
                  <a:schemeClr val="bg1">
                    <a:lumMod val="50000"/>
                  </a:schemeClr>
                </a:solidFill>
              </a:rPr>
              <a:t>amorp_bldr_driver.py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100" dirty="0"/>
              <a:t>as driver unless noted otherwise</a:t>
            </a:r>
          </a:p>
          <a:p>
            <a:r>
              <a:rPr lang="en-US" sz="1100" dirty="0"/>
              <a:t>composition separated by |, repeat unit number inside (), polymerization capping atoms as *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03434" y="6356350"/>
            <a:ext cx="1050365" cy="365125"/>
          </a:xfrm>
        </p:spPr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3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96683"/>
              </p:ext>
            </p:extLst>
          </p:nvPr>
        </p:nvGraphicFramePr>
        <p:xfrm>
          <a:off x="6334298" y="3058204"/>
          <a:ext cx="5544589" cy="328605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datafile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81509147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Single atom and Single frame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15782957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13072" y="121487"/>
            <a:ext cx="5544589" cy="29395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runs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 with different geometries,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538766" y="1605949"/>
            <a:ext cx="54460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Grided Amorphous Structure of Argon Atoms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199476" y="6169580"/>
            <a:ext cx="349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 mini: Apple M4, 16GB LPDDR5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E983395F-DD1A-D6BB-FB3A-F98030330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683" y="2054780"/>
            <a:ext cx="5486400" cy="4114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C9635E0-25D1-4F99-062C-1853B502FBE9}"/>
              </a:ext>
            </a:extLst>
          </p:cNvPr>
          <p:cNvSpPr txBox="1"/>
          <p:nvPr/>
        </p:nvSpPr>
        <p:spPr>
          <a:xfrm>
            <a:off x="2334517" y="2176115"/>
            <a:ext cx="21054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 20 min: 100 million </a:t>
            </a:r>
            <a:r>
              <a:rPr lang="en-US" sz="1600" dirty="0" err="1">
                <a:solidFill>
                  <a:srgbClr val="C00000"/>
                </a:solidFill>
              </a:rPr>
              <a:t>Ar</a:t>
            </a:r>
            <a:r>
              <a:rPr lang="en-US" sz="1600" dirty="0">
                <a:solidFill>
                  <a:srgbClr val="C00000"/>
                </a:solidFill>
              </a:rPr>
              <a:t>  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E3C28B7-43A3-3FB3-5C36-D4BF2DE44E38}"/>
              </a:ext>
            </a:extLst>
          </p:cNvPr>
          <p:cNvCxnSpPr/>
          <p:nvPr/>
        </p:nvCxnSpPr>
        <p:spPr>
          <a:xfrm>
            <a:off x="4439989" y="2345392"/>
            <a:ext cx="30265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8" name="Graphic 27">
            <a:extLst>
              <a:ext uri="{FF2B5EF4-FFF2-40B4-BE49-F238E27FC236}">
                <a16:creationId xmlns:a16="http://schemas.microsoft.com/office/drawing/2014/main" id="{7D3CC966-FBD0-5F88-856B-0220834E92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054780"/>
            <a:ext cx="5486400" cy="41148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66608C93-331A-F65F-620B-533A94C75637}"/>
              </a:ext>
            </a:extLst>
          </p:cNvPr>
          <p:cNvSpPr/>
          <p:nvPr/>
        </p:nvSpPr>
        <p:spPr>
          <a:xfrm>
            <a:off x="6284255" y="1605949"/>
            <a:ext cx="54460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0002: Grided Amorphous Structure of Butane Molecules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CB42D5-02D1-7A2C-322B-0B2F65AB9DDF}"/>
              </a:ext>
            </a:extLst>
          </p:cNvPr>
          <p:cNvSpPr txBox="1"/>
          <p:nvPr/>
        </p:nvSpPr>
        <p:spPr>
          <a:xfrm>
            <a:off x="9140030" y="2763539"/>
            <a:ext cx="1684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 2.82 min</a:t>
            </a:r>
          </a:p>
          <a:p>
            <a:pPr algn="ctr"/>
            <a:r>
              <a:rPr lang="en-US" sz="1600" dirty="0">
                <a:solidFill>
                  <a:srgbClr val="C00000"/>
                </a:solidFill>
              </a:rPr>
              <a:t>10 million butane 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8D9CC07-5EBB-9AA5-B931-4ACB79A83F24}"/>
              </a:ext>
            </a:extLst>
          </p:cNvPr>
          <p:cNvCxnSpPr>
            <a:cxnSpLocks/>
          </p:cNvCxnSpPr>
          <p:nvPr/>
        </p:nvCxnSpPr>
        <p:spPr>
          <a:xfrm>
            <a:off x="10328857" y="3348314"/>
            <a:ext cx="227304" cy="933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E386F-D01B-61C8-CC01-4FB87CC8C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15EB-9855-2DBB-E76B-24FFD2FEA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15852" cy="1325563"/>
          </a:xfrm>
        </p:spPr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FEF9FC-DCA4-F8D0-4AFC-D07CAB07C9F2}"/>
              </a:ext>
            </a:extLst>
          </p:cNvPr>
          <p:cNvSpPr/>
          <p:nvPr/>
        </p:nvSpPr>
        <p:spPr>
          <a:xfrm>
            <a:off x="538766" y="1605949"/>
            <a:ext cx="54460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0003: Packed Amorphous Structure of Argon Atoms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4780FD-1A5C-59A7-F3B0-36B65C300F2A}"/>
              </a:ext>
            </a:extLst>
          </p:cNvPr>
          <p:cNvSpPr/>
          <p:nvPr/>
        </p:nvSpPr>
        <p:spPr>
          <a:xfrm>
            <a:off x="1199476" y="6169580"/>
            <a:ext cx="349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 mini: Apple M4, 16GB LPDDR5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FC0181-8DA8-9077-A41A-E5F0ED854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5B7D35-656D-2872-5095-C6E37700935A}"/>
              </a:ext>
            </a:extLst>
          </p:cNvPr>
          <p:cNvSpPr/>
          <p:nvPr/>
        </p:nvSpPr>
        <p:spPr>
          <a:xfrm>
            <a:off x="6284255" y="1605949"/>
            <a:ext cx="54460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0004: Grown Amorphous Structure of Butane Molecules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696D45E9-9943-DA7D-FD27-C6077CA6C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760" y="2057400"/>
            <a:ext cx="5486400" cy="4114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1371B2-9BFC-E961-5590-4CE9647BCE43}"/>
              </a:ext>
            </a:extLst>
          </p:cNvPr>
          <p:cNvSpPr txBox="1"/>
          <p:nvPr/>
        </p:nvSpPr>
        <p:spPr>
          <a:xfrm>
            <a:off x="2452926" y="2171929"/>
            <a:ext cx="21054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 4.94 h: 0.4 million </a:t>
            </a:r>
            <a:r>
              <a:rPr lang="en-US" sz="1600" dirty="0" err="1">
                <a:solidFill>
                  <a:srgbClr val="C00000"/>
                </a:solidFill>
              </a:rPr>
              <a:t>Ar</a:t>
            </a:r>
            <a:r>
              <a:rPr lang="en-US" sz="1600" dirty="0">
                <a:solidFill>
                  <a:srgbClr val="C00000"/>
                </a:solidFill>
              </a:rPr>
              <a:t> 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72B392-ACF9-D213-818C-3CD5C6E424FF}"/>
              </a:ext>
            </a:extLst>
          </p:cNvPr>
          <p:cNvCxnSpPr>
            <a:cxnSpLocks/>
          </p:cNvCxnSpPr>
          <p:nvPr/>
        </p:nvCxnSpPr>
        <p:spPr>
          <a:xfrm>
            <a:off x="4468458" y="2341206"/>
            <a:ext cx="24087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8" name="Graphic 17">
            <a:extLst>
              <a:ext uri="{FF2B5EF4-FFF2-40B4-BE49-F238E27FC236}">
                <a16:creationId xmlns:a16="http://schemas.microsoft.com/office/drawing/2014/main" id="{915E00C8-7022-A3DD-E2D4-0930D52B86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054780"/>
            <a:ext cx="5486400" cy="41148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CF2FD89-4648-2B78-E696-7A5450448B2F}"/>
              </a:ext>
            </a:extLst>
          </p:cNvPr>
          <p:cNvSpPr txBox="1"/>
          <p:nvPr/>
        </p:nvSpPr>
        <p:spPr>
          <a:xfrm>
            <a:off x="8196657" y="2171929"/>
            <a:ext cx="21054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 6.88 h: 0.4 million </a:t>
            </a:r>
            <a:r>
              <a:rPr lang="en-US" sz="1600" dirty="0" err="1">
                <a:solidFill>
                  <a:srgbClr val="C00000"/>
                </a:solidFill>
              </a:rPr>
              <a:t>Ar</a:t>
            </a:r>
            <a:r>
              <a:rPr lang="en-US" sz="1600" dirty="0">
                <a:solidFill>
                  <a:srgbClr val="C00000"/>
                </a:solidFill>
              </a:rPr>
              <a:t> 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E385BF6-D18B-3C71-031C-AD24F72D4112}"/>
              </a:ext>
            </a:extLst>
          </p:cNvPr>
          <p:cNvCxnSpPr>
            <a:cxnSpLocks/>
          </p:cNvCxnSpPr>
          <p:nvPr/>
        </p:nvCxnSpPr>
        <p:spPr>
          <a:xfrm>
            <a:off x="10212189" y="2341206"/>
            <a:ext cx="24087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6071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E1320-6ABC-DC34-B56E-6DA6270F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E1A65-F062-B483-D49D-16EFCB723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15852" cy="1325563"/>
          </a:xfrm>
        </p:spPr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2ED74D-D530-449B-7201-2FC9752ACAE4}"/>
              </a:ext>
            </a:extLst>
          </p:cNvPr>
          <p:cNvSpPr/>
          <p:nvPr/>
        </p:nvSpPr>
        <p:spPr>
          <a:xfrm>
            <a:off x="538766" y="1605949"/>
            <a:ext cx="54460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0005: Packed Amorphous Structure of Polyethylene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8D5E20-2A6E-EDC8-ADF7-E8CEA5DD7D2C}"/>
              </a:ext>
            </a:extLst>
          </p:cNvPr>
          <p:cNvSpPr/>
          <p:nvPr/>
        </p:nvSpPr>
        <p:spPr>
          <a:xfrm>
            <a:off x="1199476" y="6169580"/>
            <a:ext cx="349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 mini: Apple M4, 16GB LPDDR5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2E9CE8-3A4F-2B9E-07DB-3F268E5E6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236B0A5-AC39-3F45-1A96-AF28B0F4801F}"/>
              </a:ext>
            </a:extLst>
          </p:cNvPr>
          <p:cNvSpPr/>
          <p:nvPr/>
        </p:nvSpPr>
        <p:spPr>
          <a:xfrm>
            <a:off x="6730584" y="1605949"/>
            <a:ext cx="49997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0006: Trajectory Density (100 hexane per frame)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127034-22E1-D4EE-1E57-73891AA7C5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760" y="2057400"/>
            <a:ext cx="5486400" cy="4114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A007EF-A178-053A-2693-C95D32C2BBAC}"/>
              </a:ext>
            </a:extLst>
          </p:cNvPr>
          <p:cNvSpPr txBox="1"/>
          <p:nvPr/>
        </p:nvSpPr>
        <p:spPr>
          <a:xfrm>
            <a:off x="3108960" y="2248873"/>
            <a:ext cx="17712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 22.59 h</a:t>
            </a:r>
          </a:p>
          <a:p>
            <a:pPr algn="ctr"/>
            <a:r>
              <a:rPr lang="en-US" sz="1400" dirty="0">
                <a:solidFill>
                  <a:srgbClr val="C00000"/>
                </a:solidFill>
              </a:rPr>
              <a:t>20,000 (−CH2−)</a:t>
            </a:r>
            <a:r>
              <a:rPr lang="en-US" sz="1400" baseline="-25000" dirty="0">
                <a:solidFill>
                  <a:srgbClr val="C00000"/>
                </a:solidFill>
              </a:rPr>
              <a:t>100</a:t>
            </a:r>
            <a:endParaRPr lang="en-US" sz="1400" dirty="0">
              <a:solidFill>
                <a:srgbClr val="C0000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2029C8-01A6-6519-F107-1103F0286A66}"/>
              </a:ext>
            </a:extLst>
          </p:cNvPr>
          <p:cNvCxnSpPr>
            <a:cxnSpLocks/>
          </p:cNvCxnSpPr>
          <p:nvPr/>
        </p:nvCxnSpPr>
        <p:spPr>
          <a:xfrm flipV="1">
            <a:off x="4517758" y="2412288"/>
            <a:ext cx="217848" cy="9819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F3925752-ECA0-507A-C833-2EA38A1F1C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057400"/>
            <a:ext cx="5486400" cy="4114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4825302-C87F-AFE3-0A94-997E1B1DF4C6}"/>
              </a:ext>
            </a:extLst>
          </p:cNvPr>
          <p:cNvSpPr txBox="1"/>
          <p:nvPr/>
        </p:nvSpPr>
        <p:spPr>
          <a:xfrm>
            <a:off x="9668656" y="3065359"/>
            <a:ext cx="13975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2 s / 200 MB</a:t>
            </a:r>
          </a:p>
          <a:p>
            <a:pPr algn="ctr"/>
            <a:r>
              <a:rPr lang="en-US" sz="1400" dirty="0">
                <a:solidFill>
                  <a:srgbClr val="C00000"/>
                </a:solidFill>
              </a:rPr>
              <a:t>25,000 frames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B4FD964-C081-C9AB-CF9B-3D9E30989738}"/>
              </a:ext>
            </a:extLst>
          </p:cNvPr>
          <p:cNvCxnSpPr>
            <a:cxnSpLocks/>
          </p:cNvCxnSpPr>
          <p:nvPr/>
        </p:nvCxnSpPr>
        <p:spPr>
          <a:xfrm flipV="1">
            <a:off x="10546302" y="2707579"/>
            <a:ext cx="96714" cy="2111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33852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58E57-49B3-89B2-583A-235660011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D450C-4C4C-22C0-180F-91A9E8BC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15852" cy="1325563"/>
          </a:xfrm>
        </p:spPr>
        <p:txBody>
          <a:bodyPr/>
          <a:lstStyle/>
          <a:p>
            <a:r>
              <a:rPr lang="en-US" dirty="0"/>
              <a:t>Performance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024479-EE2D-BDAA-C893-D2C616186633}"/>
              </a:ext>
            </a:extLst>
          </p:cNvPr>
          <p:cNvSpPr/>
          <p:nvPr/>
        </p:nvSpPr>
        <p:spPr>
          <a:xfrm>
            <a:off x="538766" y="1605949"/>
            <a:ext cx="54460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0005: Packed Amorphous Structure of Polyethylene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321DB4-6640-7318-B9B9-C87B6BFB9241}"/>
              </a:ext>
            </a:extLst>
          </p:cNvPr>
          <p:cNvSpPr/>
          <p:nvPr/>
        </p:nvSpPr>
        <p:spPr>
          <a:xfrm>
            <a:off x="1199476" y="6169580"/>
            <a:ext cx="349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Mac mini: Apple M4, 16GB LPDDR5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402DEC-C644-796D-0A16-9BEA4CBDA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18</a:t>
            </a:fld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1F55DB-5D78-B208-80F7-232F7F98D263}"/>
              </a:ext>
            </a:extLst>
          </p:cNvPr>
          <p:cNvSpPr/>
          <p:nvPr/>
        </p:nvSpPr>
        <p:spPr>
          <a:xfrm>
            <a:off x="6730584" y="1605949"/>
            <a:ext cx="49997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0006: Trajectory Density (100 hexane per frame)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42F901B-E192-6C42-006A-7C0794F9C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760" y="2057400"/>
            <a:ext cx="5486400" cy="4114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0C698B-100F-E7CC-1FF8-E7C6EFD29A47}"/>
              </a:ext>
            </a:extLst>
          </p:cNvPr>
          <p:cNvSpPr txBox="1"/>
          <p:nvPr/>
        </p:nvSpPr>
        <p:spPr>
          <a:xfrm>
            <a:off x="3108960" y="2248873"/>
            <a:ext cx="17712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 22.59 h</a:t>
            </a:r>
          </a:p>
          <a:p>
            <a:pPr algn="ctr"/>
            <a:r>
              <a:rPr lang="en-US" sz="1400" dirty="0">
                <a:solidFill>
                  <a:srgbClr val="C00000"/>
                </a:solidFill>
              </a:rPr>
              <a:t>20,000 (−CH2−)</a:t>
            </a:r>
            <a:r>
              <a:rPr lang="en-US" sz="1400" baseline="-25000" dirty="0">
                <a:solidFill>
                  <a:srgbClr val="C00000"/>
                </a:solidFill>
              </a:rPr>
              <a:t>100</a:t>
            </a:r>
            <a:endParaRPr lang="en-US" sz="1400" dirty="0">
              <a:solidFill>
                <a:srgbClr val="C0000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BB0D861-82D2-5840-202E-689F97F1CEAC}"/>
              </a:ext>
            </a:extLst>
          </p:cNvPr>
          <p:cNvCxnSpPr>
            <a:cxnSpLocks/>
          </p:cNvCxnSpPr>
          <p:nvPr/>
        </p:nvCxnSpPr>
        <p:spPr>
          <a:xfrm flipV="1">
            <a:off x="4517758" y="2412288"/>
            <a:ext cx="217848" cy="9819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0642BD6E-00B3-B468-EF51-EA2B5D2A74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057400"/>
            <a:ext cx="5486400" cy="4114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C26F520-3BE8-95B5-699B-734F4F08106E}"/>
              </a:ext>
            </a:extLst>
          </p:cNvPr>
          <p:cNvSpPr txBox="1"/>
          <p:nvPr/>
        </p:nvSpPr>
        <p:spPr>
          <a:xfrm>
            <a:off x="9668656" y="3065359"/>
            <a:ext cx="13975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2 s / 200 MB</a:t>
            </a:r>
          </a:p>
          <a:p>
            <a:pPr algn="ctr"/>
            <a:r>
              <a:rPr lang="en-US" sz="1400" dirty="0">
                <a:solidFill>
                  <a:srgbClr val="C00000"/>
                </a:solidFill>
              </a:rPr>
              <a:t>25,000 frames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B54E5E2-3C6E-9AB0-0A3C-C98A4AAF9298}"/>
              </a:ext>
            </a:extLst>
          </p:cNvPr>
          <p:cNvCxnSpPr>
            <a:cxnSpLocks/>
          </p:cNvCxnSpPr>
          <p:nvPr/>
        </p:nvCxnSpPr>
        <p:spPr>
          <a:xfrm flipV="1">
            <a:off x="10546302" y="2707579"/>
            <a:ext cx="96714" cy="2111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87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900205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1500" dirty="0"/>
              <a:t>https://</a:t>
            </a:r>
            <a:r>
              <a:rPr lang="en-US" sz="1500" dirty="0" err="1"/>
              <a:t>mattermodeling.stackexchange.com</a:t>
            </a:r>
            <a:r>
              <a:rPr lang="en-US" sz="1500" dirty="0"/>
              <a:t>/questions/8932/what-are-some-open-source-codes-that-can-generate-potentials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11840</TotalTime>
  <Words>4198</Words>
  <Application>Microsoft Macintosh PowerPoint</Application>
  <PresentationFormat>Widescreen</PresentationFormat>
  <Paragraphs>803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SFMono-Regular</vt:lpstr>
      <vt:lpstr>Times New Roman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Unit Testing</vt:lpstr>
      <vt:lpstr>Integration Test</vt:lpstr>
      <vt:lpstr>test_workflow.py</vt:lpstr>
      <vt:lpstr>PowerPoint Presentation</vt:lpstr>
      <vt:lpstr>PowerPoint Presentation</vt:lpstr>
      <vt:lpstr>Performance Test</vt:lpstr>
      <vt:lpstr>Performance Test</vt:lpstr>
      <vt:lpstr>Performance Test</vt:lpstr>
      <vt:lpstr>Performance Test</vt:lpstr>
      <vt:lpstr>Scientific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415</cp:revision>
  <dcterms:created xsi:type="dcterms:W3CDTF">2024-07-22T15:38:28Z</dcterms:created>
  <dcterms:modified xsi:type="dcterms:W3CDTF">2025-09-13T00:45:26Z</dcterms:modified>
</cp:coreProperties>
</file>