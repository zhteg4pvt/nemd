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63" r:id="rId11"/>
    <p:sldId id="273" r:id="rId12"/>
    <p:sldId id="262" r:id="rId13"/>
    <p:sldId id="271" r:id="rId14"/>
    <p:sldId id="268" r:id="rId15"/>
    <p:sldId id="267" r:id="rId16"/>
    <p:sldId id="272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/>
    <p:restoredTop sz="96170"/>
  </p:normalViewPr>
  <p:slideViewPr>
    <p:cSldViewPr snapToGrid="0" snapToObjects="1">
      <p:cViewPr varScale="1">
        <p:scale>
          <a:sx n="118" d="100"/>
          <a:sy n="118" d="100"/>
        </p:scale>
        <p:origin x="9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Accurate </a:t>
          </a:r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Efficient </a:t>
          </a:r>
          <a:r>
            <a:rPr lang="en-US" dirty="0">
              <a:solidFill>
                <a:schemeClr val="accent1"/>
              </a:solidFill>
            </a:rPr>
            <a:t>Performance</a:t>
          </a:r>
          <a:endParaRPr lang="en-US" dirty="0"/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Physical </a:t>
          </a:r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dirty="0"/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Accurate </a:t>
          </a: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Efficient </a:t>
          </a:r>
          <a:r>
            <a:rPr lang="en-US" sz="1200" kern="1200" dirty="0">
              <a:solidFill>
                <a:schemeClr val="accent1"/>
              </a:solidFill>
            </a:rPr>
            <a:t>Performance</a:t>
          </a:r>
          <a:endParaRPr lang="en-US" sz="1200" kern="1200" dirty="0"/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Physical </a:t>
          </a: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sz="1200" kern="1200" dirty="0"/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4/2/25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4/2/25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4/2/25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4/2/25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4/2/25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4/2/25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4/2/25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mmps.org/pair_sw.html#stillinger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Login </a:t>
            </a:r>
            <a:r>
              <a:rPr lang="en-US" sz="1400" dirty="0" err="1">
                <a:solidFill>
                  <a:schemeClr val="accent2"/>
                </a:solidFill>
              </a:rPr>
              <a:t>Github</a:t>
            </a:r>
            <a:r>
              <a:rPr lang="en-US" sz="1400" dirty="0">
                <a:solidFill>
                  <a:schemeClr val="accent2"/>
                </a:solidFill>
              </a:rPr>
              <a:t> and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 </a:t>
            </a:r>
            <a:r>
              <a:rPr lang="en-US" sz="1400" dirty="0">
                <a:solidFill>
                  <a:schemeClr val="accent2"/>
                </a:solidFill>
              </a:rPr>
              <a:t>and ask for reboot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840913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Executions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798996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744577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196446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468431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64313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6253832" y="2276800"/>
            <a:ext cx="16513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assignment 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7191485" y="3746582"/>
            <a:ext cx="166898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lammpsin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11005813" y="2272848"/>
            <a:ext cx="110860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molecule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6161977" y="293869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4919455" y="3333245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4954329" y="3742854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C948FC-462B-754D-9753-C9DD615D9B10}"/>
              </a:ext>
            </a:extLst>
          </p:cNvPr>
          <p:cNvSpPr txBox="1"/>
          <p:nvPr/>
        </p:nvSpPr>
        <p:spPr>
          <a:xfrm>
            <a:off x="7946546" y="3336492"/>
            <a:ext cx="1563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 err="1"/>
              <a:t>sw</a:t>
            </a:r>
            <a:r>
              <a:rPr lang="en-US" sz="1400" dirty="0"/>
              <a:t> data (</a:t>
            </a:r>
            <a:r>
              <a:rPr lang="en-US" sz="1400" dirty="0" err="1"/>
              <a:t>stillinger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169864" y="4183643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188434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1660" y="4648543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456996" y="3747543"/>
            <a:ext cx="12092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746057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791170" y="3325769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E968D6B-323C-314E-B6DF-80413BCDFF2F}"/>
              </a:ext>
            </a:extLst>
          </p:cNvPr>
          <p:cNvSpPr/>
          <p:nvPr/>
        </p:nvSpPr>
        <p:spPr>
          <a:xfrm>
            <a:off x="6198556" y="2598713"/>
            <a:ext cx="18277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force fields (forcefield)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576798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     environmental variables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    commands (</a:t>
            </a:r>
            <a:r>
              <a:rPr lang="en-US" sz="1400" dirty="0" err="1">
                <a:solidFill>
                  <a:schemeClr val="tx1"/>
                </a:solidFill>
              </a:rPr>
              <a:t>lammpsfix</a:t>
            </a:r>
            <a:r>
              <a:rPr lang="en-US" sz="1400" dirty="0">
                <a:solidFill>
                  <a:schemeClr val="tx1"/>
                </a:solidFill>
              </a:rPr>
              <a:t>)     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    hardcoded constants (symbols)          </a:t>
            </a:r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           </a:t>
            </a:r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     constants(constants)                             </a:t>
            </a:r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          points (geometry)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112510" y="933881"/>
            <a:ext cx="1925469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7D7D12-8447-BB49-BBCE-2FCE6E78AB51}"/>
              </a:ext>
            </a:extLst>
          </p:cNvPr>
          <p:cNvSpPr txBox="1"/>
          <p:nvPr/>
        </p:nvSpPr>
        <p:spPr>
          <a:xfrm>
            <a:off x="6306581" y="1952802"/>
            <a:ext cx="14716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type atom </a:t>
            </a:r>
            <a:r>
              <a:rPr lang="en-US" sz="1400" dirty="0"/>
              <a:t>(</a:t>
            </a:r>
            <a:r>
              <a:rPr lang="en-US" sz="1400" dirty="0" err="1"/>
              <a:t>typer</a:t>
            </a:r>
            <a:r>
              <a:rPr lang="en-US" sz="1400" dirty="0"/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634949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993582" y="1294180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2229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440587" y="657207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99532" y="67165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282269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209615" y="663300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0D54CCC-5181-EC42-8EC6-5D07F2DD613D}"/>
              </a:ext>
            </a:extLst>
          </p:cNvPr>
          <p:cNvCxnSpPr>
            <a:cxnSpLocks/>
          </p:cNvCxnSpPr>
          <p:nvPr/>
        </p:nvCxnSpPr>
        <p:spPr>
          <a:xfrm>
            <a:off x="6845521" y="221738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697AD97-2476-1342-B225-591341AC3CBD}"/>
              </a:ext>
            </a:extLst>
          </p:cNvPr>
          <p:cNvCxnSpPr>
            <a:cxnSpLocks/>
          </p:cNvCxnSpPr>
          <p:nvPr/>
        </p:nvCxnSpPr>
        <p:spPr>
          <a:xfrm>
            <a:off x="6844124" y="253435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703324" y="320906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729712" y="4191867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9508" y="4191752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960224" y="3337431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968524" y="3262874"/>
            <a:ext cx="0" cy="920769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1279928" y="3334974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>
            <a:off x="8182834" y="3113590"/>
            <a:ext cx="2865726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388921" y="3268525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605348" y="327070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388922" y="326927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6841361" y="320506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379276" y="364337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FA627E8-B105-754C-B3B5-F71A0BC79912}"/>
              </a:ext>
            </a:extLst>
          </p:cNvPr>
          <p:cNvCxnSpPr>
            <a:cxnSpLocks/>
          </p:cNvCxnSpPr>
          <p:nvPr/>
        </p:nvCxnSpPr>
        <p:spPr>
          <a:xfrm>
            <a:off x="8685274" y="3701116"/>
            <a:ext cx="26685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67589FD-AD7D-794F-A692-026751B959B4}"/>
              </a:ext>
            </a:extLst>
          </p:cNvPr>
          <p:cNvCxnSpPr>
            <a:cxnSpLocks/>
          </p:cNvCxnSpPr>
          <p:nvPr/>
        </p:nvCxnSpPr>
        <p:spPr>
          <a:xfrm>
            <a:off x="8685274" y="363631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E3DE2A6-655F-CB4B-B973-CA4473783585}"/>
              </a:ext>
            </a:extLst>
          </p:cNvPr>
          <p:cNvCxnSpPr>
            <a:cxnSpLocks/>
          </p:cNvCxnSpPr>
          <p:nvPr/>
        </p:nvCxnSpPr>
        <p:spPr>
          <a:xfrm>
            <a:off x="10018828" y="363791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H="1">
            <a:off x="10018499" y="370496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379276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353800" y="3262874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667097" y="320461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00044" y="3111201"/>
            <a:ext cx="1205632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794176" y="2960748"/>
            <a:ext cx="19373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(box)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1D6DE39-900F-A642-8879-3312DC9805EE}"/>
              </a:ext>
            </a:extLst>
          </p:cNvPr>
          <p:cNvCxnSpPr>
            <a:cxnSpLocks/>
          </p:cNvCxnSpPr>
          <p:nvPr/>
        </p:nvCxnSpPr>
        <p:spPr>
          <a:xfrm rot="5400000" flipH="1">
            <a:off x="7956101" y="343392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16C88BD-64D6-A846-B55B-00C80378E87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32430" y="343581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0B588961-8B60-BB4C-AC94-F82CAB6C540E}"/>
              </a:ext>
            </a:extLst>
          </p:cNvPr>
          <p:cNvCxnSpPr>
            <a:cxnSpLocks/>
          </p:cNvCxnSpPr>
          <p:nvPr/>
        </p:nvCxnSpPr>
        <p:spPr>
          <a:xfrm>
            <a:off x="7575233" y="4075054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467858" y="3343065"/>
            <a:ext cx="14975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datafile</a:t>
            </a:r>
            <a:r>
              <a:rPr lang="en-US" sz="1400" dirty="0"/>
              <a:t> (</a:t>
            </a:r>
            <a:r>
              <a:rPr lang="en-US" sz="1400" dirty="0" err="1"/>
              <a:t>lmpdata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18581" y="3302702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64641" y="3901861"/>
            <a:ext cx="168999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28F3566E-4891-CD40-A5DF-2B4AAF4101E4}"/>
              </a:ext>
            </a:extLst>
          </p:cNvPr>
          <p:cNvCxnSpPr>
            <a:cxnSpLocks/>
          </p:cNvCxnSpPr>
          <p:nvPr/>
        </p:nvCxnSpPr>
        <p:spPr>
          <a:xfrm flipV="1">
            <a:off x="5529469" y="3742854"/>
            <a:ext cx="2994576" cy="3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B5EE8B01-B3B5-D047-8C7E-BD87FA6084E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529469" y="362875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4A83404-54BB-5945-A56E-C7164E27DC79}"/>
              </a:ext>
            </a:extLst>
          </p:cNvPr>
          <p:cNvCxnSpPr>
            <a:cxnSpLocks/>
          </p:cNvCxnSpPr>
          <p:nvPr/>
        </p:nvCxnSpPr>
        <p:spPr>
          <a:xfrm rot="10800000" flipH="1">
            <a:off x="8528478" y="362888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E017328-8507-6344-918D-CB3EA1E05C72}"/>
              </a:ext>
            </a:extLst>
          </p:cNvPr>
          <p:cNvCxnSpPr>
            <a:cxnSpLocks/>
          </p:cNvCxnSpPr>
          <p:nvPr/>
        </p:nvCxnSpPr>
        <p:spPr>
          <a:xfrm>
            <a:off x="7575233" y="373986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749419" y="343353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701244" y="361063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407904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401514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401674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4087382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>
            <a:off x="5362825" y="4597056"/>
            <a:ext cx="65988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62826" y="4492624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961689" y="453279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6846772" y="287523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556931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49303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49463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56527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495145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543105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Right Brace 188">
            <a:extLst>
              <a:ext uri="{FF2B5EF4-FFF2-40B4-BE49-F238E27FC236}">
                <a16:creationId xmlns:a16="http://schemas.microsoft.com/office/drawing/2014/main" id="{CA91F78D-6678-F342-BEC9-CBC5BAC2852B}"/>
              </a:ext>
            </a:extLst>
          </p:cNvPr>
          <p:cNvSpPr/>
          <p:nvPr/>
        </p:nvSpPr>
        <p:spPr>
          <a:xfrm rot="10800000">
            <a:off x="4908190" y="4712047"/>
            <a:ext cx="109728" cy="21259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68343" y="475198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22266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</a:t>
            </a:r>
            <a:r>
              <a:rPr lang="en-US" sz="1400" dirty="0" err="1">
                <a:solidFill>
                  <a:schemeClr val="tx1"/>
                </a:solidFill>
              </a:rPr>
              <a:t>builer</a:t>
            </a:r>
            <a:r>
              <a:rPr lang="en-US" sz="1400" dirty="0">
                <a:solidFill>
                  <a:schemeClr val="tx1"/>
                </a:solidFill>
              </a:rPr>
              <a:t>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labels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208705" y="1708921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131618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8458" y="226095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2" y="1969615"/>
            <a:ext cx="2438485" cy="939670"/>
          </a:xfrm>
          <a:prstGeom prst="roundRect">
            <a:avLst>
              <a:gd name="adj" fmla="val 21938"/>
            </a:avLst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  <a:p>
            <a:r>
              <a:rPr lang="en-US" sz="1200" dirty="0">
                <a:solidFill>
                  <a:srgbClr val="7030A0"/>
                </a:solidFill>
              </a:rPr>
              <a:t>             </a:t>
            </a:r>
            <a:r>
              <a:rPr lang="en-US" sz="1200" dirty="0">
                <a:solidFill>
                  <a:schemeClr val="tx1"/>
                </a:solidFill>
              </a:rPr>
              <a:t>depends on any modules</a:t>
            </a:r>
          </a:p>
        </p:txBody>
      </p:sp>
      <p:sp>
        <p:nvSpPr>
          <p:cNvPr id="223" name="Right Brace 222">
            <a:extLst>
              <a:ext uri="{FF2B5EF4-FFF2-40B4-BE49-F238E27FC236}">
                <a16:creationId xmlns:a16="http://schemas.microsoft.com/office/drawing/2014/main" id="{97D93D61-7C9E-AB4A-AEDC-3B2C928F245D}"/>
              </a:ext>
            </a:extLst>
          </p:cNvPr>
          <p:cNvSpPr/>
          <p:nvPr/>
        </p:nvSpPr>
        <p:spPr>
          <a:xfrm rot="5400000">
            <a:off x="482346" y="2647057"/>
            <a:ext cx="109728" cy="3504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9401153" y="333671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F612E1D-12F9-5344-8796-24225E09D6EA}"/>
              </a:ext>
            </a:extLst>
          </p:cNvPr>
          <p:cNvCxnSpPr>
            <a:cxnSpLocks/>
          </p:cNvCxnSpPr>
          <p:nvPr/>
        </p:nvCxnSpPr>
        <p:spPr>
          <a:xfrm>
            <a:off x="11353800" y="362955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126189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04911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1743795"/>
              </p:ext>
            </p:extLst>
          </p:nvPr>
        </p:nvGraphicFramePr>
        <p:xfrm>
          <a:off x="714893" y="1591570"/>
          <a:ext cx="10753965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4136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2111828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6788001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source </a:t>
                      </a:r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nemd_test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test/unit/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800" dirty="0"/>
                        <a:t>makes sure that functions and methods are operating as expected.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nemd_itest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800" kern="1200" dirty="0">
                          <a:effectLst/>
                        </a:rPr>
                        <a:t> </a:t>
                      </a:r>
                      <a:r>
                        <a:rPr lang="en-US" sz="1800" dirty="0"/>
                        <a:t>makes sure that scripts run without tracebacks and yield reproducible results.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nemd_ptest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nemd_stest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800" dirty="0"/>
                        <a:t>ensures the repeatability, correctness and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800" dirty="0"/>
                        <a:t>scientific outputs.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976504"/>
              </p:ext>
            </p:extLst>
          </p:nvPr>
        </p:nvGraphicFramePr>
        <p:xfrm>
          <a:off x="8977745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9724536" y="1084119"/>
            <a:ext cx="982289" cy="48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/>
              <a:t>Bug-free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7BE624-C351-E947-A83D-174C1415950F}"/>
              </a:ext>
            </a:extLst>
          </p:cNvPr>
          <p:cNvSpPr/>
          <p:nvPr/>
        </p:nvSpPr>
        <p:spPr>
          <a:xfrm>
            <a:off x="2881745" y="569325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before running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743047"/>
              </p:ext>
            </p:extLst>
          </p:nvPr>
        </p:nvGraphicFramePr>
        <p:xfrm>
          <a:off x="6845438" y="431766"/>
          <a:ext cx="484173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12662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029074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syntax </a:t>
                      </a: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to check the results against expectations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 the execution 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68348"/>
              </p:ext>
            </p:extLst>
          </p:nvPr>
        </p:nvGraphicFramePr>
        <p:xfrm>
          <a:off x="6845438" y="2078219"/>
          <a:ext cx="484173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126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00473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in check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shell syntax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match number by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in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 in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 of multiples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collect_log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512327"/>
              </p:ext>
            </p:extLst>
          </p:nvPr>
        </p:nvGraphicFramePr>
        <p:xfrm>
          <a:off x="6845440" y="4334400"/>
          <a:ext cx="4841734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54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7861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tag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of driver or workflow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682915" y="1281054"/>
            <a:ext cx="5847585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 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i="1" dirty="0"/>
              <a:t>==&gt; </a:t>
            </a:r>
            <a:r>
              <a:rPr lang="en-US" sz="1400" i="1" dirty="0" err="1"/>
              <a:t>cmd</a:t>
            </a:r>
            <a:r>
              <a:rPr lang="en-US" sz="1400" i="1" dirty="0"/>
              <a:t> &lt;==</a:t>
            </a:r>
          </a:p>
          <a:p>
            <a:r>
              <a:rPr lang="en-US" sz="1400" i="1" dirty="0"/>
              <a:t># Performance: [</a:t>
            </a:r>
            <a:r>
              <a:rPr lang="en-US" sz="1400" i="1" dirty="0" err="1"/>
              <a:t>Ar</a:t>
            </a:r>
            <a:r>
              <a:rPr lang="en-US" sz="1400" i="1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i="1" dirty="0"/>
          </a:p>
          <a:p>
            <a:r>
              <a:rPr lang="en-US" sz="1400" i="1" dirty="0"/>
              <a:t>==&gt; check &lt;==</a:t>
            </a:r>
          </a:p>
          <a:p>
            <a:r>
              <a:rPr lang="en-US" sz="1400" i="1" dirty="0" err="1"/>
              <a:t>collect_log</a:t>
            </a:r>
            <a:r>
              <a:rPr lang="en-US" sz="1400" i="1" dirty="0"/>
              <a:t>(</a:t>
            </a:r>
            <a:r>
              <a:rPr lang="en-US" sz="1400" i="1" dirty="0" err="1"/>
              <a:t>time,memory</a:t>
            </a:r>
            <a:r>
              <a:rPr lang="en-US" sz="1400" i="1" dirty="0"/>
              <a:t>) &amp;&amp; exist(0049.csv, 0049_time_memory.png)</a:t>
            </a:r>
          </a:p>
          <a:p>
            <a:endParaRPr lang="en-US" sz="1400" i="1" dirty="0"/>
          </a:p>
          <a:p>
            <a:r>
              <a:rPr lang="en-US" sz="1400" i="1" dirty="0"/>
              <a:t>==&gt; tag &lt;==</a:t>
            </a:r>
          </a:p>
          <a:p>
            <a:r>
              <a:rPr lang="en-US" sz="1400" i="1" dirty="0"/>
              <a:t>label(</a:t>
            </a:r>
            <a:r>
              <a:rPr lang="en-US" sz="1400" i="1" dirty="0" err="1"/>
              <a:t>amorp_bldr,wa</a:t>
            </a:r>
            <a:r>
              <a:rPr lang="en-US" sz="1400" i="1" dirty="0"/>
              <a:t>)</a:t>
            </a:r>
          </a:p>
          <a:p>
            <a:r>
              <a:rPr lang="en-US" sz="1400" i="1" dirty="0"/>
              <a:t>slow(100, 00:00:01)</a:t>
            </a:r>
          </a:p>
          <a:p>
            <a:r>
              <a:rPr lang="en-US" sz="1400" i="1" dirty="0"/>
              <a:t>slow(50000, 00:00:04)</a:t>
            </a:r>
          </a:p>
          <a:p>
            <a:endParaRPr lang="en-US" sz="1400" i="1" dirty="0"/>
          </a:p>
          <a:p>
            <a:r>
              <a:rPr lang="en-US" sz="1400" i="1" dirty="0"/>
              <a:t>==&gt; param &lt;==</a:t>
            </a:r>
          </a:p>
          <a:p>
            <a:r>
              <a:rPr lang="en-US" sz="1400" i="1" dirty="0"/>
              <a:t># Number of Molecules</a:t>
            </a:r>
          </a:p>
          <a:p>
            <a:r>
              <a:rPr lang="en-US" sz="1400" i="1" dirty="0"/>
              <a:t>100</a:t>
            </a:r>
          </a:p>
          <a:p>
            <a:r>
              <a:rPr lang="en-US" sz="1400" i="1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985189"/>
              </p:ext>
            </p:extLst>
          </p:nvPr>
        </p:nvGraphicFramePr>
        <p:xfrm>
          <a:off x="6845439" y="5469752"/>
          <a:ext cx="484173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6701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7471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file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symbol is the label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AB48-4D0B-7282-1FF0-0E7F730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3CF70-0072-42F8-CA2A-26EFF110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5081"/>
            <a:ext cx="7052734" cy="1325563"/>
          </a:xfrm>
        </p:spPr>
        <p:txBody>
          <a:bodyPr/>
          <a:lstStyle/>
          <a:p>
            <a:r>
              <a:rPr lang="en-US" dirty="0" err="1"/>
              <a:t>test_workflow.py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29FC4E-A5C6-5829-9B82-9B625439D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E4EC0-08D4-966E-FA72-01102183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890042"/>
              </p:ext>
            </p:extLst>
          </p:nvPr>
        </p:nvGraphicFramePr>
        <p:xfrm>
          <a:off x="956732" y="1236133"/>
          <a:ext cx="10397067" cy="51202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238243">
                  <a:extLst>
                    <a:ext uri="{9D8B030D-6E8A-4147-A177-3AD203B41FA5}">
                      <a16:colId xmlns:a16="http://schemas.microsoft.com/office/drawing/2014/main" val="746965002"/>
                    </a:ext>
                  </a:extLst>
                </a:gridCol>
                <a:gridCol w="6158824">
                  <a:extLst>
                    <a:ext uri="{9D8B030D-6E8A-4147-A177-3AD203B41FA5}">
                      <a16:colId xmlns:a16="http://schemas.microsoft.com/office/drawing/2014/main" val="295673291"/>
                    </a:ext>
                  </a:extLst>
                </a:gridCol>
              </a:tblGrid>
              <a:tr h="3725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effectLst/>
                        </a:rPr>
                        <a:t>Supported arguments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691384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-name {</a:t>
                      </a:r>
                      <a:r>
                        <a:rPr lang="en-US" sz="1400" kern="1200" dirty="0" err="1">
                          <a:solidFill>
                            <a:schemeClr val="accent6"/>
                          </a:solidFill>
                          <a:effectLst/>
                        </a:rPr>
                        <a:t>integration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1"/>
                          </a:solidFill>
                          <a:effectLst/>
                        </a:rPr>
                        <a:t>performance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2"/>
                          </a:solidFill>
                          <a:effectLst/>
                        </a:rPr>
                        <a:t>scientific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integration: reproducible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performance: resource efficient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scientific: physical meaningful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0681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dir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DIR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Search test(s) under this directory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991860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according to these ids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858068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-slow SECOND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Skip (sub)tests marked with time longer than this criteria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525047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-label LABEL [LABEL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marked with the given labels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447737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-task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cmd,check,tag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: run the commands in the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file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check: check &amp; collect the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tag: update the tag file (e.g., time, name)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7666738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task: runs tasks and register files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aggregator: collect results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33399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CPU [CPU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Total number of CPUs [the CPUs for one task]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Each task uses 1 CPU If one-task CPUs not provided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141949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, parallelization progress, and job details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1954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on: enable debug mode for the workflow and sub-jobs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off: disable the mode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84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795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as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scalable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force_field</a:t>
            </a:r>
            <a:r>
              <a:rPr lang="en-US" sz="1300" dirty="0"/>
              <a:t> SW: (w style computes a 3-body </a:t>
            </a:r>
            <a:r>
              <a:rPr lang="en-US" sz="13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Stillinger-Weber</a:t>
            </a:r>
            <a:r>
              <a:rPr lang="en-US" sz="1300" dirty="0"/>
              <a:t> potential)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886492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 (120)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7(4)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CCC(=O)CC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CC(C)CC(=O)C(C)(C)C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[Li+].[F-]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[Na+].[Cl-]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[Br-].[Mg+2].[Br-]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[K+].[Br-]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[He] [Ne] [Ar] [Kr] [Xe]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[Ca+2] [Sr+2] [Ba+2] 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87521" y="6368766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401330" y="6364223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404363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9334</TotalTime>
  <Words>3673</Words>
  <Application>Microsoft Macintosh PowerPoint</Application>
  <PresentationFormat>Widescreen</PresentationFormat>
  <Paragraphs>640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Integration Test</vt:lpstr>
      <vt:lpstr>test_workflow.py</vt:lpstr>
      <vt:lpstr>PowerPoint Presentation</vt:lpstr>
      <vt:lpstr>PowerPoint Presentation</vt:lpstr>
      <vt:lpstr>Scientific Test</vt:lpstr>
      <vt:lpstr>Performance Test</vt:lpstr>
      <vt:lpstr>Command-Line Arguments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316</cp:revision>
  <dcterms:created xsi:type="dcterms:W3CDTF">2024-07-22T15:38:28Z</dcterms:created>
  <dcterms:modified xsi:type="dcterms:W3CDTF">2025-04-02T23:05:26Z</dcterms:modified>
</cp:coreProperties>
</file>