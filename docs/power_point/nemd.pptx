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7" r:id="rId16"/>
    <p:sldId id="276" r:id="rId17"/>
    <p:sldId id="277" r:id="rId18"/>
    <p:sldId id="278" r:id="rId19"/>
    <p:sldId id="279" r:id="rId20"/>
    <p:sldId id="280" r:id="rId21"/>
    <p:sldId id="268" r:id="rId22"/>
    <p:sldId id="272" r:id="rId23"/>
    <p:sldId id="26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55"/>
    <p:restoredTop sz="95611"/>
  </p:normalViewPr>
  <p:slideViewPr>
    <p:cSldViewPr snapToGrid="0" snapToObjects="1">
      <p:cViewPr varScale="1">
        <p:scale>
          <a:sx n="167" d="100"/>
          <a:sy n="167" d="100"/>
        </p:scale>
        <p:origin x="18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2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71664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49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1950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4827348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4227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31292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5880"/>
              </p:ext>
            </p:extLst>
          </p:nvPr>
        </p:nvGraphicFramePr>
        <p:xfrm>
          <a:off x="361233" y="3814120"/>
          <a:ext cx="5734767" cy="25725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000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04412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61202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385830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13316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7079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 (</a:t>
                      </a:r>
                      <a:r>
                        <a:rPr lang="en-US" sz="1400" dirty="0" err="1"/>
                        <a:t>num|sec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0" marR="0"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Avg (sec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932314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i="1" dirty="0" err="1"/>
                        <a:t>nemd_test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'not slow'"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1732 | 14.71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| 6.13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43 | 4.25</a:t>
                      </a:r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0.0132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93231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slow"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  1 | 20.19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1 | 3.95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no tests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361233" y="6386661"/>
            <a:ext cx="3071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380772"/>
              </p:ext>
            </p:extLst>
          </p:nvPr>
        </p:nvGraphicFramePr>
        <p:xfrm>
          <a:off x="6301520" y="2515701"/>
          <a:ext cx="5305333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379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883450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946500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172805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106199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777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04681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 err="1"/>
                        <a:t>nemd_cover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/>
                        <a:t>"-m ''"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6088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44CE8A1-94B7-AA2F-211C-76BBBE531409}"/>
              </a:ext>
            </a:extLst>
          </p:cNvPr>
          <p:cNvSpPr txBox="1"/>
          <p:nvPr/>
        </p:nvSpPr>
        <p:spPr>
          <a:xfrm>
            <a:off x="361233" y="1679020"/>
            <a:ext cx="5586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unit tests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DD0116-5DFF-79FB-A652-1E32A9A86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93985"/>
              </p:ext>
            </p:extLst>
          </p:nvPr>
        </p:nvGraphicFramePr>
        <p:xfrm>
          <a:off x="287092" y="2284237"/>
          <a:ext cx="5734767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46724">
                  <a:extLst>
                    <a:ext uri="{9D8B030D-6E8A-4147-A177-3AD203B41FA5}">
                      <a16:colId xmlns:a16="http://schemas.microsoft.com/office/drawing/2014/main" val="2111335203"/>
                    </a:ext>
                  </a:extLst>
                </a:gridCol>
                <a:gridCol w="3188043">
                  <a:extLst>
                    <a:ext uri="{9D8B030D-6E8A-4147-A177-3AD203B41FA5}">
                      <a16:colId xmlns:a16="http://schemas.microsoft.com/office/drawing/2014/main" val="249208334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kern="1200" dirty="0">
                          <a:solidFill>
                            <a:schemeClr val="tx1"/>
                          </a:solidFill>
                        </a:rPr>
                        <a:t>$NEMD_SRC/test/unit in parallel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83503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specific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tests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3504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-s -v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and verbose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729843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-m slow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selected tests marked with slow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8751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368FDEB-1B1A-36FF-5EC9-704089116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213107"/>
              </p:ext>
            </p:extLst>
          </p:nvPr>
        </p:nvGraphicFramePr>
        <p:xfrm>
          <a:off x="6091539" y="853913"/>
          <a:ext cx="5890054" cy="1437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9063">
                  <a:extLst>
                    <a:ext uri="{9D8B030D-6E8A-4147-A177-3AD203B41FA5}">
                      <a16:colId xmlns:a16="http://schemas.microsoft.com/office/drawing/2014/main" val="3331805810"/>
                    </a:ext>
                  </a:extLst>
                </a:gridCol>
                <a:gridCol w="2680991">
                  <a:extLst>
                    <a:ext uri="{9D8B030D-6E8A-4147-A177-3AD203B41FA5}">
                      <a16:colId xmlns:a16="http://schemas.microsoft.com/office/drawing/2014/main" val="1422148830"/>
                    </a:ext>
                  </a:extLst>
                </a:gridCol>
              </a:tblGrid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endParaRPr lang="en-US" sz="1300" i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run analysis, create html, open browser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0872081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all driver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310005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workflow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only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14008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module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cru_test.py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osutils_test.py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multiple specific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7649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96FABA-B7F8-19BB-7F66-729319E7CC40}"/>
              </a:ext>
            </a:extLst>
          </p:cNvPr>
          <p:cNvSpPr txBox="1"/>
          <p:nvPr/>
        </p:nvSpPr>
        <p:spPr>
          <a:xfrm>
            <a:off x="6227805" y="290983"/>
            <a:ext cx="546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coverage analysis and generate report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5D73A7-D2DF-1EC9-CEE2-6582208A7EC9}"/>
              </a:ext>
            </a:extLst>
          </p:cNvPr>
          <p:cNvSpPr txBox="1"/>
          <p:nvPr/>
        </p:nvSpPr>
        <p:spPr>
          <a:xfrm>
            <a:off x="6301520" y="6385023"/>
            <a:ext cx="3589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Excluded: </a:t>
            </a:r>
            <a:r>
              <a:rPr lang="en-US" sz="1400" b="0" i="0" dirty="0">
                <a:solidFill>
                  <a:schemeClr val="bg1">
                    <a:lumMod val="50000"/>
                  </a:schemeClr>
                </a:solidFill>
                <a:effectLst/>
                <a:latin typeface="SFMono-Regular"/>
              </a:rPr>
              <a:t>__main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__,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FMono-Regular"/>
              </a:rPr>
              <a:t>numba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, platform-specific</a:t>
            </a: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920770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 t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ags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44051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Check Command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>
                          <a:effectLst/>
                        </a:rPr>
                        <a:t>general shell </a:t>
                      </a:r>
                      <a:r>
                        <a:rPr lang="en-US" sz="1400" i="1" kern="1200" dirty="0" err="1">
                          <a:effectLst/>
                        </a:rPr>
                        <a:t>cmd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exist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existence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glob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Match number from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has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strings in file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 err="1">
                          <a:effectLst/>
                        </a:rPr>
                        <a:t>cmp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019824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Key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test/integration/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dirty="0"/>
              <a:t>==&gt; </a:t>
            </a:r>
            <a:r>
              <a:rPr lang="en-US" sz="1400" dirty="0" err="1"/>
              <a:t>cmd</a:t>
            </a:r>
            <a:r>
              <a:rPr lang="en-US" sz="1400" dirty="0"/>
              <a:t> &lt;==</a:t>
            </a:r>
          </a:p>
          <a:p>
            <a:r>
              <a:rPr lang="en-US" sz="1400" dirty="0"/>
              <a:t># Performance: [</a:t>
            </a:r>
            <a:r>
              <a:rPr lang="en-US" sz="1400" dirty="0" err="1"/>
              <a:t>Ar</a:t>
            </a:r>
            <a:r>
              <a:rPr lang="en-US" sz="1400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dirty="0"/>
          </a:p>
          <a:p>
            <a:r>
              <a:rPr lang="en-US" sz="1400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dirty="0"/>
          </a:p>
          <a:p>
            <a:r>
              <a:rPr lang="en-US" sz="1400" dirty="0"/>
              <a:t>==&gt; tag &lt;==</a:t>
            </a:r>
          </a:p>
          <a:p>
            <a:r>
              <a:rPr lang="en-US" sz="1400" dirty="0"/>
              <a:t>slow 100.0 00:00:04 50000.0 00:00:05</a:t>
            </a:r>
          </a:p>
          <a:p>
            <a:r>
              <a:rPr lang="en-US" sz="1400" dirty="0"/>
              <a:t>label </a:t>
            </a:r>
            <a:r>
              <a:rPr lang="en-US" sz="1400" dirty="0" err="1"/>
              <a:t>number_of_molecules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==&gt; param &lt;==</a:t>
            </a:r>
          </a:p>
          <a:p>
            <a:r>
              <a:rPr lang="en-US" sz="1400" dirty="0"/>
              <a:t># Number of Molecules</a:t>
            </a:r>
          </a:p>
          <a:p>
            <a:r>
              <a:rPr lang="en-US" sz="1400" dirty="0"/>
              <a:t>100</a:t>
            </a:r>
          </a:p>
          <a:p>
            <a:r>
              <a:rPr lang="en-US" sz="1400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2872198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Param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command(s)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05370"/>
              </p:ext>
            </p:extLst>
          </p:nvPr>
        </p:nvGraphicFramePr>
        <p:xfrm>
          <a:off x="1066800" y="1130301"/>
          <a:ext cx="9963150" cy="521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61362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5901788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2102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reproducibility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efficiency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of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per-task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3015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into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CRU: initiator, monomer, terminator, and regular molecule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-grow: grow molecules from the smallest rigid fragments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scaled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Only Stillinger-Weber potential supported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619986"/>
              </p:ext>
            </p:extLst>
          </p:nvPr>
        </p:nvGraphicFramePr>
        <p:xfrm>
          <a:off x="6327263" y="117318"/>
          <a:ext cx="5640294" cy="631617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09300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6317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66276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62087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239456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Integration Test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method/driver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Molecule/Polymer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Structure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Comment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grid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2(2)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CCCC (120)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Set Geom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1(3)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Measure 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 | 10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CCCCCC(C)O [Ar]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Pack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Reduced Density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Grow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3(5)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*CC(O)*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5(3) | 15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 CN(C)C=O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Relocation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| 10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Failed Initialization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1(200)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 Long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10(100)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Multi Long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TIP3P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CCC(=O)CC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24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CC(C)CC(=O)C(C)(C)C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25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[Li+].[F-]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[Na+].[Cl-]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[Br-].[Mg+2].[Br-]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[K+].[Br-]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 | 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Rb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+].[Cl-] [Cs+].[Br-]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31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5 | 5 | 5 | 5 | 5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[He] [Ne] 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Ar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] [Kr] [Xe]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1| 1| 6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[Ca+2] [Sr+2] [Ba+2] 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xtal_bldr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"C*.*CC*.C*"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mono, 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63178255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"[*:1]C([*:1])([*:1]).*C*"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with multiple stars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23914000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"*C"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terminator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0658177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5452932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initiator, terminator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3291134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 Relaxation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69663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(mol num)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5814971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(Press)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0650393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337538" y="6418388"/>
            <a:ext cx="553499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i="1" dirty="0" err="1">
                <a:solidFill>
                  <a:schemeClr val="bg1">
                    <a:lumMod val="50000"/>
                  </a:schemeClr>
                </a:solidFill>
              </a:rPr>
              <a:t>amorp_bldr_driver.py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100" dirty="0"/>
              <a:t>as driver unless noted otherwise</a:t>
            </a:r>
          </a:p>
          <a:p>
            <a:r>
              <a:rPr lang="en-US" sz="1100" dirty="0"/>
              <a:t>composition separated by |, repeat unit number inside (), polymerization capping atoms as *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03434" y="6356350"/>
            <a:ext cx="1050365" cy="365125"/>
          </a:xfrm>
        </p:spPr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3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96683"/>
              </p:ext>
            </p:extLst>
          </p:nvPr>
        </p:nvGraphicFramePr>
        <p:xfrm>
          <a:off x="6334298" y="3058204"/>
          <a:ext cx="5544589" cy="328605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datafile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150914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Single atom and Single frame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1578295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13072" y="121487"/>
            <a:ext cx="5544589" cy="29395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runs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 with different geometries,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1508758" y="1605949"/>
            <a:ext cx="32338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01: Gridded Amorphous Argon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7030146" y="227052"/>
            <a:ext cx="48376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macOS Sequoia 15.6.1, Apple M4, 16GB LPDDR5</a:t>
            </a:r>
          </a:p>
          <a:p>
            <a:pPr algn="ctr"/>
            <a:r>
              <a:rPr lang="en-US" dirty="0"/>
              <a:t>Ubuntu 22.04.5 LTS, i5-11400F, RTX 3060 Ti, 16GB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983395F-DD1A-D6BB-FB3A-F9803033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683" y="2054780"/>
            <a:ext cx="5486400" cy="4114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C9635E0-25D1-4F99-062C-1853B502FBE9}"/>
              </a:ext>
            </a:extLst>
          </p:cNvPr>
          <p:cNvSpPr txBox="1"/>
          <p:nvPr/>
        </p:nvSpPr>
        <p:spPr>
          <a:xfrm>
            <a:off x="2334517" y="2176115"/>
            <a:ext cx="21054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 20 min: 100 million </a:t>
            </a:r>
            <a:r>
              <a:rPr lang="en-US" sz="1600" dirty="0" err="1">
                <a:solidFill>
                  <a:srgbClr val="C00000"/>
                </a:solidFill>
              </a:rPr>
              <a:t>Ar</a:t>
            </a:r>
            <a:r>
              <a:rPr lang="en-US" sz="1600" dirty="0">
                <a:solidFill>
                  <a:srgbClr val="C00000"/>
                </a:solidFill>
              </a:rPr>
              <a:t>  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E3C28B7-43A3-3FB3-5C36-D4BF2DE44E38}"/>
              </a:ext>
            </a:extLst>
          </p:cNvPr>
          <p:cNvCxnSpPr/>
          <p:nvPr/>
        </p:nvCxnSpPr>
        <p:spPr>
          <a:xfrm>
            <a:off x="4439989" y="2345392"/>
            <a:ext cx="30265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8" name="Graphic 27">
            <a:extLst>
              <a:ext uri="{FF2B5EF4-FFF2-40B4-BE49-F238E27FC236}">
                <a16:creationId xmlns:a16="http://schemas.microsoft.com/office/drawing/2014/main" id="{7D3CC966-FBD0-5F88-856B-0220834E92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4780"/>
            <a:ext cx="5486400" cy="41148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66608C93-331A-F65F-620B-533A94C75637}"/>
              </a:ext>
            </a:extLst>
          </p:cNvPr>
          <p:cNvSpPr/>
          <p:nvPr/>
        </p:nvSpPr>
        <p:spPr>
          <a:xfrm>
            <a:off x="7223757" y="1609344"/>
            <a:ext cx="33324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02: Gridded Amorphous Butane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CB42D5-02D1-7A2C-322B-0B2F65AB9DDF}"/>
              </a:ext>
            </a:extLst>
          </p:cNvPr>
          <p:cNvSpPr txBox="1"/>
          <p:nvPr/>
        </p:nvSpPr>
        <p:spPr>
          <a:xfrm>
            <a:off x="9140030" y="2789663"/>
            <a:ext cx="1684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 2.82 min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10 million butane 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8D9CC07-5EBB-9AA5-B931-4ACB79A83F24}"/>
              </a:ext>
            </a:extLst>
          </p:cNvPr>
          <p:cNvCxnSpPr>
            <a:cxnSpLocks/>
          </p:cNvCxnSpPr>
          <p:nvPr/>
        </p:nvCxnSpPr>
        <p:spPr>
          <a:xfrm>
            <a:off x="10365377" y="3374438"/>
            <a:ext cx="190784" cy="6726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04E0490-FAF4-DD25-5424-E24C679503C5}"/>
              </a:ext>
            </a:extLst>
          </p:cNvPr>
          <p:cNvSpPr txBox="1"/>
          <p:nvPr/>
        </p:nvSpPr>
        <p:spPr>
          <a:xfrm>
            <a:off x="4947079" y="6169580"/>
            <a:ext cx="2263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0.5 g/cm</a:t>
            </a:r>
            <a:r>
              <a:rPr lang="en-US" baseline="30000" dirty="0"/>
              <a:t>3</a:t>
            </a:r>
            <a:r>
              <a:rPr lang="en-US" dirty="0"/>
              <a:t> &amp; 0.5 radius</a:t>
            </a:r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E386F-D01B-61C8-CC01-4FB87CC8C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15EB-9855-2DBB-E76B-24FFD2FEA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FEF9FC-DCA4-F8D0-4AFC-D07CAB07C9F2}"/>
              </a:ext>
            </a:extLst>
          </p:cNvPr>
          <p:cNvSpPr/>
          <p:nvPr/>
        </p:nvSpPr>
        <p:spPr>
          <a:xfrm>
            <a:off x="1515291" y="1605949"/>
            <a:ext cx="29531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03: Packed Amorphous Argon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FC0181-8DA8-9077-A41A-E5F0ED854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5B7D35-656D-2872-5095-C6E37700935A}"/>
              </a:ext>
            </a:extLst>
          </p:cNvPr>
          <p:cNvSpPr/>
          <p:nvPr/>
        </p:nvSpPr>
        <p:spPr>
          <a:xfrm>
            <a:off x="7230291" y="1605949"/>
            <a:ext cx="30501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04: Grown Amorphous Butane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696D45E9-9943-DA7D-FD27-C6077CA6C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760" y="2057400"/>
            <a:ext cx="5486400" cy="411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1371B2-9BFC-E961-5590-4CE9647BCE43}"/>
              </a:ext>
            </a:extLst>
          </p:cNvPr>
          <p:cNvSpPr txBox="1"/>
          <p:nvPr/>
        </p:nvSpPr>
        <p:spPr>
          <a:xfrm>
            <a:off x="2518238" y="2171929"/>
            <a:ext cx="194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 4.94 h: 0.4 million </a:t>
            </a:r>
            <a:r>
              <a:rPr lang="en-US" sz="1600" dirty="0" err="1">
                <a:solidFill>
                  <a:srgbClr val="C00000"/>
                </a:solidFill>
              </a:rPr>
              <a:t>Ar</a:t>
            </a:r>
            <a:r>
              <a:rPr lang="en-US" sz="1600" dirty="0">
                <a:solidFill>
                  <a:srgbClr val="C00000"/>
                </a:solidFill>
              </a:rPr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72B392-ACF9-D213-818C-3CD5C6E424FF}"/>
              </a:ext>
            </a:extLst>
          </p:cNvPr>
          <p:cNvCxnSpPr>
            <a:cxnSpLocks/>
          </p:cNvCxnSpPr>
          <p:nvPr/>
        </p:nvCxnSpPr>
        <p:spPr>
          <a:xfrm>
            <a:off x="4468458" y="2341206"/>
            <a:ext cx="24087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8" name="Graphic 17">
            <a:extLst>
              <a:ext uri="{FF2B5EF4-FFF2-40B4-BE49-F238E27FC236}">
                <a16:creationId xmlns:a16="http://schemas.microsoft.com/office/drawing/2014/main" id="{915E00C8-7022-A3DD-E2D4-0930D52B86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4780"/>
            <a:ext cx="5486400" cy="41148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CF2FD89-4648-2B78-E696-7A5450448B2F}"/>
              </a:ext>
            </a:extLst>
          </p:cNvPr>
          <p:cNvSpPr txBox="1"/>
          <p:nvPr/>
        </p:nvSpPr>
        <p:spPr>
          <a:xfrm>
            <a:off x="8261970" y="2171929"/>
            <a:ext cx="19502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 6.88 h: 0.4 million </a:t>
            </a:r>
            <a:r>
              <a:rPr lang="en-US" sz="1600" dirty="0" err="1">
                <a:solidFill>
                  <a:srgbClr val="C00000"/>
                </a:solidFill>
              </a:rPr>
              <a:t>Ar</a:t>
            </a:r>
            <a:r>
              <a:rPr lang="en-US" sz="1600" dirty="0">
                <a:solidFill>
                  <a:srgbClr val="C00000"/>
                </a:solidFill>
              </a:rPr>
              <a:t> 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E385BF6-D18B-3C71-031C-AD24F72D4112}"/>
              </a:ext>
            </a:extLst>
          </p:cNvPr>
          <p:cNvCxnSpPr>
            <a:cxnSpLocks/>
          </p:cNvCxnSpPr>
          <p:nvPr/>
        </p:nvCxnSpPr>
        <p:spPr>
          <a:xfrm>
            <a:off x="10212189" y="2341206"/>
            <a:ext cx="24087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AE119E6-1879-2FD7-BD79-0C284E8E58A4}"/>
              </a:ext>
            </a:extLst>
          </p:cNvPr>
          <p:cNvSpPr txBox="1"/>
          <p:nvPr/>
        </p:nvSpPr>
        <p:spPr>
          <a:xfrm>
            <a:off x="4947079" y="6172200"/>
            <a:ext cx="2263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0.5 g/cm</a:t>
            </a:r>
            <a:r>
              <a:rPr lang="en-US" baseline="30000" dirty="0"/>
              <a:t>3</a:t>
            </a:r>
            <a:r>
              <a:rPr lang="en-US" dirty="0"/>
              <a:t> &amp; 0.5 radius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CDE2B8-1654-16A3-9D22-E6660D52DED2}"/>
              </a:ext>
            </a:extLst>
          </p:cNvPr>
          <p:cNvSpPr/>
          <p:nvPr/>
        </p:nvSpPr>
        <p:spPr>
          <a:xfrm>
            <a:off x="7030146" y="227052"/>
            <a:ext cx="48376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macOS Sequoia 15.6.1, Apple M4, 16GB LPDDR5</a:t>
            </a:r>
          </a:p>
          <a:p>
            <a:pPr algn="ctr"/>
            <a:r>
              <a:rPr lang="en-US" dirty="0"/>
              <a:t>Ubuntu 22.04.5 LTS, i5-11400F, RTX 3060 Ti, 16GB</a:t>
            </a:r>
          </a:p>
        </p:txBody>
      </p:sp>
    </p:spTree>
    <p:extLst>
      <p:ext uri="{BB962C8B-B14F-4D97-AF65-F5344CB8AC3E}">
        <p14:creationId xmlns:p14="http://schemas.microsoft.com/office/powerpoint/2010/main" val="2706071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1320-6ABC-DC34-B56E-6DA6270F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E1A65-F062-B483-D49D-16EFCB723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2ED74D-D530-449B-7201-2FC9752ACAE4}"/>
              </a:ext>
            </a:extLst>
          </p:cNvPr>
          <p:cNvSpPr/>
          <p:nvPr/>
        </p:nvSpPr>
        <p:spPr>
          <a:xfrm>
            <a:off x="1306286" y="1605949"/>
            <a:ext cx="5113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05: Packed Amorphous Polyethylene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2E9CE8-3A4F-2B9E-07DB-3F268E5E6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236B0A5-AC39-3F45-1A96-AF28B0F4801F}"/>
              </a:ext>
            </a:extLst>
          </p:cNvPr>
          <p:cNvSpPr/>
          <p:nvPr/>
        </p:nvSpPr>
        <p:spPr>
          <a:xfrm>
            <a:off x="7752805" y="1605949"/>
            <a:ext cx="387108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06: Trajectory Density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127034-22E1-D4EE-1E57-73891AA7C5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57400"/>
            <a:ext cx="5486400" cy="411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A007EF-A178-053A-2693-C95D32C2BBAC}"/>
              </a:ext>
            </a:extLst>
          </p:cNvPr>
          <p:cNvSpPr txBox="1"/>
          <p:nvPr/>
        </p:nvSpPr>
        <p:spPr>
          <a:xfrm>
            <a:off x="3180801" y="2248873"/>
            <a:ext cx="17712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 22.59 h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20,000 (−CH2−)</a:t>
            </a:r>
            <a:r>
              <a:rPr lang="en-US" sz="1400" baseline="-25000" dirty="0">
                <a:solidFill>
                  <a:srgbClr val="C00000"/>
                </a:solidFill>
              </a:rPr>
              <a:t>100</a:t>
            </a:r>
            <a:endParaRPr lang="en-US" sz="1400" dirty="0">
              <a:solidFill>
                <a:srgbClr val="C0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2029C8-01A6-6519-F107-1103F0286A66}"/>
              </a:ext>
            </a:extLst>
          </p:cNvPr>
          <p:cNvCxnSpPr>
            <a:cxnSpLocks/>
          </p:cNvCxnSpPr>
          <p:nvPr/>
        </p:nvCxnSpPr>
        <p:spPr>
          <a:xfrm flipV="1">
            <a:off x="4517758" y="2412288"/>
            <a:ext cx="217848" cy="9819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F3925752-ECA0-507A-C833-2EA38A1F1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7400"/>
            <a:ext cx="5486400" cy="4114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4825302-C87F-AFE3-0A94-997E1B1DF4C6}"/>
              </a:ext>
            </a:extLst>
          </p:cNvPr>
          <p:cNvSpPr txBox="1"/>
          <p:nvPr/>
        </p:nvSpPr>
        <p:spPr>
          <a:xfrm>
            <a:off x="9668656" y="3065359"/>
            <a:ext cx="1397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2 s / 200 MB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25,000 frames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FD964-C081-C9AB-CF9B-3D9E30989738}"/>
              </a:ext>
            </a:extLst>
          </p:cNvPr>
          <p:cNvCxnSpPr>
            <a:cxnSpLocks/>
          </p:cNvCxnSpPr>
          <p:nvPr/>
        </p:nvCxnSpPr>
        <p:spPr>
          <a:xfrm flipV="1">
            <a:off x="10546302" y="2707579"/>
            <a:ext cx="96714" cy="2111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4AA54D-E7D2-7BC0-A470-182B76716D25}"/>
              </a:ext>
            </a:extLst>
          </p:cNvPr>
          <p:cNvSpPr txBox="1"/>
          <p:nvPr/>
        </p:nvSpPr>
        <p:spPr>
          <a:xfrm>
            <a:off x="1915015" y="6172200"/>
            <a:ext cx="23108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0.5 g/cm</a:t>
            </a:r>
            <a:r>
              <a:rPr lang="en-US" baseline="30000" dirty="0"/>
              <a:t>3</a:t>
            </a:r>
            <a:r>
              <a:rPr lang="en-US" dirty="0"/>
              <a:t> &amp; 0.5 radius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388CB5-E31C-D9C7-4BCE-560227EFF033}"/>
              </a:ext>
            </a:extLst>
          </p:cNvPr>
          <p:cNvSpPr txBox="1"/>
          <p:nvPr/>
        </p:nvSpPr>
        <p:spPr>
          <a:xfrm>
            <a:off x="7966712" y="6172200"/>
            <a:ext cx="23108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100 hexane per frame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5539B0-8416-34DD-550E-52013F1C6475}"/>
              </a:ext>
            </a:extLst>
          </p:cNvPr>
          <p:cNvSpPr/>
          <p:nvPr/>
        </p:nvSpPr>
        <p:spPr>
          <a:xfrm>
            <a:off x="7030146" y="227052"/>
            <a:ext cx="48376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macOS Sequoia 15.6.1, Apple M4, 16GB LPDDR5</a:t>
            </a:r>
          </a:p>
          <a:p>
            <a:pPr algn="ctr"/>
            <a:r>
              <a:rPr lang="en-US" dirty="0"/>
              <a:t>Ubuntu 22.04.5 LTS, i5-11400F, RTX 3060 Ti, 16GB</a:t>
            </a:r>
          </a:p>
        </p:txBody>
      </p:sp>
    </p:spTree>
    <p:extLst>
      <p:ext uri="{BB962C8B-B14F-4D97-AF65-F5344CB8AC3E}">
        <p14:creationId xmlns:p14="http://schemas.microsoft.com/office/powerpoint/2010/main" val="2133385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58E57-49B3-89B2-583A-235660011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D450C-4C4C-22C0-180F-91A9E8BC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024479-EE2D-BDAA-C893-D2C616186633}"/>
              </a:ext>
            </a:extLst>
          </p:cNvPr>
          <p:cNvSpPr/>
          <p:nvPr/>
        </p:nvSpPr>
        <p:spPr>
          <a:xfrm>
            <a:off x="1789612" y="1605949"/>
            <a:ext cx="24950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07: Trajectory XYZ writer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402DEC-C644-796D-0A16-9BEA4CBDA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1F55DB-5D78-B208-80F7-232F7F98D263}"/>
              </a:ext>
            </a:extLst>
          </p:cNvPr>
          <p:cNvSpPr/>
          <p:nvPr/>
        </p:nvSpPr>
        <p:spPr>
          <a:xfrm>
            <a:off x="7458892" y="1605949"/>
            <a:ext cx="261910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08: Trajectory HTML View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AFEB8F6-2B28-75A4-CCA2-6E929B740C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54780"/>
            <a:ext cx="5486400" cy="4114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0BAB78-9B73-510C-3F19-A1F9C974F1ED}"/>
              </a:ext>
            </a:extLst>
          </p:cNvPr>
          <p:cNvSpPr txBox="1"/>
          <p:nvPr/>
        </p:nvSpPr>
        <p:spPr>
          <a:xfrm>
            <a:off x="3187340" y="3601641"/>
            <a:ext cx="21054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 0.65 min / 200 MB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25,000 frames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4C7382D-E7AB-DE91-256A-9F618BFBD150}"/>
              </a:ext>
            </a:extLst>
          </p:cNvPr>
          <p:cNvCxnSpPr>
            <a:cxnSpLocks/>
          </p:cNvCxnSpPr>
          <p:nvPr/>
        </p:nvCxnSpPr>
        <p:spPr>
          <a:xfrm>
            <a:off x="4851095" y="3901858"/>
            <a:ext cx="145446" cy="6925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8208EDF4-2B81-DD75-0AB9-1AE6AB620E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4780"/>
            <a:ext cx="5486400" cy="41148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3EE783-DE05-12B6-9B0A-0E15AE8A2624}"/>
              </a:ext>
            </a:extLst>
          </p:cNvPr>
          <p:cNvSpPr txBox="1"/>
          <p:nvPr/>
        </p:nvSpPr>
        <p:spPr>
          <a:xfrm>
            <a:off x="9235439" y="2206096"/>
            <a:ext cx="15936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 26.37 min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3,000 frames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4409C7-A819-2F35-5761-CA8D5E66E49C}"/>
              </a:ext>
            </a:extLst>
          </p:cNvPr>
          <p:cNvCxnSpPr>
            <a:cxnSpLocks/>
          </p:cNvCxnSpPr>
          <p:nvPr/>
        </p:nvCxnSpPr>
        <p:spPr>
          <a:xfrm>
            <a:off x="10541948" y="2498483"/>
            <a:ext cx="150001" cy="1162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D4496F1-10A6-3267-1698-BE862A2A01BE}"/>
              </a:ext>
            </a:extLst>
          </p:cNvPr>
          <p:cNvSpPr txBox="1"/>
          <p:nvPr/>
        </p:nvSpPr>
        <p:spPr>
          <a:xfrm>
            <a:off x="4944292" y="6172200"/>
            <a:ext cx="2253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100 hexane per frame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F19A5C-C8F9-23E2-E39A-C8378C11FB00}"/>
              </a:ext>
            </a:extLst>
          </p:cNvPr>
          <p:cNvSpPr/>
          <p:nvPr/>
        </p:nvSpPr>
        <p:spPr>
          <a:xfrm>
            <a:off x="7030146" y="227052"/>
            <a:ext cx="48376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macOS Sequoia 15.6.1, Apple M4, 16GB LPDDR5</a:t>
            </a:r>
          </a:p>
          <a:p>
            <a:pPr algn="ctr"/>
            <a:r>
              <a:rPr lang="en-US" dirty="0"/>
              <a:t>Ubuntu 22.04.5 LTS, i5-11400F, RTX 3060 Ti, 16GB</a:t>
            </a:r>
          </a:p>
        </p:txBody>
      </p:sp>
    </p:spTree>
    <p:extLst>
      <p:ext uri="{BB962C8B-B14F-4D97-AF65-F5344CB8AC3E}">
        <p14:creationId xmlns:p14="http://schemas.microsoft.com/office/powerpoint/2010/main" val="4294287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80F29-4C1E-E8CC-D177-8DD57332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6313B-5FAB-EAC8-2FC7-CBA5ADDAA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E008B3-D38B-4511-E150-141D27F12B6C}"/>
              </a:ext>
            </a:extLst>
          </p:cNvPr>
          <p:cNvSpPr/>
          <p:nvPr/>
        </p:nvSpPr>
        <p:spPr>
          <a:xfrm>
            <a:off x="966650" y="1605949"/>
            <a:ext cx="4114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09: Trajectory Radial Distribution Function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9D3AF-0176-86E0-42DF-BAD81E51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19</a:t>
            </a:fld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9176A4-2C3A-D45D-A91A-69A0EFE5F095}"/>
              </a:ext>
            </a:extLst>
          </p:cNvPr>
          <p:cNvSpPr/>
          <p:nvPr/>
        </p:nvSpPr>
        <p:spPr>
          <a:xfrm>
            <a:off x="7478354" y="1605949"/>
            <a:ext cx="26649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10: Trajectory clash count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0A32F8-D2E1-B77B-8404-45E999B0E553}"/>
              </a:ext>
            </a:extLst>
          </p:cNvPr>
          <p:cNvCxnSpPr>
            <a:cxnSpLocks/>
          </p:cNvCxnSpPr>
          <p:nvPr/>
        </p:nvCxnSpPr>
        <p:spPr>
          <a:xfrm>
            <a:off x="4766188" y="3901858"/>
            <a:ext cx="145446" cy="6925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33EAECA1-07DD-6CE6-DCAE-A9116E75A6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57400"/>
            <a:ext cx="5486400" cy="4114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9B82A0A-F48B-56E4-32F8-1CAB0775DF51}"/>
              </a:ext>
            </a:extLst>
          </p:cNvPr>
          <p:cNvSpPr txBox="1"/>
          <p:nvPr/>
        </p:nvSpPr>
        <p:spPr>
          <a:xfrm>
            <a:off x="4922943" y="6172200"/>
            <a:ext cx="225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100 hexane per frame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0925CF-5C4B-8C58-24DC-2A93439C4572}"/>
              </a:ext>
            </a:extLst>
          </p:cNvPr>
          <p:cNvSpPr txBox="1"/>
          <p:nvPr/>
        </p:nvSpPr>
        <p:spPr>
          <a:xfrm>
            <a:off x="3431176" y="4194492"/>
            <a:ext cx="18228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 6.23 min / 191 MB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25,000 frames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4073423-D095-5F09-04D6-A1EE007B7B1D}"/>
              </a:ext>
            </a:extLst>
          </p:cNvPr>
          <p:cNvCxnSpPr>
            <a:cxnSpLocks/>
          </p:cNvCxnSpPr>
          <p:nvPr/>
        </p:nvCxnSpPr>
        <p:spPr>
          <a:xfrm flipV="1">
            <a:off x="4772942" y="3725530"/>
            <a:ext cx="138692" cy="26390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4" name="Graphic 23">
            <a:extLst>
              <a:ext uri="{FF2B5EF4-FFF2-40B4-BE49-F238E27FC236}">
                <a16:creationId xmlns:a16="http://schemas.microsoft.com/office/drawing/2014/main" id="{A3A89CCB-1BC3-06FC-7C11-193734E92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7400"/>
            <a:ext cx="5486400" cy="41148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14671A1-7579-9E67-1F76-65AB617A4D12}"/>
              </a:ext>
            </a:extLst>
          </p:cNvPr>
          <p:cNvSpPr txBox="1"/>
          <p:nvPr/>
        </p:nvSpPr>
        <p:spPr>
          <a:xfrm>
            <a:off x="9148353" y="4288109"/>
            <a:ext cx="18228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 7.05 min / 190 MB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25,000 frames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27C9C6-4B3E-8966-B0DA-F41E68990E84}"/>
              </a:ext>
            </a:extLst>
          </p:cNvPr>
          <p:cNvSpPr/>
          <p:nvPr/>
        </p:nvSpPr>
        <p:spPr>
          <a:xfrm>
            <a:off x="7030146" y="227052"/>
            <a:ext cx="48376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macOS Sequoia 15.6.1, Apple M4, 16GB LPDDR5</a:t>
            </a:r>
          </a:p>
          <a:p>
            <a:pPr algn="ctr"/>
            <a:r>
              <a:rPr lang="en-US" dirty="0"/>
              <a:t>Ubuntu 22.04.5 LTS, i5-11400F, RTX 3060 Ti, 16GB</a:t>
            </a:r>
          </a:p>
        </p:txBody>
      </p:sp>
    </p:spTree>
    <p:extLst>
      <p:ext uri="{BB962C8B-B14F-4D97-AF65-F5344CB8AC3E}">
        <p14:creationId xmlns:p14="http://schemas.microsoft.com/office/powerpoint/2010/main" val="21067520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B54B7-3989-D0DC-ACE7-087B02E2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2A20A-2934-4874-EAF0-EEB3C8085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5A2E31-EBF7-C337-18EF-000D2CC41FAB}"/>
              </a:ext>
            </a:extLst>
          </p:cNvPr>
          <p:cNvSpPr/>
          <p:nvPr/>
        </p:nvSpPr>
        <p:spPr>
          <a:xfrm>
            <a:off x="966649" y="1605949"/>
            <a:ext cx="42388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11: Trajectory Mean Squared Displacement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71319D-8E59-A016-A0F7-B28585297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20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C7B683-D4B8-BBC2-45F4-370D69F9A9C4}"/>
              </a:ext>
            </a:extLst>
          </p:cNvPr>
          <p:cNvSpPr txBox="1"/>
          <p:nvPr/>
        </p:nvSpPr>
        <p:spPr>
          <a:xfrm>
            <a:off x="1970758" y="6172200"/>
            <a:ext cx="225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100 hexane per frame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9DD51C2-6B9E-8424-970F-6B8209D230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57400"/>
            <a:ext cx="5486400" cy="41148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5F3AEE-3907-0594-3025-7E078A484E00}"/>
              </a:ext>
            </a:extLst>
          </p:cNvPr>
          <p:cNvCxnSpPr>
            <a:cxnSpLocks/>
          </p:cNvCxnSpPr>
          <p:nvPr/>
        </p:nvCxnSpPr>
        <p:spPr>
          <a:xfrm>
            <a:off x="4944294" y="4204364"/>
            <a:ext cx="77499" cy="7765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0397244-1178-38FA-688E-42594C86C3F7}"/>
              </a:ext>
            </a:extLst>
          </p:cNvPr>
          <p:cNvSpPr txBox="1"/>
          <p:nvPr/>
        </p:nvSpPr>
        <p:spPr>
          <a:xfrm>
            <a:off x="3516079" y="3942754"/>
            <a:ext cx="18228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 2.68 min / 264 MB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25,000 frames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75201B-FB61-42C1-DD2E-481489450FA1}"/>
              </a:ext>
            </a:extLst>
          </p:cNvPr>
          <p:cNvSpPr/>
          <p:nvPr/>
        </p:nvSpPr>
        <p:spPr>
          <a:xfrm>
            <a:off x="7030146" y="227052"/>
            <a:ext cx="48376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macOS Sequoia 15.6.1, Apple M4, 16GB LPDDR5</a:t>
            </a:r>
          </a:p>
          <a:p>
            <a:pPr algn="ctr"/>
            <a:r>
              <a:rPr lang="en-US" dirty="0"/>
              <a:t>Ubuntu 22.04.5 LTS, i5-11400F, RTX 3060 Ti, 16GB</a:t>
            </a:r>
          </a:p>
        </p:txBody>
      </p:sp>
    </p:spTree>
    <p:extLst>
      <p:ext uri="{BB962C8B-B14F-4D97-AF65-F5344CB8AC3E}">
        <p14:creationId xmlns:p14="http://schemas.microsoft.com/office/powerpoint/2010/main" val="9076131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22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11907</TotalTime>
  <Words>4339</Words>
  <Application>Microsoft Macintosh PowerPoint</Application>
  <PresentationFormat>Widescreen</PresentationFormat>
  <Paragraphs>831</Paragraphs>
  <Slides>23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SFMono-Regular</vt:lpstr>
      <vt:lpstr>Times New Roman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Performance Test</vt:lpstr>
      <vt:lpstr>Performance Test</vt:lpstr>
      <vt:lpstr>Performance Test</vt:lpstr>
      <vt:lpstr>Performance Test</vt:lpstr>
      <vt:lpstr>Performance Test</vt:lpstr>
      <vt:lpstr>Performance Test</vt:lpstr>
      <vt:lpstr>Scientific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425</cp:revision>
  <dcterms:created xsi:type="dcterms:W3CDTF">2024-07-22T15:38:28Z</dcterms:created>
  <dcterms:modified xsi:type="dcterms:W3CDTF">2025-09-13T17:24:02Z</dcterms:modified>
</cp:coreProperties>
</file>